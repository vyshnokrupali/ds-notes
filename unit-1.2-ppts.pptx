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41"/>
  </p:notesMasterIdLst>
  <p:sldIdLst>
    <p:sldId id="257" r:id="rId4"/>
    <p:sldId id="259" r:id="rId5"/>
    <p:sldId id="288" r:id="rId6"/>
    <p:sldId id="258" r:id="rId7"/>
    <p:sldId id="260" r:id="rId8"/>
    <p:sldId id="261" r:id="rId9"/>
    <p:sldId id="262" r:id="rId10"/>
    <p:sldId id="263" r:id="rId11"/>
    <p:sldId id="289" r:id="rId12"/>
    <p:sldId id="264" r:id="rId13"/>
    <p:sldId id="265" r:id="rId14"/>
    <p:sldId id="266" r:id="rId15"/>
    <p:sldId id="268" r:id="rId16"/>
    <p:sldId id="269" r:id="rId17"/>
    <p:sldId id="270" r:id="rId18"/>
    <p:sldId id="271" r:id="rId19"/>
    <p:sldId id="272" r:id="rId20"/>
    <p:sldId id="273" r:id="rId21"/>
    <p:sldId id="274" r:id="rId22"/>
    <p:sldId id="275" r:id="rId23"/>
    <p:sldId id="278" r:id="rId24"/>
    <p:sldId id="280" r:id="rId25"/>
    <p:sldId id="281" r:id="rId26"/>
    <p:sldId id="282" r:id="rId27"/>
    <p:sldId id="283" r:id="rId28"/>
    <p:sldId id="285" r:id="rId29"/>
    <p:sldId id="286" r:id="rId30"/>
    <p:sldId id="287" r:id="rId31"/>
    <p:sldId id="290" r:id="rId32"/>
    <p:sldId id="291" r:id="rId33"/>
    <p:sldId id="298" r:id="rId34"/>
    <p:sldId id="292" r:id="rId35"/>
    <p:sldId id="293" r:id="rId36"/>
    <p:sldId id="294" r:id="rId37"/>
    <p:sldId id="295" r:id="rId38"/>
    <p:sldId id="296" r:id="rId39"/>
    <p:sldId id="297"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406" autoAdjust="0"/>
  </p:normalViewPr>
  <p:slideViewPr>
    <p:cSldViewPr>
      <p:cViewPr varScale="1">
        <p:scale>
          <a:sx n="74" d="100"/>
          <a:sy n="74" d="100"/>
        </p:scale>
        <p:origin x="1229"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D65F6A-810C-4E2E-9615-7D25C4B2F7DA}" type="datetimeFigureOut">
              <a:rPr lang="en-US" smtClean="0"/>
              <a:pPr/>
              <a:t>10/22/2024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339F81-7DB7-4880-871E-44722F0A091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topology</a:t>
            </a:r>
            <a:r>
              <a:rPr lang="en-US" dirty="0" smtClean="0"/>
              <a:t> refers to the arrangement or layout of various elements (links, nodes, etc.) in a system.</a:t>
            </a:r>
          </a:p>
          <a:p>
            <a:r>
              <a:rPr lang="en-US" dirty="0" smtClean="0"/>
              <a:t>A structured overlay, on the other hand, organizes nodes according to a specific algorithm or topology. </a:t>
            </a:r>
          </a:p>
          <a:p>
            <a:r>
              <a:rPr lang="en-US" dirty="0" smtClean="0"/>
              <a:t>A random overlay is a type of network overlay where connections between nodes are established arbitrarily, without following a strict pattern or structure. This is often seen in unstructured P2P networks.</a:t>
            </a:r>
            <a:endParaRPr lang="en-US" dirty="0"/>
          </a:p>
        </p:txBody>
      </p:sp>
      <p:sp>
        <p:nvSpPr>
          <p:cNvPr id="4" name="Slide Number Placeholder 3"/>
          <p:cNvSpPr>
            <a:spLocks noGrp="1"/>
          </p:cNvSpPr>
          <p:nvPr>
            <p:ph type="sldNum" sz="quarter" idx="10"/>
          </p:nvPr>
        </p:nvSpPr>
        <p:spPr/>
        <p:txBody>
          <a:bodyPr/>
          <a:lstStyle/>
          <a:p>
            <a:fld id="{75339F81-7DB7-4880-871E-44722F0A091C}" type="slidenum">
              <a:rPr lang="en-US" smtClean="0"/>
              <a:pPr/>
              <a:t>21</a:t>
            </a:fld>
            <a:endParaRPr lang="en-US"/>
          </a:p>
        </p:txBody>
      </p:sp>
    </p:spTree>
    <p:extLst>
      <p:ext uri="{BB962C8B-B14F-4D97-AF65-F5344CB8AC3E}">
        <p14:creationId xmlns:p14="http://schemas.microsoft.com/office/powerpoint/2010/main" val="1023346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Hybrid is the combination  of p2p and </a:t>
            </a:r>
            <a:r>
              <a:rPr lang="en-US" smtClean="0"/>
              <a:t>client server</a:t>
            </a:r>
            <a:endParaRPr lang="en-US"/>
          </a:p>
        </p:txBody>
      </p:sp>
      <p:sp>
        <p:nvSpPr>
          <p:cNvPr id="4" name="Slide Number Placeholder 3"/>
          <p:cNvSpPr>
            <a:spLocks noGrp="1"/>
          </p:cNvSpPr>
          <p:nvPr>
            <p:ph type="sldNum" sz="quarter" idx="10"/>
          </p:nvPr>
        </p:nvSpPr>
        <p:spPr/>
        <p:txBody>
          <a:bodyPr/>
          <a:lstStyle/>
          <a:p>
            <a:fld id="{75339F81-7DB7-4880-871E-44722F0A091C}" type="slidenum">
              <a:rPr lang="en-US" smtClean="0"/>
              <a:pPr/>
              <a:t>23</a:t>
            </a:fld>
            <a:endParaRPr lang="en-US"/>
          </a:p>
        </p:txBody>
      </p:sp>
    </p:spTree>
    <p:extLst>
      <p:ext uri="{BB962C8B-B14F-4D97-AF65-F5344CB8AC3E}">
        <p14:creationId xmlns:p14="http://schemas.microsoft.com/office/powerpoint/2010/main" val="4280287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An interceptor is nothing but a software construct that will break the usual flow of control and allow other (application specific) code to be executed. </a:t>
            </a:r>
          </a:p>
          <a:p>
            <a:r>
              <a:rPr lang="en-US" b="1" dirty="0" smtClean="0"/>
              <a:t>Request-level interceptors</a:t>
            </a:r>
            <a:r>
              <a:rPr lang="en-US" dirty="0" smtClean="0"/>
              <a:t> and </a:t>
            </a:r>
            <a:r>
              <a:rPr lang="en-US" b="1" dirty="0" smtClean="0"/>
              <a:t>message-level interceptors</a:t>
            </a:r>
            <a:r>
              <a:rPr lang="en-US" dirty="0" smtClean="0"/>
              <a:t> are common mechanisms in web services and distributed systems that provide ways to handle and manipulate requests or messages before they reach their final destination. They are used for tasks like logging, security, authentication, and data transformation.</a:t>
            </a:r>
            <a:endParaRPr lang="en-US" dirty="0"/>
          </a:p>
        </p:txBody>
      </p:sp>
      <p:sp>
        <p:nvSpPr>
          <p:cNvPr id="4" name="Slide Number Placeholder 3"/>
          <p:cNvSpPr>
            <a:spLocks noGrp="1"/>
          </p:cNvSpPr>
          <p:nvPr>
            <p:ph type="sldNum" sz="quarter" idx="10"/>
          </p:nvPr>
        </p:nvSpPr>
        <p:spPr/>
        <p:txBody>
          <a:bodyPr/>
          <a:lstStyle/>
          <a:p>
            <a:fld id="{75339F81-7DB7-4880-871E-44722F0A091C}" type="slidenum">
              <a:rPr lang="en-US" smtClean="0"/>
              <a:pPr/>
              <a:t>28</a:t>
            </a:fld>
            <a:endParaRPr lang="en-US"/>
          </a:p>
        </p:txBody>
      </p:sp>
    </p:spTree>
    <p:extLst>
      <p:ext uri="{BB962C8B-B14F-4D97-AF65-F5344CB8AC3E}">
        <p14:creationId xmlns:p14="http://schemas.microsoft.com/office/powerpoint/2010/main" val="199536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Metric estimation component is fo</a:t>
            </a:r>
            <a:r>
              <a:rPr lang="en-US" dirty="0" smtClean="0"/>
              <a:t>r evaluating and predicting the system's performance, stability, and accuracy</a:t>
            </a:r>
            <a:endParaRPr lang="en-US" dirty="0" smtClean="0"/>
          </a:p>
          <a:p>
            <a:r>
              <a:rPr lang="en-US" dirty="0" smtClean="0"/>
              <a:t>Feedback analysis component</a:t>
            </a:r>
            <a:r>
              <a:rPr lang="en-US" baseline="0" dirty="0" smtClean="0"/>
              <a:t> it </a:t>
            </a:r>
            <a:r>
              <a:rPr lang="en-US" baseline="0" dirty="0" err="1" smtClean="0"/>
              <a:t>conatins</a:t>
            </a:r>
            <a:r>
              <a:rPr lang="en-US" baseline="0" dirty="0" smtClean="0"/>
              <a:t> </a:t>
            </a:r>
            <a:r>
              <a:rPr lang="en-US" baseline="0" dirty="0" err="1" smtClean="0"/>
              <a:t>alogorithms</a:t>
            </a:r>
            <a:r>
              <a:rPr lang="en-US" baseline="0" dirty="0" smtClean="0"/>
              <a:t> and decide on possible adaptions</a:t>
            </a:r>
          </a:p>
          <a:p>
            <a:endParaRPr lang="en-US" dirty="0"/>
          </a:p>
        </p:txBody>
      </p:sp>
      <p:sp>
        <p:nvSpPr>
          <p:cNvPr id="4" name="Slide Number Placeholder 3"/>
          <p:cNvSpPr>
            <a:spLocks noGrp="1"/>
          </p:cNvSpPr>
          <p:nvPr>
            <p:ph type="sldNum" sz="quarter" idx="10"/>
          </p:nvPr>
        </p:nvSpPr>
        <p:spPr/>
        <p:txBody>
          <a:bodyPr/>
          <a:lstStyle/>
          <a:p>
            <a:fld id="{75339F81-7DB7-4880-871E-44722F0A091C}" type="slidenum">
              <a:rPr lang="en-US" smtClean="0"/>
              <a:pPr/>
              <a:t>32</a:t>
            </a:fld>
            <a:endParaRPr lang="en-US"/>
          </a:p>
        </p:txBody>
      </p:sp>
    </p:spTree>
    <p:extLst>
      <p:ext uri="{BB962C8B-B14F-4D97-AF65-F5344CB8AC3E}">
        <p14:creationId xmlns:p14="http://schemas.microsoft.com/office/powerpoint/2010/main" val="342786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Every host runs an Astrolabe process, called an agent, that collects information on the zones in which that host is contained. The agent also communicates with other agents with the aim to spread zone information across the entire system.</a:t>
            </a:r>
            <a:endParaRPr lang="en-US" dirty="0"/>
          </a:p>
        </p:txBody>
      </p:sp>
      <p:sp>
        <p:nvSpPr>
          <p:cNvPr id="4" name="Slide Number Placeholder 3"/>
          <p:cNvSpPr>
            <a:spLocks noGrp="1"/>
          </p:cNvSpPr>
          <p:nvPr>
            <p:ph type="sldNum" sz="quarter" idx="10"/>
          </p:nvPr>
        </p:nvSpPr>
        <p:spPr/>
        <p:txBody>
          <a:bodyPr/>
          <a:lstStyle/>
          <a:p>
            <a:fld id="{75339F81-7DB7-4880-871E-44722F0A091C}" type="slidenum">
              <a:rPr lang="en-US" smtClean="0"/>
              <a:pPr/>
              <a:t>33</a:t>
            </a:fld>
            <a:endParaRPr lang="en-US"/>
          </a:p>
        </p:txBody>
      </p:sp>
    </p:spTree>
    <p:extLst>
      <p:ext uri="{BB962C8B-B14F-4D97-AF65-F5344CB8AC3E}">
        <p14:creationId xmlns:p14="http://schemas.microsoft.com/office/powerpoint/2010/main" val="1460712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 Globule, a collaborative content distribution network </a:t>
            </a:r>
          </a:p>
          <a:p>
            <a:r>
              <a:rPr lang="en-US" sz="1200" kern="1200" dirty="0" smtClean="0">
                <a:solidFill>
                  <a:schemeClr val="tx1"/>
                </a:solidFill>
                <a:effectLst/>
                <a:latin typeface="+mn-lt"/>
                <a:ea typeface="+mn-ea"/>
                <a:cs typeface="+mn-cs"/>
              </a:rPr>
              <a:t>Globule relies on end-user servers being placed in the Internet, and that these servers collaborate to optimize performance through replication of Web pages</a:t>
            </a:r>
            <a:endParaRPr lang="en-US" dirty="0"/>
          </a:p>
        </p:txBody>
      </p:sp>
      <p:sp>
        <p:nvSpPr>
          <p:cNvPr id="4" name="Slide Number Placeholder 3"/>
          <p:cNvSpPr>
            <a:spLocks noGrp="1"/>
          </p:cNvSpPr>
          <p:nvPr>
            <p:ph type="sldNum" sz="quarter" idx="10"/>
          </p:nvPr>
        </p:nvSpPr>
        <p:spPr/>
        <p:txBody>
          <a:bodyPr/>
          <a:lstStyle/>
          <a:p>
            <a:fld id="{75339F81-7DB7-4880-871E-44722F0A091C}" type="slidenum">
              <a:rPr lang="en-US" smtClean="0"/>
              <a:pPr/>
              <a:t>34</a:t>
            </a:fld>
            <a:endParaRPr lang="en-US"/>
          </a:p>
        </p:txBody>
      </p:sp>
    </p:spTree>
    <p:extLst>
      <p:ext uri="{BB962C8B-B14F-4D97-AF65-F5344CB8AC3E}">
        <p14:creationId xmlns:p14="http://schemas.microsoft.com/office/powerpoint/2010/main" val="735632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When an origin server receives a request for a page, it records the IP address from where the request originated, and looks up the ISP or enterprise network associated with that request using the WHOIS Internet service (Deutsch et al., 1995). The origin server then looks for the nearest existing replica server that could act as edge server for that client, and subsequently computes the latency to that server along with the maximal bandwidth. In its simplest configuration, Globule assumes that the latency between the replica server and the requesting user machine is negligible, and likewise that bandwidth between the two is plentiful.</a:t>
            </a:r>
          </a:p>
          <a:p>
            <a:r>
              <a:rPr lang="en-US" sz="1200" kern="1200" dirty="0" smtClean="0">
                <a:solidFill>
                  <a:schemeClr val="tx1"/>
                </a:solidFill>
                <a:effectLst/>
                <a:latin typeface="+mn-lt"/>
                <a:ea typeface="+mn-ea"/>
                <a:cs typeface="+mn-cs"/>
              </a:rPr>
              <a:t>[Page 64]</a:t>
            </a:r>
          </a:p>
          <a:p>
            <a:endParaRPr lang="en-US" dirty="0"/>
          </a:p>
        </p:txBody>
      </p:sp>
      <p:sp>
        <p:nvSpPr>
          <p:cNvPr id="4" name="Slide Number Placeholder 3"/>
          <p:cNvSpPr>
            <a:spLocks noGrp="1"/>
          </p:cNvSpPr>
          <p:nvPr>
            <p:ph type="sldNum" sz="quarter" idx="10"/>
          </p:nvPr>
        </p:nvSpPr>
        <p:spPr/>
        <p:txBody>
          <a:bodyPr/>
          <a:lstStyle/>
          <a:p>
            <a:fld id="{75339F81-7DB7-4880-871E-44722F0A091C}" type="slidenum">
              <a:rPr lang="en-US" smtClean="0"/>
              <a:pPr/>
              <a:t>35</a:t>
            </a:fld>
            <a:endParaRPr lang="en-US"/>
          </a:p>
        </p:txBody>
      </p:sp>
    </p:spTree>
    <p:extLst>
      <p:ext uri="{BB962C8B-B14F-4D97-AF65-F5344CB8AC3E}">
        <p14:creationId xmlns:p14="http://schemas.microsoft.com/office/powerpoint/2010/main" val="243241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48777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17483043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3707634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1773522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14089893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2667133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2248515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18961620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2110973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20654434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1E6C8B-90C1-4932-8D24-5D29DDBF1E1A}"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01DA4-D71D-4303-A68E-03503677F68C}" type="slidenum">
              <a:rPr lang="en-US" smtClean="0"/>
              <a:pPr/>
              <a:t>‹#›</a:t>
            </a:fld>
            <a:endParaRPr lang="en-US"/>
          </a:p>
        </p:txBody>
      </p:sp>
    </p:spTree>
    <p:extLst>
      <p:ext uri="{BB962C8B-B14F-4D97-AF65-F5344CB8AC3E}">
        <p14:creationId xmlns:p14="http://schemas.microsoft.com/office/powerpoint/2010/main" val="3215132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2364116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28185912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39801486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1276345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24274534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24939028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22292553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15272591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40953345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4829880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1CA27-C853-438B-AD0B-60DE64A7F99F}" type="datetimeFigureOut">
              <a:rPr lang="en-US" smtClean="0"/>
              <a:pPr/>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B1B720-1F6D-4324-B194-A416E2E6B133}" type="slidenum">
              <a:rPr lang="en-US" smtClean="0"/>
              <a:pPr/>
              <a:t>‹#›</a:t>
            </a:fld>
            <a:endParaRPr lang="en-US"/>
          </a:p>
        </p:txBody>
      </p:sp>
    </p:spTree>
    <p:extLst>
      <p:ext uri="{BB962C8B-B14F-4D97-AF65-F5344CB8AC3E}">
        <p14:creationId xmlns:p14="http://schemas.microsoft.com/office/powerpoint/2010/main" val="899898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10/22/2024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pic>
        <p:nvPicPr>
          <p:cNvPr id="16" name="Picture 15"/>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21711" y="-18560"/>
            <a:ext cx="783712" cy="722648"/>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1E6C8B-90C1-4932-8D24-5D29DDBF1E1A}" type="datetimeFigureOut">
              <a:rPr lang="en-US" smtClean="0"/>
              <a:pPr/>
              <a:t>10/22/2024</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01DA4-D71D-4303-A68E-03503677F68C}" type="slidenum">
              <a:rPr lang="en-US" smtClean="0"/>
              <a:pPr/>
              <a:t>‹#›</a:t>
            </a:fld>
            <a:endParaRPr lang="en-US"/>
          </a:p>
        </p:txBody>
      </p:sp>
      <p:pic>
        <p:nvPicPr>
          <p:cNvPr id="7" name="Picture 6"/>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1015365" cy="895350"/>
          </a:xfrm>
          <a:prstGeom prst="rect">
            <a:avLst/>
          </a:prstGeom>
          <a:noFill/>
          <a:ln>
            <a:noFill/>
          </a:ln>
        </p:spPr>
      </p:pic>
    </p:spTree>
    <p:extLst>
      <p:ext uri="{BB962C8B-B14F-4D97-AF65-F5344CB8AC3E}">
        <p14:creationId xmlns:p14="http://schemas.microsoft.com/office/powerpoint/2010/main" val="13341197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31CA27-C853-438B-AD0B-60DE64A7F99F}" type="datetimeFigureOut">
              <a:rPr lang="en-US" smtClean="0"/>
              <a:pPr/>
              <a:t>10/22/2024</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B1B720-1F6D-4324-B194-A416E2E6B133}" type="slidenum">
              <a:rPr lang="en-US" smtClean="0"/>
              <a:pPr/>
              <a:t>‹#›</a:t>
            </a:fld>
            <a:endParaRPr lang="en-US"/>
          </a:p>
        </p:txBody>
      </p:sp>
      <p:pic>
        <p:nvPicPr>
          <p:cNvPr id="8" name="Picture 7"/>
          <p:cNvPicPr>
            <a:picLocks noChangeAspect="1"/>
          </p:cNvPicPr>
          <p:nvPr userDrawn="1"/>
        </p:nvPicPr>
        <p:blipFill>
          <a:blip r:embed="rId13"/>
          <a:stretch>
            <a:fillRect/>
          </a:stretch>
        </p:blipFill>
        <p:spPr>
          <a:xfrm>
            <a:off x="119590" y="0"/>
            <a:ext cx="865673" cy="762000"/>
          </a:xfrm>
          <a:prstGeom prst="rect">
            <a:avLst/>
          </a:prstGeom>
        </p:spPr>
      </p:pic>
    </p:spTree>
    <p:extLst>
      <p:ext uri="{BB962C8B-B14F-4D97-AF65-F5344CB8AC3E}">
        <p14:creationId xmlns:p14="http://schemas.microsoft.com/office/powerpoint/2010/main" val="4635854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785794"/>
            <a:ext cx="7851648" cy="2414606"/>
          </a:xfrm>
        </p:spPr>
        <p:txBody>
          <a:bodyPr>
            <a:normAutofit fontScale="90000"/>
          </a:bodyPr>
          <a:lstStyle/>
          <a:p>
            <a:pPr algn="ct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4000" dirty="0" smtClean="0">
                <a:solidFill>
                  <a:schemeClr val="tx1"/>
                </a:solidFill>
                <a:latin typeface="Times New Roman" pitchFamily="18" charset="0"/>
                <a:cs typeface="Times New Roman" pitchFamily="18" charset="0"/>
              </a:rPr>
              <a:t/>
            </a:r>
            <a:br>
              <a:rPr lang="en-US" sz="4000" dirty="0" smtClean="0">
                <a:solidFill>
                  <a:schemeClr val="tx1"/>
                </a:solidFill>
                <a:latin typeface="Times New Roman" pitchFamily="18" charset="0"/>
                <a:cs typeface="Times New Roman" pitchFamily="18" charset="0"/>
              </a:rPr>
            </a:br>
            <a:r>
              <a:rPr lang="en-US" sz="5300" dirty="0" smtClean="0">
                <a:solidFill>
                  <a:schemeClr val="tx1"/>
                </a:solidFill>
                <a:latin typeface="Times New Roman" pitchFamily="18" charset="0"/>
                <a:cs typeface="Times New Roman" pitchFamily="18" charset="0"/>
              </a:rPr>
              <a:t>Distributed Systems</a:t>
            </a:r>
            <a:br>
              <a:rPr lang="en-US" sz="5300" dirty="0" smtClean="0">
                <a:solidFill>
                  <a:schemeClr val="tx1"/>
                </a:solidFill>
                <a:latin typeface="Times New Roman" pitchFamily="18" charset="0"/>
                <a:cs typeface="Times New Roman" pitchFamily="18" charset="0"/>
              </a:rPr>
            </a:br>
            <a:r>
              <a:rPr lang="en-US" sz="5300" dirty="0" smtClean="0">
                <a:solidFill>
                  <a:schemeClr val="tx1"/>
                </a:solidFill>
                <a:latin typeface="Times New Roman" pitchFamily="18" charset="0"/>
                <a:cs typeface="Times New Roman" pitchFamily="18" charset="0"/>
              </a:rPr>
              <a:t>UNIT-1.2</a:t>
            </a:r>
            <a:br>
              <a:rPr lang="en-US" sz="5300" dirty="0" smtClean="0">
                <a:solidFill>
                  <a:schemeClr val="tx1"/>
                </a:solidFill>
                <a:latin typeface="Times New Roman" pitchFamily="18" charset="0"/>
                <a:cs typeface="Times New Roman" pitchFamily="18" charset="0"/>
              </a:rPr>
            </a:br>
            <a:r>
              <a:rPr lang="en-US" sz="5300" dirty="0" smtClean="0">
                <a:solidFill>
                  <a:schemeClr val="tx1"/>
                </a:solidFill>
                <a:latin typeface="Times New Roman" pitchFamily="18" charset="0"/>
                <a:cs typeface="Times New Roman" pitchFamily="18" charset="0"/>
              </a:rPr>
              <a:t>Architectures</a:t>
            </a:r>
            <a:endParaRPr lang="en-US" dirty="0">
              <a:solidFill>
                <a:schemeClr val="tx1"/>
              </a:solidFill>
              <a:latin typeface="Times New Roman" pitchFamily="18" charset="0"/>
              <a:cs typeface="Times New Roman" pitchFamily="18" charset="0"/>
            </a:endParaRPr>
          </a:p>
        </p:txBody>
      </p:sp>
      <p:sp>
        <p:nvSpPr>
          <p:cNvPr id="3" name="Subtitle 2"/>
          <p:cNvSpPr>
            <a:spLocks noGrp="1"/>
          </p:cNvSpPr>
          <p:nvPr>
            <p:ph type="subTitle" idx="1"/>
          </p:nvPr>
        </p:nvSpPr>
        <p:spPr/>
        <p:txBody>
          <a:bodyPr>
            <a:normAutofit fontScale="92500" lnSpcReduction="10000"/>
          </a:bodyPr>
          <a:lstStyle/>
          <a:p>
            <a:endParaRPr lang="en-US" b="1" dirty="0" smtClean="0">
              <a:latin typeface="Times New Roman" pitchFamily="18" charset="0"/>
              <a:cs typeface="Times New Roman" pitchFamily="18" charset="0"/>
            </a:endParaRPr>
          </a:p>
          <a:p>
            <a:endParaRPr lang="en-US" b="1">
              <a:latin typeface="Times New Roman" pitchFamily="18" charset="0"/>
              <a:cs typeface="Times New Roman" pitchFamily="18" charset="0"/>
            </a:endParaRPr>
          </a:p>
          <a:p>
            <a:r>
              <a:rPr lang="en-US" b="1" smtClean="0">
                <a:latin typeface="Times New Roman" pitchFamily="18" charset="0"/>
                <a:cs typeface="Times New Roman" pitchFamily="18" charset="0"/>
              </a:rPr>
              <a:t>(</a:t>
            </a:r>
            <a:r>
              <a:rPr lang="en-US" b="1" dirty="0" smtClean="0">
                <a:latin typeface="Times New Roman" pitchFamily="18" charset="0"/>
                <a:cs typeface="Times New Roman" pitchFamily="18" charset="0"/>
              </a:rPr>
              <a:t>Ref:Tanenbuam &amp; Van Steen</a:t>
            </a:r>
          </a:p>
          <a:p>
            <a:r>
              <a:rPr lang="en-US" b="1" dirty="0" smtClean="0">
                <a:latin typeface="Times New Roman" pitchFamily="18" charset="0"/>
                <a:cs typeface="Times New Roman" pitchFamily="18" charset="0"/>
              </a:rPr>
              <a:t>Distributed Systems:Principles and Paradigms)</a:t>
            </a:r>
            <a:endParaRPr lang="en-US" dirty="0" smtClean="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295400"/>
          </a:xfrm>
        </p:spPr>
        <p:txBody>
          <a:bodyPr/>
          <a:lstStyle/>
          <a:p>
            <a:pPr algn="ctr"/>
            <a:r>
              <a:rPr lang="en-US" b="1" dirty="0" smtClean="0">
                <a:latin typeface="Times New Roman" pitchFamily="18" charset="0"/>
                <a:cs typeface="Times New Roman" pitchFamily="18" charset="0"/>
              </a:rPr>
              <a:t>Topics in Architectures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2590800"/>
            <a:ext cx="8229600" cy="3733800"/>
          </a:xfrm>
        </p:spPr>
        <p:txBody>
          <a:bodyPr>
            <a:normAutofit/>
          </a:bodyPr>
          <a:lstStyle/>
          <a:p>
            <a:r>
              <a:rPr lang="en-US" sz="3200" dirty="0" smtClean="0">
                <a:latin typeface="Times New Roman" pitchFamily="18" charset="0"/>
                <a:cs typeface="Times New Roman" pitchFamily="18" charset="0"/>
              </a:rPr>
              <a:t>Architectural Styles</a:t>
            </a:r>
          </a:p>
          <a:p>
            <a:r>
              <a:rPr lang="en-US" sz="3200" dirty="0" smtClean="0">
                <a:latin typeface="Times New Roman" pitchFamily="18" charset="0"/>
                <a:cs typeface="Times New Roman" pitchFamily="18" charset="0"/>
              </a:rPr>
              <a:t>System Architectures</a:t>
            </a:r>
          </a:p>
          <a:p>
            <a:r>
              <a:rPr lang="en-US" sz="3200" dirty="0" smtClean="0">
                <a:latin typeface="Times New Roman" pitchFamily="18" charset="0"/>
                <a:cs typeface="Times New Roman" pitchFamily="18" charset="0"/>
              </a:rPr>
              <a:t>Architectures v/s Middleware</a:t>
            </a:r>
          </a:p>
          <a:p>
            <a:r>
              <a:rPr lang="en-US" sz="3200" dirty="0" smtClean="0">
                <a:latin typeface="Times New Roman" pitchFamily="18" charset="0"/>
                <a:cs typeface="Times New Roman" pitchFamily="18" charset="0"/>
              </a:rPr>
              <a:t>Self Management in Distributed Systems</a:t>
            </a:r>
            <a:endParaRPr lang="en-US" sz="32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Basic definitions:-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273050" indent="-273050">
              <a:lnSpc>
                <a:spcPct val="90000"/>
              </a:lnSpc>
              <a:spcBef>
                <a:spcPts val="800"/>
              </a:spcBef>
              <a:spcAft>
                <a:spcPts val="600"/>
              </a:spcAft>
              <a:buClr>
                <a:srgbClr val="3333CC"/>
              </a:buCl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2800" b="1" i="1" dirty="0" smtClean="0">
                <a:solidFill>
                  <a:schemeClr val="tx1">
                    <a:lumMod val="95000"/>
                    <a:lumOff val="5000"/>
                  </a:schemeClr>
                </a:solidFill>
                <a:latin typeface="Times New Roman" pitchFamily="18" charset="0"/>
                <a:cs typeface="Times New Roman" pitchFamily="18" charset="0"/>
              </a:rPr>
              <a:t>Software architectures</a:t>
            </a:r>
            <a:r>
              <a:rPr lang="en-US" altLang="en-US" sz="2800" b="1" dirty="0" smtClean="0">
                <a:solidFill>
                  <a:schemeClr val="tx1">
                    <a:lumMod val="95000"/>
                    <a:lumOff val="5000"/>
                  </a:schemeClr>
                </a:solidFill>
                <a:latin typeface="Times New Roman" pitchFamily="18" charset="0"/>
                <a:cs typeface="Times New Roman" pitchFamily="18" charset="0"/>
              </a:rPr>
              <a:t>:- </a:t>
            </a:r>
            <a:r>
              <a:rPr lang="en-US" altLang="en-US" sz="2800" dirty="0" smtClean="0">
                <a:latin typeface="Times New Roman" pitchFamily="18" charset="0"/>
                <a:cs typeface="Times New Roman" pitchFamily="18" charset="0"/>
              </a:rPr>
              <a:t>how various software components are organized and how they interact</a:t>
            </a:r>
          </a:p>
          <a:p>
            <a:pPr marL="273050" indent="-273050">
              <a:lnSpc>
                <a:spcPct val="90000"/>
              </a:lnSpc>
              <a:spcBef>
                <a:spcPts val="800"/>
              </a:spcBef>
              <a:spcAft>
                <a:spcPts val="600"/>
              </a:spcAft>
              <a:buClr>
                <a:srgbClr val="3333CC"/>
              </a:buCl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2800" b="1" i="1" dirty="0" smtClean="0">
                <a:solidFill>
                  <a:schemeClr val="tx1">
                    <a:lumMod val="95000"/>
                    <a:lumOff val="5000"/>
                  </a:schemeClr>
                </a:solidFill>
                <a:latin typeface="Times New Roman" pitchFamily="18" charset="0"/>
                <a:cs typeface="Times New Roman" pitchFamily="18" charset="0"/>
              </a:rPr>
              <a:t>System architecture</a:t>
            </a:r>
            <a:r>
              <a:rPr lang="en-US" altLang="en-US" sz="2800" b="1" dirty="0" smtClean="0">
                <a:solidFill>
                  <a:schemeClr val="tx1">
                    <a:lumMod val="95000"/>
                    <a:lumOff val="5000"/>
                  </a:schemeClr>
                </a:solidFill>
                <a:latin typeface="Times New Roman" pitchFamily="18" charset="0"/>
                <a:cs typeface="Times New Roman" pitchFamily="18" charset="0"/>
              </a:rPr>
              <a:t>:- </a:t>
            </a:r>
            <a:r>
              <a:rPr lang="en-US" altLang="en-US" sz="2800" dirty="0" smtClean="0">
                <a:latin typeface="Times New Roman" pitchFamily="18" charset="0"/>
                <a:cs typeface="Times New Roman" pitchFamily="18" charset="0"/>
              </a:rPr>
              <a:t>An instance of a software architecture after deciding on the software components, their interaction and their placement.</a:t>
            </a:r>
          </a:p>
          <a:p>
            <a:pPr marL="273050" indent="-273050">
              <a:lnSpc>
                <a:spcPct val="90000"/>
              </a:lnSpc>
              <a:spcBef>
                <a:spcPts val="800"/>
              </a:spcBef>
              <a:spcAft>
                <a:spcPts val="600"/>
              </a:spcAft>
              <a:buClr>
                <a:srgbClr val="3333CC"/>
              </a:buCl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2800" b="1" i="1" dirty="0" smtClean="0">
                <a:solidFill>
                  <a:schemeClr val="tx1">
                    <a:lumMod val="95000"/>
                    <a:lumOff val="5000"/>
                  </a:schemeClr>
                </a:solidFill>
                <a:latin typeface="Times New Roman" pitchFamily="18" charset="0"/>
                <a:cs typeface="Times New Roman" pitchFamily="18" charset="0"/>
              </a:rPr>
              <a:t>Architectural style:- </a:t>
            </a:r>
            <a:r>
              <a:rPr lang="en-US" altLang="en-US" sz="2800" dirty="0" smtClean="0">
                <a:latin typeface="Times New Roman" pitchFamily="18" charset="0"/>
                <a:cs typeface="Times New Roman" pitchFamily="18" charset="0"/>
              </a:rPr>
              <a:t>The way the components connected to each other, the data exchanged between components , and finally how these elements are jointly configured into a system.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normAutofit/>
          </a:bodyPr>
          <a:lstStyle/>
          <a:p>
            <a:pPr algn="ctr"/>
            <a:r>
              <a:rPr lang="en-US" sz="5400" b="1" dirty="0" smtClean="0">
                <a:latin typeface="Times New Roman" pitchFamily="18" charset="0"/>
                <a:cs typeface="Times New Roman" pitchFamily="18" charset="0"/>
              </a:rPr>
              <a:t>Architectural Styles</a:t>
            </a:r>
            <a:endParaRPr lang="en-US" b="1" dirty="0"/>
          </a:p>
        </p:txBody>
      </p:sp>
      <p:sp>
        <p:nvSpPr>
          <p:cNvPr id="3" name="Content Placeholder 2"/>
          <p:cNvSpPr>
            <a:spLocks noGrp="1"/>
          </p:cNvSpPr>
          <p:nvPr>
            <p:ph idx="1"/>
          </p:nvPr>
        </p:nvSpPr>
        <p:spPr>
          <a:xfrm>
            <a:off x="457200" y="1676400"/>
            <a:ext cx="8229600" cy="4648200"/>
          </a:xfrm>
        </p:spPr>
        <p:txBody>
          <a:bodyPr/>
          <a:lstStyle/>
          <a:p>
            <a:pPr marL="12700">
              <a:lnSpc>
                <a:spcPts val="3835"/>
              </a:lnSpc>
              <a:spcBef>
                <a:spcPts val="114"/>
              </a:spcBef>
            </a:pPr>
            <a:r>
              <a:rPr lang="en-US" altLang="en-US" sz="2800" b="1" dirty="0" smtClean="0">
                <a:solidFill>
                  <a:schemeClr val="tx1">
                    <a:lumMod val="95000"/>
                    <a:lumOff val="5000"/>
                  </a:schemeClr>
                </a:solidFill>
                <a:latin typeface="Times New Roman" pitchFamily="18" charset="0"/>
                <a:cs typeface="Times New Roman" pitchFamily="18" charset="0"/>
              </a:rPr>
              <a:t>Architectural style:- </a:t>
            </a:r>
            <a:r>
              <a:rPr lang="en-US" altLang="en-US" sz="2800" dirty="0" smtClean="0">
                <a:latin typeface="Times New Roman" pitchFamily="18" charset="0"/>
                <a:cs typeface="Times New Roman" pitchFamily="18" charset="0"/>
              </a:rPr>
              <a:t>The way the components connected to each other, the data exchanged between components , and finally how these elements are jointly configured into a system.</a:t>
            </a:r>
            <a:endParaRPr lang="en-US" sz="2800" spc="-135" dirty="0" smtClean="0">
              <a:latin typeface="Times New Roman" pitchFamily="18" charset="0"/>
              <a:cs typeface="Times New Roman" pitchFamily="18" charset="0"/>
            </a:endParaRPr>
          </a:p>
          <a:p>
            <a:pPr marL="12700">
              <a:lnSpc>
                <a:spcPts val="3835"/>
              </a:lnSpc>
              <a:spcBef>
                <a:spcPts val="114"/>
              </a:spcBef>
            </a:pPr>
            <a:r>
              <a:rPr lang="en-US" sz="2800" spc="-135" dirty="0" smtClean="0">
                <a:latin typeface="Times New Roman" pitchFamily="18" charset="0"/>
                <a:cs typeface="Times New Roman" pitchFamily="18" charset="0"/>
              </a:rPr>
              <a:t>Important</a:t>
            </a:r>
            <a:r>
              <a:rPr lang="en-US" sz="2800" spc="-100" dirty="0" smtClean="0">
                <a:latin typeface="Times New Roman" pitchFamily="18" charset="0"/>
                <a:cs typeface="Times New Roman" pitchFamily="18" charset="0"/>
              </a:rPr>
              <a:t> </a:t>
            </a:r>
            <a:r>
              <a:rPr lang="en-US" sz="2800" spc="-110" dirty="0" smtClean="0">
                <a:latin typeface="Times New Roman" pitchFamily="18" charset="0"/>
                <a:cs typeface="Times New Roman" pitchFamily="18" charset="0"/>
              </a:rPr>
              <a:t>styles</a:t>
            </a:r>
            <a:r>
              <a:rPr lang="en-US" sz="2800" spc="-135" dirty="0" smtClean="0">
                <a:latin typeface="Times New Roman" pitchFamily="18" charset="0"/>
                <a:cs typeface="Times New Roman" pitchFamily="18" charset="0"/>
              </a:rPr>
              <a:t> </a:t>
            </a:r>
            <a:r>
              <a:rPr lang="en-US" sz="2800" spc="-40" dirty="0" smtClean="0">
                <a:latin typeface="Times New Roman" pitchFamily="18" charset="0"/>
                <a:cs typeface="Times New Roman" pitchFamily="18" charset="0"/>
              </a:rPr>
              <a:t>of</a:t>
            </a:r>
            <a:r>
              <a:rPr lang="en-US" sz="2800" spc="-130" dirty="0" smtClean="0">
                <a:latin typeface="Times New Roman" pitchFamily="18" charset="0"/>
                <a:cs typeface="Times New Roman" pitchFamily="18" charset="0"/>
              </a:rPr>
              <a:t> </a:t>
            </a:r>
            <a:r>
              <a:rPr lang="en-US" sz="2800" spc="-125" dirty="0" smtClean="0">
                <a:latin typeface="Times New Roman" pitchFamily="18" charset="0"/>
                <a:cs typeface="Times New Roman" pitchFamily="18" charset="0"/>
              </a:rPr>
              <a:t>architecture</a:t>
            </a:r>
            <a:r>
              <a:rPr lang="en-US" sz="2800" spc="10" dirty="0" smtClean="0">
                <a:latin typeface="Times New Roman" pitchFamily="18" charset="0"/>
                <a:cs typeface="Times New Roman" pitchFamily="18" charset="0"/>
              </a:rPr>
              <a:t> </a:t>
            </a:r>
            <a:r>
              <a:rPr lang="en-US" sz="2800" spc="-45" dirty="0" smtClean="0">
                <a:latin typeface="Times New Roman" pitchFamily="18" charset="0"/>
                <a:cs typeface="Times New Roman" pitchFamily="18" charset="0"/>
              </a:rPr>
              <a:t>for </a:t>
            </a:r>
            <a:r>
              <a:rPr lang="en-US" sz="2800" spc="-90" dirty="0" smtClean="0">
                <a:latin typeface="Times New Roman" pitchFamily="18" charset="0"/>
                <a:cs typeface="Times New Roman" pitchFamily="18" charset="0"/>
              </a:rPr>
              <a:t>distributed</a:t>
            </a:r>
            <a:r>
              <a:rPr lang="en-US" sz="2800" spc="-145" dirty="0" smtClean="0">
                <a:latin typeface="Times New Roman" pitchFamily="18" charset="0"/>
                <a:cs typeface="Times New Roman" pitchFamily="18" charset="0"/>
              </a:rPr>
              <a:t> </a:t>
            </a:r>
            <a:r>
              <a:rPr lang="en-US" sz="2800" spc="-10" dirty="0" smtClean="0">
                <a:latin typeface="Times New Roman" pitchFamily="18" charset="0"/>
                <a:cs typeface="Times New Roman" pitchFamily="18" charset="0"/>
              </a:rPr>
              <a:t>systems:-</a:t>
            </a:r>
            <a:endParaRPr lang="en-US" sz="2800" dirty="0" smtClean="0">
              <a:latin typeface="Times New Roman" pitchFamily="18" charset="0"/>
              <a:cs typeface="Times New Roman" pitchFamily="18" charset="0"/>
            </a:endParaRPr>
          </a:p>
          <a:p>
            <a:pPr marL="1260475" lvl="2" indent="-607695">
              <a:spcBef>
                <a:spcPts val="155"/>
              </a:spcBef>
              <a:buClr>
                <a:srgbClr val="3134D4"/>
              </a:buClr>
              <a:buFont typeface="+mj-lt"/>
              <a:buAutoNum type="arabicParenR"/>
              <a:tabLst>
                <a:tab pos="620395" algn="l"/>
              </a:tabLst>
            </a:pPr>
            <a:r>
              <a:rPr lang="en-US" sz="2800" spc="-80" dirty="0" smtClean="0">
                <a:latin typeface="Times New Roman" pitchFamily="18" charset="0"/>
                <a:cs typeface="Times New Roman" pitchFamily="18" charset="0"/>
              </a:rPr>
              <a:t>Layered</a:t>
            </a:r>
            <a:r>
              <a:rPr lang="en-US" sz="2800" spc="-145" dirty="0" smtClean="0">
                <a:latin typeface="Times New Roman" pitchFamily="18" charset="0"/>
                <a:cs typeface="Times New Roman" pitchFamily="18" charset="0"/>
              </a:rPr>
              <a:t> </a:t>
            </a:r>
            <a:r>
              <a:rPr lang="en-US" sz="2800" spc="-25" dirty="0" smtClean="0">
                <a:latin typeface="Times New Roman" pitchFamily="18" charset="0"/>
                <a:cs typeface="Times New Roman" pitchFamily="18" charset="0"/>
              </a:rPr>
              <a:t>architectures</a:t>
            </a:r>
            <a:endParaRPr lang="en-US" sz="2800" dirty="0" smtClean="0">
              <a:latin typeface="Times New Roman" pitchFamily="18" charset="0"/>
              <a:cs typeface="Times New Roman" pitchFamily="18" charset="0"/>
            </a:endParaRPr>
          </a:p>
          <a:p>
            <a:pPr marL="1253490" lvl="2" indent="-600710">
              <a:spcBef>
                <a:spcPts val="234"/>
              </a:spcBef>
              <a:buClr>
                <a:srgbClr val="3B38E4"/>
              </a:buClr>
              <a:buFont typeface="+mj-lt"/>
              <a:buAutoNum type="arabicParenR"/>
              <a:tabLst>
                <a:tab pos="613410" algn="l"/>
              </a:tabLst>
            </a:pPr>
            <a:r>
              <a:rPr lang="en-US" sz="2800" spc="-120" dirty="0" smtClean="0">
                <a:latin typeface="Times New Roman" pitchFamily="18" charset="0"/>
                <a:cs typeface="Times New Roman" pitchFamily="18" charset="0"/>
              </a:rPr>
              <a:t>Object-</a:t>
            </a:r>
            <a:r>
              <a:rPr lang="en-US" sz="2800" spc="-50" dirty="0" smtClean="0">
                <a:latin typeface="Times New Roman" pitchFamily="18" charset="0"/>
                <a:cs typeface="Times New Roman" pitchFamily="18" charset="0"/>
              </a:rPr>
              <a:t>based</a:t>
            </a:r>
            <a:r>
              <a:rPr lang="en-US" sz="2800" spc="1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architectures</a:t>
            </a:r>
            <a:endParaRPr lang="en-US" sz="2800" dirty="0" smtClean="0">
              <a:latin typeface="Times New Roman" pitchFamily="18" charset="0"/>
              <a:cs typeface="Times New Roman" pitchFamily="18" charset="0"/>
            </a:endParaRPr>
          </a:p>
          <a:p>
            <a:pPr marL="1258570" lvl="2" indent="-605790">
              <a:spcBef>
                <a:spcPts val="160"/>
              </a:spcBef>
              <a:buClr>
                <a:srgbClr val="312ADF"/>
              </a:buClr>
              <a:buFont typeface="+mj-lt"/>
              <a:buAutoNum type="arabicParenR"/>
              <a:tabLst>
                <a:tab pos="618490" algn="l"/>
              </a:tabLst>
            </a:pPr>
            <a:r>
              <a:rPr lang="en-US" sz="2800" spc="-125" dirty="0" smtClean="0">
                <a:latin typeface="Times New Roman" pitchFamily="18" charset="0"/>
                <a:cs typeface="Times New Roman" pitchFamily="18" charset="0"/>
              </a:rPr>
              <a:t>Data-</a:t>
            </a:r>
            <a:r>
              <a:rPr lang="en-US" sz="2800" spc="-70" dirty="0" smtClean="0">
                <a:latin typeface="Times New Roman" pitchFamily="18" charset="0"/>
                <a:cs typeface="Times New Roman" pitchFamily="18" charset="0"/>
              </a:rPr>
              <a:t>centered</a:t>
            </a:r>
            <a:r>
              <a:rPr lang="en-US" sz="2800" spc="20"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architectures</a:t>
            </a:r>
            <a:endParaRPr lang="en-US" sz="2800" dirty="0" smtClean="0">
              <a:latin typeface="Times New Roman" pitchFamily="18" charset="0"/>
              <a:cs typeface="Times New Roman" pitchFamily="18" charset="0"/>
            </a:endParaRPr>
          </a:p>
          <a:p>
            <a:pPr marL="1257935" lvl="2" indent="-605155">
              <a:spcBef>
                <a:spcPts val="200"/>
              </a:spcBef>
              <a:buClr>
                <a:srgbClr val="2324DF"/>
              </a:buClr>
              <a:buFont typeface="+mj-lt"/>
              <a:buAutoNum type="arabicParenR"/>
              <a:tabLst>
                <a:tab pos="617855" algn="l"/>
              </a:tabLst>
            </a:pPr>
            <a:r>
              <a:rPr lang="en-US" sz="2800" spc="-125" dirty="0" smtClean="0">
                <a:latin typeface="Times New Roman" pitchFamily="18" charset="0"/>
                <a:cs typeface="Times New Roman" pitchFamily="18" charset="0"/>
              </a:rPr>
              <a:t>Event-</a:t>
            </a:r>
            <a:r>
              <a:rPr lang="en-US" sz="2800" spc="-50" dirty="0" smtClean="0">
                <a:latin typeface="Times New Roman" pitchFamily="18" charset="0"/>
                <a:cs typeface="Times New Roman" pitchFamily="18" charset="0"/>
              </a:rPr>
              <a:t>based</a:t>
            </a:r>
            <a:r>
              <a:rPr lang="en-US" sz="2800" spc="-45" dirty="0" smtClean="0">
                <a:latin typeface="Times New Roman" pitchFamily="18" charset="0"/>
                <a:cs typeface="Times New Roman" pitchFamily="18" charset="0"/>
              </a:rPr>
              <a:t> </a:t>
            </a:r>
            <a:r>
              <a:rPr lang="en-US" sz="2800" spc="-20" dirty="0" smtClean="0">
                <a:latin typeface="Times New Roman" pitchFamily="18" charset="0"/>
                <a:cs typeface="Times New Roman" pitchFamily="18" charset="0"/>
              </a:rPr>
              <a:t>architectures</a:t>
            </a:r>
            <a:endParaRPr lang="en-US" sz="2800" dirty="0" smtClean="0">
              <a:latin typeface="Times New Roman" pitchFamily="18" charset="0"/>
              <a:cs typeface="Times New Roman" pitchFamily="18" charset="0"/>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28662" y="0"/>
            <a:ext cx="7758138" cy="582212"/>
          </a:xfrm>
        </p:spPr>
        <p:txBody>
          <a:bodyPr>
            <a:normAutofit fontScale="90000"/>
          </a:bodyPr>
          <a:lstStyle/>
          <a:p>
            <a:pPr lvl="2" algn="l" rtl="0">
              <a:spcBef>
                <a:spcPct val="0"/>
              </a:spcBef>
            </a:pPr>
            <a:r>
              <a:rPr lang="en-US" sz="2800" b="1" spc="-80" dirty="0" smtClean="0">
                <a:latin typeface="Times New Roman" pitchFamily="18" charset="0"/>
                <a:cs typeface="Times New Roman" pitchFamily="18" charset="0"/>
              </a:rPr>
              <a:t>  </a:t>
            </a:r>
            <a:r>
              <a:rPr lang="en-US" sz="3600" b="1" spc="-80" dirty="0" smtClean="0">
                <a:latin typeface="Times New Roman" pitchFamily="18" charset="0"/>
                <a:cs typeface="Times New Roman" pitchFamily="18" charset="0"/>
              </a:rPr>
              <a:t>1) Layered</a:t>
            </a:r>
            <a:r>
              <a:rPr lang="en-US" sz="3600" b="1" spc="-145" dirty="0" smtClean="0">
                <a:latin typeface="Times New Roman" pitchFamily="18" charset="0"/>
                <a:cs typeface="Times New Roman" pitchFamily="18" charset="0"/>
              </a:rPr>
              <a:t> </a:t>
            </a:r>
            <a:r>
              <a:rPr lang="en-US" sz="3600" b="1" spc="-25" dirty="0" smtClean="0">
                <a:latin typeface="Times New Roman" pitchFamily="18" charset="0"/>
                <a:cs typeface="Times New Roman" pitchFamily="18" charset="0"/>
              </a:rPr>
              <a:t>architectures:-</a:t>
            </a:r>
            <a:endParaRPr lang="en-US" sz="3600" dirty="0"/>
          </a:p>
        </p:txBody>
      </p:sp>
      <p:sp>
        <p:nvSpPr>
          <p:cNvPr id="8" name="Text Placeholder 7"/>
          <p:cNvSpPr>
            <a:spLocks noGrp="1"/>
          </p:cNvSpPr>
          <p:nvPr>
            <p:ph type="body" idx="1"/>
          </p:nvPr>
        </p:nvSpPr>
        <p:spPr>
          <a:xfrm>
            <a:off x="214282" y="5715016"/>
            <a:ext cx="4397378" cy="928694"/>
          </a:xfrm>
        </p:spPr>
        <p:txBody>
          <a:bodyPr>
            <a:normAutofit/>
          </a:bodyPr>
          <a:lstStyle/>
          <a:p>
            <a:pPr algn="ctr"/>
            <a:r>
              <a:rPr lang="en-US" sz="2800" spc="-10" dirty="0" smtClean="0">
                <a:latin typeface="Times New Roman" pitchFamily="18" charset="0"/>
                <a:cs typeface="Times New Roman" pitchFamily="18" charset="0"/>
              </a:rPr>
              <a:t> </a:t>
            </a:r>
            <a:r>
              <a:rPr lang="en-US" sz="2000" b="0" spc="-10" dirty="0" smtClean="0">
                <a:solidFill>
                  <a:schemeClr val="tx1">
                    <a:lumMod val="95000"/>
                    <a:lumOff val="5000"/>
                  </a:schemeClr>
                </a:solidFill>
                <a:latin typeface="Times New Roman" pitchFamily="18" charset="0"/>
                <a:cs typeface="Times New Roman" pitchFamily="18" charset="0"/>
              </a:rPr>
              <a:t>Figure</a:t>
            </a:r>
            <a:r>
              <a:rPr lang="en-US" sz="2000" b="0" spc="-100" dirty="0" smtClean="0">
                <a:solidFill>
                  <a:schemeClr val="tx1">
                    <a:lumMod val="95000"/>
                    <a:lumOff val="5000"/>
                  </a:schemeClr>
                </a:solidFill>
                <a:latin typeface="Times New Roman" pitchFamily="18" charset="0"/>
                <a:cs typeface="Times New Roman" pitchFamily="18" charset="0"/>
              </a:rPr>
              <a:t> </a:t>
            </a:r>
            <a:r>
              <a:rPr lang="en-US" sz="2000" b="0" spc="-55" dirty="0" smtClean="0">
                <a:solidFill>
                  <a:schemeClr val="tx1">
                    <a:lumMod val="95000"/>
                    <a:lumOff val="5000"/>
                  </a:schemeClr>
                </a:solidFill>
                <a:latin typeface="Times New Roman" pitchFamily="18" charset="0"/>
                <a:cs typeface="Times New Roman" pitchFamily="18" charset="0"/>
              </a:rPr>
              <a:t>:-</a:t>
            </a:r>
            <a:r>
              <a:rPr lang="en-US" sz="2000" b="0" spc="-120" dirty="0" smtClean="0">
                <a:solidFill>
                  <a:schemeClr val="tx1">
                    <a:lumMod val="95000"/>
                    <a:lumOff val="5000"/>
                  </a:schemeClr>
                </a:solidFill>
                <a:latin typeface="Times New Roman" pitchFamily="18" charset="0"/>
                <a:cs typeface="Times New Roman" pitchFamily="18" charset="0"/>
              </a:rPr>
              <a:t> </a:t>
            </a:r>
            <a:r>
              <a:rPr lang="en-US" sz="2000" b="0" spc="-25" dirty="0" smtClean="0">
                <a:solidFill>
                  <a:schemeClr val="tx1">
                    <a:lumMod val="95000"/>
                    <a:lumOff val="5000"/>
                  </a:schemeClr>
                </a:solidFill>
                <a:latin typeface="Times New Roman" pitchFamily="18" charset="0"/>
                <a:cs typeface="Times New Roman" pitchFamily="18" charset="0"/>
              </a:rPr>
              <a:t>layered</a:t>
            </a:r>
            <a:r>
              <a:rPr lang="en-US" sz="2000" b="0" spc="-5" dirty="0" smtClean="0">
                <a:solidFill>
                  <a:schemeClr val="tx1">
                    <a:lumMod val="95000"/>
                    <a:lumOff val="5000"/>
                  </a:schemeClr>
                </a:solidFill>
                <a:latin typeface="Times New Roman" pitchFamily="18" charset="0"/>
                <a:cs typeface="Times New Roman" pitchFamily="18" charset="0"/>
              </a:rPr>
              <a:t> </a:t>
            </a:r>
            <a:r>
              <a:rPr lang="en-US" sz="2000" b="0" spc="-40" dirty="0" smtClean="0">
                <a:solidFill>
                  <a:schemeClr val="tx1">
                    <a:lumMod val="95000"/>
                    <a:lumOff val="5000"/>
                  </a:schemeClr>
                </a:solidFill>
                <a:latin typeface="Times New Roman" pitchFamily="18" charset="0"/>
                <a:cs typeface="Times New Roman" pitchFamily="18" charset="0"/>
              </a:rPr>
              <a:t>architectural</a:t>
            </a:r>
            <a:r>
              <a:rPr lang="en-US" sz="2000" b="0" spc="45" dirty="0" smtClean="0">
                <a:solidFill>
                  <a:schemeClr val="tx1">
                    <a:lumMod val="95000"/>
                    <a:lumOff val="5000"/>
                  </a:schemeClr>
                </a:solidFill>
                <a:latin typeface="Times New Roman" pitchFamily="18" charset="0"/>
                <a:cs typeface="Times New Roman" pitchFamily="18" charset="0"/>
              </a:rPr>
              <a:t> </a:t>
            </a:r>
            <a:r>
              <a:rPr lang="en-US" sz="2000" b="0" dirty="0" smtClean="0">
                <a:solidFill>
                  <a:schemeClr val="tx1">
                    <a:lumMod val="95000"/>
                    <a:lumOff val="5000"/>
                  </a:schemeClr>
                </a:solidFill>
                <a:latin typeface="Times New Roman" pitchFamily="18" charset="0"/>
                <a:cs typeface="Times New Roman" pitchFamily="18" charset="0"/>
              </a:rPr>
              <a:t>style</a:t>
            </a:r>
            <a:endParaRPr lang="en-US" sz="2000" b="0" dirty="0">
              <a:solidFill>
                <a:schemeClr val="tx1">
                  <a:lumMod val="95000"/>
                  <a:lumOff val="5000"/>
                </a:schemeClr>
              </a:solidFill>
              <a:latin typeface="Times New Roman" pitchFamily="18" charset="0"/>
              <a:cs typeface="Times New Roman" pitchFamily="18" charset="0"/>
            </a:endParaRPr>
          </a:p>
        </p:txBody>
      </p:sp>
      <p:pic>
        <p:nvPicPr>
          <p:cNvPr id="1028" name="Picture 4"/>
          <p:cNvPicPr>
            <a:picLocks noGrp="1" noChangeAspect="1" noChangeArrowheads="1"/>
          </p:cNvPicPr>
          <p:nvPr>
            <p:ph sz="quarter" idx="2"/>
          </p:nvPr>
        </p:nvPicPr>
        <p:blipFill>
          <a:blip r:embed="rId2"/>
          <a:stretch>
            <a:fillRect/>
          </a:stretch>
        </p:blipFill>
        <p:spPr bwMode="auto">
          <a:xfrm>
            <a:off x="467544" y="1153716"/>
            <a:ext cx="3677163" cy="4357718"/>
          </a:xfrm>
          <a:prstGeom prst="rect">
            <a:avLst/>
          </a:prstGeom>
          <a:noFill/>
          <a:ln w="9525">
            <a:noFill/>
            <a:miter lim="800000"/>
            <a:headEnd/>
            <a:tailEnd/>
          </a:ln>
          <a:effectLst/>
        </p:spPr>
      </p:pic>
      <p:sp>
        <p:nvSpPr>
          <p:cNvPr id="9" name="Content Placeholder 8"/>
          <p:cNvSpPr>
            <a:spLocks noGrp="1"/>
          </p:cNvSpPr>
          <p:nvPr>
            <p:ph sz="quarter" idx="4"/>
          </p:nvPr>
        </p:nvSpPr>
        <p:spPr>
          <a:xfrm>
            <a:off x="4645025" y="785794"/>
            <a:ext cx="4041775" cy="5574526"/>
          </a:xfrm>
        </p:spPr>
        <p:txBody>
          <a:bodyPr/>
          <a:lstStyle/>
          <a:p>
            <a:pPr marL="285750" indent="-285750">
              <a:lnSpc>
                <a:spcPct val="150000"/>
              </a:lnSpc>
              <a:buFont typeface="Wingdings" panose="05000000000000000000" pitchFamily="2" charset="2"/>
              <a:buChar char="Ø"/>
            </a:pPr>
            <a:r>
              <a:rPr lang="en-US"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Components are organized in a layered fashion.</a:t>
            </a:r>
          </a:p>
          <a:p>
            <a:pPr marL="285750" indent="-285750">
              <a:lnSpc>
                <a:spcPct val="150000"/>
              </a:lnSpc>
              <a:buFont typeface="Wingdings" panose="05000000000000000000" pitchFamily="2" charset="2"/>
              <a:buChar char="Ø"/>
            </a:pPr>
            <a:r>
              <a:rPr lang="en-US"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Each interaction is sequential.</a:t>
            </a:r>
          </a:p>
          <a:p>
            <a:pPr marL="285750" indent="-285750">
              <a:lnSpc>
                <a:spcPct val="150000"/>
              </a:lnSpc>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Control generally flows from layer to layer.</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14290"/>
            <a:ext cx="8229600" cy="1143000"/>
          </a:xfrm>
        </p:spPr>
        <p:txBody>
          <a:bodyPr/>
          <a:lstStyle/>
          <a:p>
            <a:pPr lvl="2" algn="l" rtl="0">
              <a:spcBef>
                <a:spcPct val="0"/>
              </a:spcBef>
            </a:pPr>
            <a:r>
              <a:rPr lang="en-US" sz="2800" b="1" spc="-120" dirty="0" smtClean="0">
                <a:latin typeface="Times New Roman" pitchFamily="18" charset="0"/>
                <a:cs typeface="Times New Roman" pitchFamily="18" charset="0"/>
              </a:rPr>
              <a:t>   </a:t>
            </a:r>
            <a:r>
              <a:rPr lang="en-US" sz="3200" b="1" spc="-120" dirty="0" smtClean="0">
                <a:latin typeface="Times New Roman" pitchFamily="18" charset="0"/>
                <a:cs typeface="Times New Roman" pitchFamily="18" charset="0"/>
              </a:rPr>
              <a:t>2) Object-</a:t>
            </a:r>
            <a:r>
              <a:rPr lang="en-US" sz="3200" b="1" spc="-50" dirty="0" smtClean="0">
                <a:latin typeface="Times New Roman" pitchFamily="18" charset="0"/>
                <a:cs typeface="Times New Roman" pitchFamily="18" charset="0"/>
              </a:rPr>
              <a:t>based</a:t>
            </a:r>
            <a:r>
              <a:rPr lang="en-US" sz="3200" b="1" spc="15" dirty="0" smtClean="0">
                <a:latin typeface="Times New Roman" pitchFamily="18" charset="0"/>
                <a:cs typeface="Times New Roman" pitchFamily="18" charset="0"/>
              </a:rPr>
              <a:t> </a:t>
            </a:r>
            <a:r>
              <a:rPr lang="en-US" sz="3200" b="1" spc="-20" dirty="0" smtClean="0">
                <a:latin typeface="Times New Roman" pitchFamily="18" charset="0"/>
                <a:cs typeface="Times New Roman" pitchFamily="18" charset="0"/>
              </a:rPr>
              <a:t>architectures:-</a:t>
            </a: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endParaRPr lang="en-US" sz="3200" dirty="0"/>
          </a:p>
        </p:txBody>
      </p:sp>
      <p:sp>
        <p:nvSpPr>
          <p:cNvPr id="3" name="Text Placeholder 2"/>
          <p:cNvSpPr>
            <a:spLocks noGrp="1"/>
          </p:cNvSpPr>
          <p:nvPr>
            <p:ph type="body" idx="1"/>
          </p:nvPr>
        </p:nvSpPr>
        <p:spPr>
          <a:xfrm>
            <a:off x="214282" y="5929330"/>
            <a:ext cx="4183064" cy="659352"/>
          </a:xfrm>
        </p:spPr>
        <p:txBody>
          <a:bodyPr>
            <a:normAutofit/>
          </a:bodyPr>
          <a:lstStyle/>
          <a:p>
            <a:r>
              <a:rPr lang="en-US" sz="2000" b="0" spc="-105" dirty="0" smtClean="0">
                <a:solidFill>
                  <a:schemeClr val="tx1">
                    <a:lumMod val="95000"/>
                    <a:lumOff val="5000"/>
                  </a:schemeClr>
                </a:solidFill>
                <a:latin typeface="Times New Roman" pitchFamily="18" charset="0"/>
                <a:cs typeface="Times New Roman" pitchFamily="18" charset="0"/>
              </a:rPr>
              <a:t>Figure</a:t>
            </a:r>
            <a:r>
              <a:rPr lang="en-US" sz="2000" b="0" spc="-80" dirty="0" smtClean="0">
                <a:solidFill>
                  <a:schemeClr val="tx1">
                    <a:lumMod val="95000"/>
                    <a:lumOff val="5000"/>
                  </a:schemeClr>
                </a:solidFill>
                <a:latin typeface="Times New Roman" pitchFamily="18" charset="0"/>
                <a:cs typeface="Times New Roman" pitchFamily="18" charset="0"/>
              </a:rPr>
              <a:t> </a:t>
            </a:r>
            <a:r>
              <a:rPr lang="en-US" sz="2000" b="0" spc="-130" dirty="0" smtClean="0">
                <a:solidFill>
                  <a:schemeClr val="tx1">
                    <a:lumMod val="95000"/>
                    <a:lumOff val="5000"/>
                  </a:schemeClr>
                </a:solidFill>
                <a:latin typeface="Times New Roman" pitchFamily="18" charset="0"/>
                <a:cs typeface="Times New Roman" pitchFamily="18" charset="0"/>
              </a:rPr>
              <a:t>:- </a:t>
            </a:r>
            <a:r>
              <a:rPr lang="en-US" sz="2000" b="0" spc="-114" dirty="0" smtClean="0">
                <a:solidFill>
                  <a:schemeClr val="tx1">
                    <a:lumMod val="95000"/>
                    <a:lumOff val="5000"/>
                  </a:schemeClr>
                </a:solidFill>
                <a:latin typeface="Times New Roman" pitchFamily="18" charset="0"/>
                <a:cs typeface="Times New Roman" pitchFamily="18" charset="0"/>
              </a:rPr>
              <a:t>The</a:t>
            </a:r>
            <a:r>
              <a:rPr lang="en-US" sz="2000" b="0" spc="-65" dirty="0" smtClean="0">
                <a:solidFill>
                  <a:schemeClr val="tx1">
                    <a:lumMod val="95000"/>
                    <a:lumOff val="5000"/>
                  </a:schemeClr>
                </a:solidFill>
                <a:latin typeface="Times New Roman" pitchFamily="18" charset="0"/>
                <a:cs typeface="Times New Roman" pitchFamily="18" charset="0"/>
              </a:rPr>
              <a:t> </a:t>
            </a:r>
            <a:r>
              <a:rPr lang="en-US" sz="2000" b="0" spc="-114" dirty="0" smtClean="0">
                <a:solidFill>
                  <a:schemeClr val="tx1">
                    <a:lumMod val="95000"/>
                    <a:lumOff val="5000"/>
                  </a:schemeClr>
                </a:solidFill>
                <a:latin typeface="Times New Roman" pitchFamily="18" charset="0"/>
                <a:cs typeface="Times New Roman" pitchFamily="18" charset="0"/>
              </a:rPr>
              <a:t>object-</a:t>
            </a:r>
            <a:r>
              <a:rPr lang="en-US" sz="2000" b="0" spc="-85" dirty="0" smtClean="0">
                <a:solidFill>
                  <a:schemeClr val="tx1">
                    <a:lumMod val="95000"/>
                    <a:lumOff val="5000"/>
                  </a:schemeClr>
                </a:solidFill>
                <a:latin typeface="Times New Roman" pitchFamily="18" charset="0"/>
                <a:cs typeface="Times New Roman" pitchFamily="18" charset="0"/>
              </a:rPr>
              <a:t>based</a:t>
            </a:r>
            <a:r>
              <a:rPr lang="en-US" sz="2000" b="0" spc="20" dirty="0" smtClean="0">
                <a:solidFill>
                  <a:schemeClr val="tx1">
                    <a:lumMod val="95000"/>
                    <a:lumOff val="5000"/>
                  </a:schemeClr>
                </a:solidFill>
                <a:latin typeface="Times New Roman" pitchFamily="18" charset="0"/>
                <a:cs typeface="Times New Roman" pitchFamily="18" charset="0"/>
              </a:rPr>
              <a:t> </a:t>
            </a:r>
            <a:r>
              <a:rPr lang="en-US" sz="2000" b="0" spc="-95" dirty="0" smtClean="0">
                <a:solidFill>
                  <a:schemeClr val="tx1">
                    <a:lumMod val="95000"/>
                    <a:lumOff val="5000"/>
                  </a:schemeClr>
                </a:solidFill>
                <a:latin typeface="Times New Roman" pitchFamily="18" charset="0"/>
                <a:cs typeface="Times New Roman" pitchFamily="18" charset="0"/>
              </a:rPr>
              <a:t>architectural</a:t>
            </a:r>
            <a:r>
              <a:rPr lang="en-US" sz="2000" b="0" spc="125" dirty="0" smtClean="0">
                <a:solidFill>
                  <a:schemeClr val="tx1">
                    <a:lumMod val="95000"/>
                    <a:lumOff val="5000"/>
                  </a:schemeClr>
                </a:solidFill>
                <a:latin typeface="Times New Roman" pitchFamily="18" charset="0"/>
                <a:cs typeface="Times New Roman" pitchFamily="18" charset="0"/>
              </a:rPr>
              <a:t> </a:t>
            </a:r>
            <a:r>
              <a:rPr lang="en-US" sz="2000" b="0" spc="-10" dirty="0" smtClean="0">
                <a:solidFill>
                  <a:schemeClr val="tx1">
                    <a:lumMod val="95000"/>
                    <a:lumOff val="5000"/>
                  </a:schemeClr>
                </a:solidFill>
                <a:latin typeface="Times New Roman" pitchFamily="18" charset="0"/>
                <a:cs typeface="Times New Roman" pitchFamily="18" charset="0"/>
              </a:rPr>
              <a:t>style</a:t>
            </a:r>
            <a:endParaRPr lang="en-US" sz="2000" b="0" dirty="0">
              <a:solidFill>
                <a:schemeClr val="tx1">
                  <a:lumMod val="95000"/>
                  <a:lumOff val="5000"/>
                </a:schemeClr>
              </a:solidFill>
              <a:latin typeface="Times New Roman" pitchFamily="18" charset="0"/>
              <a:cs typeface="Times New Roman" pitchFamily="18" charset="0"/>
            </a:endParaRPr>
          </a:p>
        </p:txBody>
      </p:sp>
      <p:pic>
        <p:nvPicPr>
          <p:cNvPr id="2050" name="Picture 2"/>
          <p:cNvPicPr>
            <a:picLocks noGrp="1" noChangeAspect="1" noChangeArrowheads="1"/>
          </p:cNvPicPr>
          <p:nvPr>
            <p:ph sz="quarter" idx="2"/>
          </p:nvPr>
        </p:nvPicPr>
        <p:blipFill>
          <a:blip r:embed="rId2"/>
          <a:stretch>
            <a:fillRect/>
          </a:stretch>
        </p:blipFill>
        <p:spPr bwMode="auto">
          <a:xfrm>
            <a:off x="428596" y="1285860"/>
            <a:ext cx="3982543" cy="4500593"/>
          </a:xfrm>
          <a:prstGeom prst="rect">
            <a:avLst/>
          </a:prstGeom>
          <a:noFill/>
          <a:ln w="9525">
            <a:noFill/>
            <a:miter lim="800000"/>
            <a:headEnd/>
            <a:tailEnd/>
          </a:ln>
          <a:effectLst/>
        </p:spPr>
      </p:pic>
      <p:sp>
        <p:nvSpPr>
          <p:cNvPr id="7" name="Content Placeholder 6"/>
          <p:cNvSpPr>
            <a:spLocks noGrp="1"/>
          </p:cNvSpPr>
          <p:nvPr>
            <p:ph sz="quarter" idx="4"/>
          </p:nvPr>
        </p:nvSpPr>
        <p:spPr>
          <a:xfrm>
            <a:off x="4645025" y="1071546"/>
            <a:ext cx="4041775" cy="5288774"/>
          </a:xfrm>
        </p:spPr>
        <p:txBody>
          <a:bodyPr/>
          <a:lstStyle/>
          <a:p>
            <a:pPr marL="285750" indent="-285750">
              <a:lnSpc>
                <a:spcPct val="150000"/>
              </a:lnSpc>
              <a:buFont typeface="Wingdings" panose="05000000000000000000" pitchFamily="2" charset="2"/>
              <a:buChar char="Ø"/>
            </a:pPr>
            <a:r>
              <a:rPr lang="en-US"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Loosely Coupled arrangements of objects.</a:t>
            </a:r>
          </a:p>
          <a:p>
            <a:pPr marL="285750" indent="-285750">
              <a:lnSpc>
                <a:spcPct val="150000"/>
              </a:lnSpc>
              <a:buFont typeface="Wingdings" panose="05000000000000000000" pitchFamily="2" charset="2"/>
              <a:buChar char="Ø"/>
            </a:pPr>
            <a:r>
              <a:rPr lang="en-US"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Each object  corresponds to component.</a:t>
            </a:r>
          </a:p>
          <a:p>
            <a:pPr marL="285750" indent="-285750">
              <a:lnSpc>
                <a:spcPct val="150000"/>
              </a:lnSpc>
              <a:buFont typeface="Wingdings" panose="05000000000000000000" pitchFamily="2" charset="2"/>
              <a:buChar char="Ø"/>
            </a:pPr>
            <a:r>
              <a:rPr lang="en-US" sz="28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Objects interact with the (remote) procedure call mechanism.</a:t>
            </a:r>
          </a:p>
          <a:p>
            <a:endParaRPr lang="en-US" dirty="0"/>
          </a:p>
        </p:txBody>
      </p:sp>
      <p:sp>
        <p:nvSpPr>
          <p:cNvPr id="4" name="Rectangle 3"/>
          <p:cNvSpPr/>
          <p:nvPr/>
        </p:nvSpPr>
        <p:spPr>
          <a:xfrm>
            <a:off x="838200" y="2057400"/>
            <a:ext cx="4572000" cy="923330"/>
          </a:xfrm>
          <a:prstGeom prst="rect">
            <a:avLst/>
          </a:prstGeom>
        </p:spPr>
        <p:txBody>
          <a:bodyPr>
            <a:spAutoFit/>
          </a:bodyPr>
          <a:lstStyle/>
          <a:p>
            <a:pPr marL="285750" indent="-285750">
              <a:lnSpc>
                <a:spcPct val="150000"/>
              </a:lnSpc>
              <a:buFont typeface="Wingdings" panose="05000000000000000000" pitchFamily="2" charset="2"/>
              <a:buChar char="Ø"/>
            </a:pPr>
            <a:endPar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28"/>
            <a:ext cx="8229600" cy="571504"/>
          </a:xfrm>
        </p:spPr>
        <p:txBody>
          <a:bodyPr/>
          <a:lstStyle/>
          <a:p>
            <a:r>
              <a:rPr lang="en-US" sz="2800" spc="-125" dirty="0" smtClean="0">
                <a:latin typeface="Times New Roman" pitchFamily="18" charset="0"/>
                <a:cs typeface="Times New Roman" pitchFamily="18" charset="0"/>
              </a:rPr>
              <a:t>  </a:t>
            </a:r>
            <a:r>
              <a:rPr lang="en-US" sz="3200" b="1" spc="-125" dirty="0" smtClean="0">
                <a:solidFill>
                  <a:schemeClr val="tx1">
                    <a:lumMod val="95000"/>
                    <a:lumOff val="5000"/>
                  </a:schemeClr>
                </a:solidFill>
                <a:latin typeface="Times New Roman" pitchFamily="18" charset="0"/>
                <a:cs typeface="Times New Roman" pitchFamily="18" charset="0"/>
              </a:rPr>
              <a:t>3) Data-</a:t>
            </a:r>
            <a:r>
              <a:rPr lang="en-US" sz="3200" b="1" spc="-70" dirty="0" smtClean="0">
                <a:solidFill>
                  <a:schemeClr val="tx1">
                    <a:lumMod val="95000"/>
                    <a:lumOff val="5000"/>
                  </a:schemeClr>
                </a:solidFill>
                <a:latin typeface="Times New Roman" pitchFamily="18" charset="0"/>
                <a:cs typeface="Times New Roman" pitchFamily="18" charset="0"/>
              </a:rPr>
              <a:t>centered</a:t>
            </a:r>
            <a:r>
              <a:rPr lang="en-US" sz="3200" b="1" spc="20" dirty="0" smtClean="0">
                <a:solidFill>
                  <a:schemeClr val="tx1">
                    <a:lumMod val="95000"/>
                    <a:lumOff val="5000"/>
                  </a:schemeClr>
                </a:solidFill>
                <a:latin typeface="Times New Roman" pitchFamily="18" charset="0"/>
                <a:cs typeface="Times New Roman" pitchFamily="18" charset="0"/>
              </a:rPr>
              <a:t> </a:t>
            </a:r>
            <a:r>
              <a:rPr lang="en-US" sz="3200" b="1" spc="-20" dirty="0" smtClean="0">
                <a:solidFill>
                  <a:schemeClr val="tx1">
                    <a:lumMod val="95000"/>
                    <a:lumOff val="5000"/>
                  </a:schemeClr>
                </a:solidFill>
                <a:latin typeface="Times New Roman" pitchFamily="18" charset="0"/>
                <a:cs typeface="Times New Roman" pitchFamily="18" charset="0"/>
              </a:rPr>
              <a:t>architectures:-</a:t>
            </a:r>
            <a:endParaRPr lang="en-US" sz="3200" b="1" dirty="0">
              <a:solidFill>
                <a:schemeClr val="tx1">
                  <a:lumMod val="95000"/>
                  <a:lumOff val="5000"/>
                </a:schemeClr>
              </a:solidFill>
            </a:endParaRPr>
          </a:p>
        </p:txBody>
      </p:sp>
      <p:sp>
        <p:nvSpPr>
          <p:cNvPr id="3" name="Text Placeholder 2"/>
          <p:cNvSpPr>
            <a:spLocks noGrp="1"/>
          </p:cNvSpPr>
          <p:nvPr>
            <p:ph type="body" idx="1"/>
          </p:nvPr>
        </p:nvSpPr>
        <p:spPr>
          <a:xfrm>
            <a:off x="0" y="5643578"/>
            <a:ext cx="4897380" cy="659352"/>
          </a:xfrm>
        </p:spPr>
        <p:txBody>
          <a:bodyPr>
            <a:noAutofit/>
          </a:bodyPr>
          <a:lstStyle/>
          <a:p>
            <a:r>
              <a:rPr lang="en-US" sz="2000" b="0" dirty="0" smtClean="0">
                <a:solidFill>
                  <a:schemeClr val="tx1">
                    <a:lumMod val="95000"/>
                    <a:lumOff val="5000"/>
                  </a:schemeClr>
                </a:solidFill>
                <a:latin typeface="Times New Roman" pitchFamily="18" charset="0"/>
                <a:cs typeface="Times New Roman" pitchFamily="18" charset="0"/>
              </a:rPr>
              <a:t>Figure :- Shared data-space architectural style.</a:t>
            </a:r>
            <a:endParaRPr lang="en-US" sz="2000" b="0" dirty="0">
              <a:solidFill>
                <a:schemeClr val="tx1">
                  <a:lumMod val="95000"/>
                  <a:lumOff val="5000"/>
                </a:schemeClr>
              </a:solidFill>
              <a:latin typeface="Times New Roman" pitchFamily="18" charset="0"/>
              <a:cs typeface="Times New Roman" pitchFamily="18" charset="0"/>
            </a:endParaRPr>
          </a:p>
        </p:txBody>
      </p:sp>
      <p:pic>
        <p:nvPicPr>
          <p:cNvPr id="3074" name="Picture 2"/>
          <p:cNvPicPr>
            <a:picLocks noGrp="1" noChangeAspect="1" noChangeArrowheads="1"/>
          </p:cNvPicPr>
          <p:nvPr>
            <p:ph sz="quarter" idx="2"/>
          </p:nvPr>
        </p:nvPicPr>
        <p:blipFill>
          <a:blip r:embed="rId2"/>
          <a:stretch>
            <a:fillRect/>
          </a:stretch>
        </p:blipFill>
        <p:spPr bwMode="auto">
          <a:xfrm>
            <a:off x="457200" y="1214422"/>
            <a:ext cx="4040188" cy="4365597"/>
          </a:xfrm>
          <a:prstGeom prst="rect">
            <a:avLst/>
          </a:prstGeom>
          <a:noFill/>
          <a:ln w="9525">
            <a:noFill/>
            <a:miter lim="800000"/>
            <a:headEnd/>
            <a:tailEnd/>
          </a:ln>
          <a:effectLst/>
        </p:spPr>
      </p:pic>
      <p:sp>
        <p:nvSpPr>
          <p:cNvPr id="7" name="Content Placeholder 6"/>
          <p:cNvSpPr>
            <a:spLocks noGrp="1"/>
          </p:cNvSpPr>
          <p:nvPr>
            <p:ph sz="quarter" idx="4"/>
          </p:nvPr>
        </p:nvSpPr>
        <p:spPr>
          <a:xfrm>
            <a:off x="4645025" y="1071546"/>
            <a:ext cx="4041775" cy="5288774"/>
          </a:xfrm>
        </p:spPr>
        <p:txBody>
          <a:bodyPr>
            <a:normAutofit/>
          </a:bodyPr>
          <a:lstStyle/>
          <a:p>
            <a:pPr marL="285750" indent="-285750">
              <a:lnSpc>
                <a:spcPct val="150000"/>
              </a:lnSpc>
              <a:buFont typeface="Wingdings" panose="05000000000000000000" pitchFamily="2" charset="2"/>
              <a:buChar char="Ø"/>
            </a:pPr>
            <a:r>
              <a:rPr lang="en-US"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Processes communicate through common repository.</a:t>
            </a:r>
          </a:p>
          <a:p>
            <a:pPr marL="285750" indent="-285750">
              <a:lnSpc>
                <a:spcPct val="150000"/>
              </a:lnSpc>
              <a:buFont typeface="Wingdings" panose="05000000000000000000" pitchFamily="2" charset="2"/>
              <a:buChar char="Ø"/>
            </a:pPr>
            <a:r>
              <a:rPr lang="en-US" sz="2400" dirty="0" smtClean="0">
                <a:solidFill>
                  <a:srgbClr val="000000"/>
                </a:solidFill>
                <a:latin typeface="Times New Roman" panose="02020603050405020304" pitchFamily="18" charset="0"/>
                <a:cs typeface="Times New Roman" panose="02020603050405020304" pitchFamily="18" charset="0"/>
              </a:rPr>
              <a:t>Nodes information is stored in persistent data space.</a:t>
            </a:r>
          </a:p>
          <a:p>
            <a:pPr marL="285750" indent="-285750">
              <a:lnSpc>
                <a:spcPct val="150000"/>
              </a:lnSpc>
              <a:buFont typeface="Wingdings" panose="05000000000000000000" pitchFamily="2" charset="2"/>
              <a:buChar char="Ø"/>
            </a:pPr>
            <a:r>
              <a:rPr lang="en-US" sz="2400" dirty="0" err="1" smtClean="0">
                <a:solidFill>
                  <a:srgbClr val="000000"/>
                </a:solidFill>
                <a:latin typeface="Times New Roman" panose="02020603050405020304" pitchFamily="18" charset="0"/>
                <a:cs typeface="Times New Roman" panose="02020603050405020304" pitchFamily="18" charset="0"/>
              </a:rPr>
              <a:t>Ex:</a:t>
            </a:r>
            <a:r>
              <a:rPr lang="en-US" sz="2400"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Producer</a:t>
            </a:r>
            <a:r>
              <a:rPr lang="en-US"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/consumer </a:t>
            </a:r>
            <a:r>
              <a:rPr lang="en-US" sz="2400"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problem,distributed</a:t>
            </a:r>
            <a:r>
              <a:rPr lang="en-US" sz="24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file system.</a:t>
            </a:r>
            <a:endPar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229600" cy="1143000"/>
          </a:xfrm>
        </p:spPr>
        <p:txBody>
          <a:bodyPr/>
          <a:lstStyle/>
          <a:p>
            <a:pPr lvl="2" algn="l" rtl="0">
              <a:spcBef>
                <a:spcPct val="0"/>
              </a:spcBef>
            </a:pPr>
            <a:r>
              <a:rPr lang="en-US" sz="2800" b="1" spc="-125" dirty="0" smtClean="0">
                <a:latin typeface="Times New Roman" pitchFamily="18" charset="0"/>
                <a:cs typeface="Times New Roman" pitchFamily="18" charset="0"/>
              </a:rPr>
              <a:t> </a:t>
            </a:r>
            <a:r>
              <a:rPr lang="en-US" sz="3200" b="1" spc="-125" dirty="0" smtClean="0">
                <a:latin typeface="Times New Roman" pitchFamily="18" charset="0"/>
                <a:cs typeface="Times New Roman" pitchFamily="18" charset="0"/>
              </a:rPr>
              <a:t>4) Event-</a:t>
            </a:r>
            <a:r>
              <a:rPr lang="en-US" sz="3200" b="1" spc="-50" dirty="0" smtClean="0">
                <a:latin typeface="Times New Roman" pitchFamily="18" charset="0"/>
                <a:cs typeface="Times New Roman" pitchFamily="18" charset="0"/>
              </a:rPr>
              <a:t>based</a:t>
            </a:r>
            <a:r>
              <a:rPr lang="en-US" sz="3200" b="1" spc="-45" dirty="0" smtClean="0">
                <a:latin typeface="Times New Roman" pitchFamily="18" charset="0"/>
                <a:cs typeface="Times New Roman" pitchFamily="18" charset="0"/>
              </a:rPr>
              <a:t> </a:t>
            </a:r>
            <a:r>
              <a:rPr lang="en-US" sz="3200" b="1" spc="-20" dirty="0" smtClean="0">
                <a:latin typeface="Times New Roman" pitchFamily="18" charset="0"/>
                <a:cs typeface="Times New Roman" pitchFamily="18" charset="0"/>
              </a:rPr>
              <a:t>architectures:-</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endParaRPr lang="en-US" dirty="0"/>
          </a:p>
        </p:txBody>
      </p:sp>
      <p:sp>
        <p:nvSpPr>
          <p:cNvPr id="3" name="Text Placeholder 2"/>
          <p:cNvSpPr>
            <a:spLocks noGrp="1"/>
          </p:cNvSpPr>
          <p:nvPr>
            <p:ph type="body" idx="1"/>
          </p:nvPr>
        </p:nvSpPr>
        <p:spPr>
          <a:xfrm>
            <a:off x="0" y="5786454"/>
            <a:ext cx="4714876" cy="659352"/>
          </a:xfrm>
        </p:spPr>
        <p:txBody>
          <a:bodyPr>
            <a:normAutofit/>
          </a:bodyPr>
          <a:lstStyle/>
          <a:p>
            <a:r>
              <a:rPr lang="en-US" sz="2000" b="0" spc="-10" dirty="0" smtClean="0">
                <a:solidFill>
                  <a:schemeClr val="tx1">
                    <a:lumMod val="95000"/>
                    <a:lumOff val="5000"/>
                  </a:schemeClr>
                </a:solidFill>
                <a:latin typeface="Times New Roman" pitchFamily="18" charset="0"/>
                <a:cs typeface="Times New Roman" pitchFamily="18" charset="0"/>
              </a:rPr>
              <a:t>Figure</a:t>
            </a:r>
            <a:r>
              <a:rPr lang="en-US" sz="2000" b="0" spc="-60" dirty="0" smtClean="0">
                <a:solidFill>
                  <a:schemeClr val="tx1">
                    <a:lumMod val="95000"/>
                    <a:lumOff val="5000"/>
                  </a:schemeClr>
                </a:solidFill>
                <a:latin typeface="Times New Roman" pitchFamily="18" charset="0"/>
                <a:cs typeface="Times New Roman" pitchFamily="18" charset="0"/>
              </a:rPr>
              <a:t> </a:t>
            </a:r>
            <a:r>
              <a:rPr lang="en-US" sz="2000" b="0" spc="-55" dirty="0" smtClean="0">
                <a:solidFill>
                  <a:schemeClr val="tx1">
                    <a:lumMod val="95000"/>
                    <a:lumOff val="5000"/>
                  </a:schemeClr>
                </a:solidFill>
                <a:latin typeface="Times New Roman" pitchFamily="18" charset="0"/>
                <a:cs typeface="Times New Roman" pitchFamily="18" charset="0"/>
              </a:rPr>
              <a:t>4:-</a:t>
            </a:r>
            <a:r>
              <a:rPr lang="en-US" sz="2000" b="0" spc="-75" dirty="0" smtClean="0">
                <a:solidFill>
                  <a:schemeClr val="tx1">
                    <a:lumMod val="95000"/>
                    <a:lumOff val="5000"/>
                  </a:schemeClr>
                </a:solidFill>
                <a:latin typeface="Times New Roman" pitchFamily="18" charset="0"/>
                <a:cs typeface="Times New Roman" pitchFamily="18" charset="0"/>
              </a:rPr>
              <a:t> </a:t>
            </a:r>
            <a:r>
              <a:rPr lang="en-US" sz="2000" b="0" dirty="0" smtClean="0">
                <a:solidFill>
                  <a:schemeClr val="tx1">
                    <a:lumMod val="95000"/>
                    <a:lumOff val="5000"/>
                  </a:schemeClr>
                </a:solidFill>
                <a:latin typeface="Times New Roman" pitchFamily="18" charset="0"/>
                <a:cs typeface="Times New Roman" pitchFamily="18" charset="0"/>
              </a:rPr>
              <a:t>The</a:t>
            </a:r>
            <a:r>
              <a:rPr lang="en-US" sz="2000" b="0" spc="-100" dirty="0" smtClean="0">
                <a:solidFill>
                  <a:schemeClr val="tx1">
                    <a:lumMod val="95000"/>
                    <a:lumOff val="5000"/>
                  </a:schemeClr>
                </a:solidFill>
                <a:latin typeface="Times New Roman" pitchFamily="18" charset="0"/>
                <a:cs typeface="Times New Roman" pitchFamily="18" charset="0"/>
              </a:rPr>
              <a:t> </a:t>
            </a:r>
            <a:r>
              <a:rPr lang="en-US" sz="2000" b="0" spc="-70" dirty="0" smtClean="0">
                <a:solidFill>
                  <a:schemeClr val="tx1">
                    <a:lumMod val="95000"/>
                    <a:lumOff val="5000"/>
                  </a:schemeClr>
                </a:solidFill>
                <a:latin typeface="Times New Roman" pitchFamily="18" charset="0"/>
                <a:cs typeface="Times New Roman" pitchFamily="18" charset="0"/>
              </a:rPr>
              <a:t>event-</a:t>
            </a:r>
            <a:r>
              <a:rPr lang="en-US" sz="2000" b="0" spc="-10" dirty="0" smtClean="0">
                <a:solidFill>
                  <a:schemeClr val="tx1">
                    <a:lumMod val="95000"/>
                    <a:lumOff val="5000"/>
                  </a:schemeClr>
                </a:solidFill>
                <a:latin typeface="Times New Roman" pitchFamily="18" charset="0"/>
                <a:cs typeface="Times New Roman" pitchFamily="18" charset="0"/>
              </a:rPr>
              <a:t>based </a:t>
            </a:r>
            <a:r>
              <a:rPr lang="en-US" sz="2000" b="0" spc="-40" dirty="0" smtClean="0">
                <a:solidFill>
                  <a:schemeClr val="tx1">
                    <a:lumMod val="95000"/>
                    <a:lumOff val="5000"/>
                  </a:schemeClr>
                </a:solidFill>
                <a:latin typeface="Times New Roman" pitchFamily="18" charset="0"/>
                <a:cs typeface="Times New Roman" pitchFamily="18" charset="0"/>
              </a:rPr>
              <a:t>architectural</a:t>
            </a:r>
            <a:r>
              <a:rPr lang="en-US" sz="2000" b="0" spc="40" dirty="0" smtClean="0">
                <a:solidFill>
                  <a:schemeClr val="tx1">
                    <a:lumMod val="95000"/>
                    <a:lumOff val="5000"/>
                  </a:schemeClr>
                </a:solidFill>
                <a:latin typeface="Times New Roman" pitchFamily="18" charset="0"/>
                <a:cs typeface="Times New Roman" pitchFamily="18" charset="0"/>
              </a:rPr>
              <a:t> </a:t>
            </a:r>
            <a:r>
              <a:rPr lang="en-US" sz="2000" b="0" dirty="0" smtClean="0">
                <a:solidFill>
                  <a:schemeClr val="tx1">
                    <a:lumMod val="95000"/>
                    <a:lumOff val="5000"/>
                  </a:schemeClr>
                </a:solidFill>
                <a:latin typeface="Times New Roman" pitchFamily="18" charset="0"/>
                <a:cs typeface="Times New Roman" pitchFamily="18" charset="0"/>
              </a:rPr>
              <a:t>style</a:t>
            </a:r>
            <a:r>
              <a:rPr lang="en-US" sz="2000" b="0" spc="-130" dirty="0" smtClean="0">
                <a:solidFill>
                  <a:schemeClr val="tx1">
                    <a:lumMod val="95000"/>
                    <a:lumOff val="5000"/>
                  </a:schemeClr>
                </a:solidFill>
                <a:latin typeface="Times New Roman" pitchFamily="18" charset="0"/>
                <a:cs typeface="Times New Roman" pitchFamily="18" charset="0"/>
              </a:rPr>
              <a:t> </a:t>
            </a:r>
            <a:endParaRPr lang="en-US" sz="2000" b="0" dirty="0">
              <a:solidFill>
                <a:schemeClr val="tx1">
                  <a:lumMod val="95000"/>
                  <a:lumOff val="5000"/>
                </a:schemeClr>
              </a:solidFill>
              <a:latin typeface="Times New Roman" pitchFamily="18" charset="0"/>
              <a:cs typeface="Times New Roman" pitchFamily="18" charset="0"/>
            </a:endParaRPr>
          </a:p>
        </p:txBody>
      </p:sp>
      <p:pic>
        <p:nvPicPr>
          <p:cNvPr id="4098" name="Picture 2"/>
          <p:cNvPicPr>
            <a:picLocks noGrp="1" noChangeAspect="1" noChangeArrowheads="1"/>
          </p:cNvPicPr>
          <p:nvPr>
            <p:ph sz="quarter" idx="2"/>
          </p:nvPr>
        </p:nvPicPr>
        <p:blipFill>
          <a:blip r:embed="rId2"/>
          <a:stretch>
            <a:fillRect/>
          </a:stretch>
        </p:blipFill>
        <p:spPr bwMode="auto">
          <a:xfrm>
            <a:off x="214282" y="1214422"/>
            <a:ext cx="4283106" cy="4429155"/>
          </a:xfrm>
          <a:prstGeom prst="rect">
            <a:avLst/>
          </a:prstGeom>
          <a:noFill/>
          <a:ln w="9525">
            <a:noFill/>
            <a:miter lim="800000"/>
            <a:headEnd/>
            <a:tailEnd/>
          </a:ln>
          <a:effectLst/>
        </p:spPr>
      </p:pic>
      <p:sp>
        <p:nvSpPr>
          <p:cNvPr id="7" name="Content Placeholder 6"/>
          <p:cNvSpPr>
            <a:spLocks noGrp="1"/>
          </p:cNvSpPr>
          <p:nvPr>
            <p:ph sz="quarter" idx="4"/>
          </p:nvPr>
        </p:nvSpPr>
        <p:spPr>
          <a:xfrm>
            <a:off x="4645025" y="928670"/>
            <a:ext cx="4284693" cy="5643602"/>
          </a:xfrm>
        </p:spPr>
        <p:txBody>
          <a:bodyPr>
            <a:normAutofit/>
          </a:bodyPr>
          <a:lstStyle/>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Processes communicate through </a:t>
            </a:r>
            <a:r>
              <a:rPr lang="en-US"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propogation</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of events.</a:t>
            </a:r>
          </a:p>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cs typeface="Times New Roman" panose="02020603050405020304" pitchFamily="18" charset="0"/>
              </a:rPr>
              <a:t>Processes are loosely coupled.</a:t>
            </a:r>
          </a:p>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Event can be a data ,</a:t>
            </a:r>
            <a:r>
              <a:rPr lang="en-US"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url</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or </a:t>
            </a:r>
            <a:r>
              <a:rPr lang="en-US"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inf</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etc.</a:t>
            </a:r>
          </a:p>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Processes will publish the events.</a:t>
            </a:r>
          </a:p>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Processes that subscribe will receive them.</a:t>
            </a:r>
          </a:p>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Components are </a:t>
            </a:r>
            <a:r>
              <a:rPr lang="en-US"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heterogenous</a:t>
            </a: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Publish/subscribe system.</a:t>
            </a:r>
          </a:p>
          <a:p>
            <a:endParaRPr lang="en-US" dirty="0"/>
          </a:p>
        </p:txBody>
      </p:sp>
      <p:sp>
        <p:nvSpPr>
          <p:cNvPr id="4" name="Rectangle 3"/>
          <p:cNvSpPr/>
          <p:nvPr/>
        </p:nvSpPr>
        <p:spPr>
          <a:xfrm>
            <a:off x="304800" y="1676402"/>
            <a:ext cx="3962400" cy="923330"/>
          </a:xfrm>
          <a:prstGeom prst="rect">
            <a:avLst/>
          </a:prstGeom>
        </p:spPr>
        <p:txBody>
          <a:bodyPr wrap="square">
            <a:spAutoFit/>
          </a:bodyPr>
          <a:lstStyle/>
          <a:p>
            <a:pPr marL="285750" indent="-285750">
              <a:lnSpc>
                <a:spcPct val="150000"/>
              </a:lnSpc>
              <a:buFont typeface="Wingdings" panose="05000000000000000000" pitchFamily="2" charset="2"/>
              <a:buChar char="Ø"/>
            </a:pPr>
            <a:endPar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71472" y="214290"/>
            <a:ext cx="8229600" cy="1143000"/>
          </a:xfrm>
        </p:spPr>
        <p:txBody>
          <a:bodyPr/>
          <a:lstStyle/>
          <a:p>
            <a:pPr algn="ctr"/>
            <a:r>
              <a:rPr lang="en-US" sz="4800" b="1" dirty="0" smtClean="0">
                <a:latin typeface="Times New Roman" pitchFamily="18" charset="0"/>
                <a:cs typeface="Times New Roman" pitchFamily="18" charset="0"/>
              </a:rPr>
              <a:t>System Architectures</a:t>
            </a:r>
            <a:endParaRPr lang="en-US" dirty="0"/>
          </a:p>
        </p:txBody>
      </p:sp>
      <p:sp>
        <p:nvSpPr>
          <p:cNvPr id="6" name="Content Placeholder 5"/>
          <p:cNvSpPr>
            <a:spLocks noGrp="1"/>
          </p:cNvSpPr>
          <p:nvPr>
            <p:ph idx="1"/>
          </p:nvPr>
        </p:nvSpPr>
        <p:spPr>
          <a:xfrm>
            <a:off x="457200" y="1357298"/>
            <a:ext cx="8229600" cy="4967302"/>
          </a:xfrm>
        </p:spPr>
        <p:txBody>
          <a:bodyPr/>
          <a:lstStyle/>
          <a:p>
            <a:r>
              <a:rPr lang="en-US" altLang="en-US" sz="3200" b="1" i="1" dirty="0" smtClean="0">
                <a:solidFill>
                  <a:schemeClr val="tx1">
                    <a:lumMod val="95000"/>
                    <a:lumOff val="5000"/>
                  </a:schemeClr>
                </a:solidFill>
                <a:latin typeface="Times New Roman" pitchFamily="18" charset="0"/>
                <a:cs typeface="Times New Roman" pitchFamily="18" charset="0"/>
              </a:rPr>
              <a:t>System architecture</a:t>
            </a:r>
            <a:r>
              <a:rPr lang="en-US" altLang="en-US" sz="3200" b="1" dirty="0" smtClean="0">
                <a:solidFill>
                  <a:schemeClr val="tx1">
                    <a:lumMod val="95000"/>
                    <a:lumOff val="5000"/>
                  </a:schemeClr>
                </a:solidFill>
                <a:latin typeface="Times New Roman" pitchFamily="18" charset="0"/>
                <a:cs typeface="Times New Roman" pitchFamily="18" charset="0"/>
              </a:rPr>
              <a:t>:- </a:t>
            </a:r>
            <a:r>
              <a:rPr lang="en-US" altLang="en-US" sz="3200" dirty="0" smtClean="0">
                <a:latin typeface="Times New Roman" pitchFamily="18" charset="0"/>
                <a:cs typeface="Times New Roman" pitchFamily="18" charset="0"/>
              </a:rPr>
              <a:t>An instance of a software architecture after deciding on the software components, their interaction and their placement.</a:t>
            </a:r>
          </a:p>
          <a:p>
            <a:r>
              <a:rPr lang="en-US" sz="3200" dirty="0" smtClean="0">
                <a:latin typeface="Times New Roman" pitchFamily="18" charset="0"/>
                <a:cs typeface="Times New Roman" pitchFamily="18" charset="0"/>
              </a:rPr>
              <a:t>Here we are going to discuss about 3 types:-</a:t>
            </a:r>
          </a:p>
          <a:p>
            <a:pPr marL="1005840" lvl="4" indent="-457200">
              <a:buSzPct val="95000"/>
              <a:buFont typeface="+mj-lt"/>
              <a:buAutoNum type="arabicParenR"/>
            </a:pPr>
            <a:r>
              <a:rPr lang="en-US" sz="3200" dirty="0" smtClean="0">
                <a:latin typeface="Times New Roman" pitchFamily="18" charset="0"/>
                <a:cs typeface="Times New Roman" pitchFamily="18" charset="0"/>
              </a:rPr>
              <a:t>Centralized Organization:-</a:t>
            </a:r>
          </a:p>
          <a:p>
            <a:pPr marL="1005840" lvl="4" indent="-457200">
              <a:buSzPct val="95000"/>
              <a:buFont typeface="+mj-lt"/>
              <a:buAutoNum type="arabicParenR"/>
            </a:pPr>
            <a:r>
              <a:rPr lang="en-US" sz="3200" dirty="0" smtClean="0">
                <a:latin typeface="Times New Roman" pitchFamily="18" charset="0"/>
                <a:cs typeface="Times New Roman" pitchFamily="18" charset="0"/>
              </a:rPr>
              <a:t>Decentralized Organization:-</a:t>
            </a:r>
          </a:p>
          <a:p>
            <a:pPr marL="1005840" lvl="4" indent="-457200">
              <a:buSzPct val="95000"/>
              <a:buFont typeface="+mj-lt"/>
              <a:buAutoNum type="arabicParenR"/>
            </a:pPr>
            <a:r>
              <a:rPr lang="en-US" sz="3200" dirty="0" smtClean="0">
                <a:latin typeface="Times New Roman" pitchFamily="18" charset="0"/>
                <a:cs typeface="Times New Roman" pitchFamily="18" charset="0"/>
              </a:rPr>
              <a:t>Hybrid forms:-</a:t>
            </a:r>
          </a:p>
          <a:p>
            <a:pPr marL="274320" lvl="2" indent="-274320">
              <a:buClr>
                <a:schemeClr val="accent3"/>
              </a:buClr>
              <a:buSzPct val="95000"/>
            </a:pPr>
            <a:endParaRPr lang="en-US" sz="3200" dirty="0" smtClean="0">
              <a:latin typeface="Times New Roman" pitchFamily="18" charset="0"/>
              <a:cs typeface="Times New Roman" pitchFamily="18" charset="0"/>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609600" y="838200"/>
            <a:ext cx="8534400" cy="5562600"/>
          </a:xfrm>
        </p:spPr>
        <p:txBody>
          <a:bodyPr>
            <a:normAutofit lnSpcReduction="10000"/>
          </a:bodyPr>
          <a:lstStyle/>
          <a:p>
            <a:r>
              <a:rPr lang="en-US" dirty="0" smtClean="0">
                <a:latin typeface="Times New Roman" pitchFamily="18" charset="0"/>
                <a:cs typeface="Times New Roman" pitchFamily="18" charset="0"/>
              </a:rPr>
              <a:t>Here we are going to discuss following topics:-</a:t>
            </a:r>
          </a:p>
          <a:p>
            <a:pPr marL="1124712" lvl="2" indent="-457200">
              <a:buFont typeface="+mj-lt"/>
              <a:buAutoNum type="arabicParenR"/>
            </a:pPr>
            <a:r>
              <a:rPr lang="en-US" sz="2400" dirty="0" smtClean="0">
                <a:latin typeface="Times New Roman" pitchFamily="18" charset="0"/>
                <a:cs typeface="Times New Roman" pitchFamily="18" charset="0"/>
              </a:rPr>
              <a:t>Centralized Organization:-</a:t>
            </a:r>
          </a:p>
          <a:p>
            <a:pPr marL="1399032" lvl="3" indent="-457200">
              <a:buFont typeface="Arial" pitchFamily="34" charset="0"/>
              <a:buChar char="•"/>
            </a:pPr>
            <a:r>
              <a:rPr lang="en-US" sz="2300" dirty="0" smtClean="0">
                <a:solidFill>
                  <a:schemeClr val="tx1">
                    <a:lumMod val="95000"/>
                    <a:lumOff val="5000"/>
                  </a:schemeClr>
                </a:solidFill>
                <a:latin typeface="Times New Roman" pitchFamily="18" charset="0"/>
                <a:cs typeface="Times New Roman" pitchFamily="18" charset="0"/>
              </a:rPr>
              <a:t>Application Layering</a:t>
            </a:r>
          </a:p>
          <a:p>
            <a:pPr marL="1399032" lvl="3" indent="-457200">
              <a:buFont typeface="Arial" pitchFamily="34" charset="0"/>
              <a:buChar char="•"/>
            </a:pPr>
            <a:r>
              <a:rPr lang="en-US" sz="2300" dirty="0" smtClean="0">
                <a:solidFill>
                  <a:schemeClr val="tx1">
                    <a:lumMod val="95000"/>
                    <a:lumOff val="5000"/>
                  </a:schemeClr>
                </a:solidFill>
                <a:latin typeface="Times New Roman" pitchFamily="18" charset="0"/>
                <a:cs typeface="Times New Roman" pitchFamily="18" charset="0"/>
              </a:rPr>
              <a:t>Multitiered Architectures</a:t>
            </a:r>
          </a:p>
          <a:p>
            <a:pPr marL="1947672" lvl="5" indent="-457200">
              <a:buFont typeface="Arial" pitchFamily="34" charset="0"/>
              <a:buChar char="•"/>
            </a:pPr>
            <a:r>
              <a:rPr lang="en-US" sz="2100" dirty="0" smtClean="0">
                <a:solidFill>
                  <a:schemeClr val="tx1">
                    <a:lumMod val="95000"/>
                    <a:lumOff val="5000"/>
                  </a:schemeClr>
                </a:solidFill>
                <a:latin typeface="Times New Roman" pitchFamily="18" charset="0"/>
                <a:cs typeface="Times New Roman" pitchFamily="18" charset="0"/>
              </a:rPr>
              <a:t>Two-tiered architecture</a:t>
            </a:r>
          </a:p>
          <a:p>
            <a:pPr marL="1947672" lvl="5" indent="-457200">
              <a:buFont typeface="Arial" pitchFamily="34" charset="0"/>
              <a:buChar char="•"/>
            </a:pPr>
            <a:r>
              <a:rPr lang="en-US" sz="2100" dirty="0" smtClean="0">
                <a:solidFill>
                  <a:schemeClr val="tx1">
                    <a:lumMod val="95000"/>
                    <a:lumOff val="5000"/>
                  </a:schemeClr>
                </a:solidFill>
                <a:latin typeface="Times New Roman" pitchFamily="18" charset="0"/>
                <a:cs typeface="Times New Roman" pitchFamily="18" charset="0"/>
              </a:rPr>
              <a:t>Three-tiered architecture</a:t>
            </a:r>
          </a:p>
          <a:p>
            <a:pPr marL="1124712" lvl="2" indent="-457200">
              <a:buFont typeface="+mj-lt"/>
              <a:buAutoNum type="arabicParenR"/>
            </a:pPr>
            <a:r>
              <a:rPr lang="en-US" sz="2400" dirty="0" smtClean="0">
                <a:latin typeface="Times New Roman" pitchFamily="18" charset="0"/>
                <a:cs typeface="Times New Roman" pitchFamily="18" charset="0"/>
              </a:rPr>
              <a:t>Decentralized Organization:-</a:t>
            </a:r>
          </a:p>
          <a:p>
            <a:pPr marL="1947672" lvl="5" indent="-457200"/>
            <a:r>
              <a:rPr lang="en-US" sz="2100" dirty="0" smtClean="0">
                <a:latin typeface="Times New Roman" pitchFamily="18" charset="0"/>
                <a:cs typeface="Times New Roman" pitchFamily="18" charset="0"/>
              </a:rPr>
              <a:t>Structured Peer-to-Peer Architectures</a:t>
            </a:r>
          </a:p>
          <a:p>
            <a:pPr marL="1947672" lvl="5" indent="-457200"/>
            <a:r>
              <a:rPr lang="en-US" sz="2100" dirty="0" smtClean="0">
                <a:latin typeface="Times New Roman" pitchFamily="18" charset="0"/>
                <a:cs typeface="Times New Roman" pitchFamily="18" charset="0"/>
              </a:rPr>
              <a:t>Unstructured Peer-to-Peer Architectures</a:t>
            </a:r>
          </a:p>
          <a:p>
            <a:pPr marL="1947672" lvl="5" indent="-457200"/>
            <a:r>
              <a:rPr lang="en-US" sz="2100" dirty="0" smtClean="0">
                <a:latin typeface="Times New Roman" pitchFamily="18" charset="0"/>
                <a:cs typeface="Times New Roman" pitchFamily="18" charset="0"/>
              </a:rPr>
              <a:t>Topology Management of Overlay Networks</a:t>
            </a:r>
          </a:p>
          <a:p>
            <a:pPr marL="1947672" lvl="5" indent="-457200"/>
            <a:r>
              <a:rPr lang="en-US" sz="2100" dirty="0" smtClean="0">
                <a:latin typeface="Times New Roman" pitchFamily="18" charset="0"/>
                <a:cs typeface="Times New Roman" pitchFamily="18" charset="0"/>
              </a:rPr>
              <a:t>Superpeers</a:t>
            </a:r>
          </a:p>
          <a:p>
            <a:pPr marL="1124712" lvl="2" indent="-457200">
              <a:buFont typeface="+mj-lt"/>
              <a:buAutoNum type="arabicParenR"/>
            </a:pPr>
            <a:r>
              <a:rPr lang="en-US" sz="2400" dirty="0" smtClean="0">
                <a:latin typeface="Times New Roman" pitchFamily="18" charset="0"/>
                <a:cs typeface="Times New Roman" pitchFamily="18" charset="0"/>
              </a:rPr>
              <a:t>Hybrid forms:-</a:t>
            </a:r>
          </a:p>
          <a:p>
            <a:pPr marL="1947672" lvl="5" indent="-457200"/>
            <a:r>
              <a:rPr lang="en-US" sz="2100" dirty="0" smtClean="0">
                <a:latin typeface="Times New Roman" pitchFamily="18" charset="0"/>
                <a:cs typeface="Times New Roman" pitchFamily="18" charset="0"/>
              </a:rPr>
              <a:t>Edge-server Systems</a:t>
            </a:r>
          </a:p>
          <a:p>
            <a:pPr marL="1947672" lvl="5" indent="-457200"/>
            <a:r>
              <a:rPr lang="en-US" sz="2100" dirty="0" smtClean="0">
                <a:latin typeface="Times New Roman" pitchFamily="18" charset="0"/>
                <a:cs typeface="Times New Roman" pitchFamily="18" charset="0"/>
              </a:rPr>
              <a:t>Collaborative Distributed Systems</a:t>
            </a:r>
          </a:p>
          <a:p>
            <a:pPr marL="1124712" lvl="2" indent="-457200">
              <a:buFont typeface="+mj-lt"/>
              <a:buAutoNum type="arabicParen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958166" cy="928670"/>
          </a:xfrm>
        </p:spPr>
        <p:txBody>
          <a:bodyPr/>
          <a:lstStyle/>
          <a:p>
            <a:pPr lvl="2" algn="l" rtl="0">
              <a:spcBef>
                <a:spcPct val="0"/>
              </a:spcBef>
            </a:pPr>
            <a:r>
              <a:rPr lang="en-US" sz="3600" b="1" dirty="0" smtClean="0">
                <a:latin typeface="Times New Roman" pitchFamily="18" charset="0"/>
                <a:cs typeface="Times New Roman" pitchFamily="18" charset="0"/>
              </a:rPr>
              <a:t> </a:t>
            </a:r>
            <a:r>
              <a:rPr lang="en-US" sz="4000" b="1" dirty="0" smtClean="0">
                <a:latin typeface="Times New Roman" pitchFamily="18" charset="0"/>
                <a:cs typeface="Times New Roman" pitchFamily="18" charset="0"/>
              </a:rPr>
              <a:t>1) Centralized Organization:-</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endParaRPr lang="en-US" dirty="0"/>
          </a:p>
        </p:txBody>
      </p:sp>
      <p:sp>
        <p:nvSpPr>
          <p:cNvPr id="7" name="Text Placeholder 6"/>
          <p:cNvSpPr>
            <a:spLocks noGrp="1"/>
          </p:cNvSpPr>
          <p:nvPr>
            <p:ph type="body" idx="2"/>
          </p:nvPr>
        </p:nvSpPr>
        <p:spPr>
          <a:xfrm>
            <a:off x="4714876" y="5891396"/>
            <a:ext cx="4143404" cy="762000"/>
          </a:xfrm>
        </p:spPr>
        <p:txBody>
          <a:bodyPr>
            <a:normAutofit/>
          </a:bodyPr>
          <a:lstStyle/>
          <a:p>
            <a:r>
              <a:rPr lang="en-US" sz="2000" spc="-25" dirty="0" smtClean="0">
                <a:latin typeface="Times New Roman" pitchFamily="18" charset="0"/>
                <a:cs typeface="Times New Roman" pitchFamily="18" charset="0"/>
              </a:rPr>
              <a:t>Figure</a:t>
            </a:r>
            <a:r>
              <a:rPr lang="en-US" sz="2000" spc="-95" dirty="0" smtClean="0">
                <a:latin typeface="Times New Roman" pitchFamily="18" charset="0"/>
                <a:cs typeface="Times New Roman" pitchFamily="18" charset="0"/>
              </a:rPr>
              <a:t> </a:t>
            </a:r>
            <a:r>
              <a:rPr lang="en-US" sz="2000" spc="-55" dirty="0" smtClean="0">
                <a:latin typeface="Times New Roman" pitchFamily="18" charset="0"/>
                <a:cs typeface="Times New Roman" pitchFamily="18" charset="0"/>
              </a:rPr>
              <a:t>:-</a:t>
            </a:r>
            <a:r>
              <a:rPr lang="en-US" sz="2000" spc="-30" dirty="0" smtClean="0">
                <a:latin typeface="Times New Roman" pitchFamily="18" charset="0"/>
                <a:cs typeface="Times New Roman" pitchFamily="18" charset="0"/>
              </a:rPr>
              <a:t>General</a:t>
            </a:r>
            <a:r>
              <a:rPr lang="en-US" sz="2000" spc="-10" dirty="0" smtClean="0">
                <a:latin typeface="Times New Roman" pitchFamily="18" charset="0"/>
                <a:cs typeface="Times New Roman" pitchFamily="18" charset="0"/>
              </a:rPr>
              <a:t> </a:t>
            </a:r>
            <a:r>
              <a:rPr lang="en-US" sz="2000" spc="-25" dirty="0" smtClean="0">
                <a:latin typeface="Times New Roman" pitchFamily="18" charset="0"/>
                <a:cs typeface="Times New Roman" pitchFamily="18" charset="0"/>
              </a:rPr>
              <a:t>interaction</a:t>
            </a:r>
            <a:r>
              <a:rPr lang="en-US" sz="2000" spc="-30" dirty="0" smtClean="0">
                <a:latin typeface="Times New Roman" pitchFamily="18" charset="0"/>
                <a:cs typeface="Times New Roman" pitchFamily="18" charset="0"/>
              </a:rPr>
              <a:t> </a:t>
            </a:r>
            <a:r>
              <a:rPr lang="en-US" sz="2000" spc="-25" dirty="0" smtClean="0">
                <a:latin typeface="Times New Roman" pitchFamily="18" charset="0"/>
                <a:cs typeface="Times New Roman" pitchFamily="18" charset="0"/>
              </a:rPr>
              <a:t>between </a:t>
            </a:r>
            <a:r>
              <a:rPr lang="en-US" sz="2000" dirty="0" smtClean="0">
                <a:latin typeface="Times New Roman" pitchFamily="18" charset="0"/>
                <a:cs typeface="Times New Roman" pitchFamily="18" charset="0"/>
              </a:rPr>
              <a:t>a</a:t>
            </a:r>
            <a:r>
              <a:rPr lang="en-US" sz="2000" spc="-170" dirty="0" smtClean="0">
                <a:latin typeface="Times New Roman" pitchFamily="18" charset="0"/>
                <a:cs typeface="Times New Roman" pitchFamily="18" charset="0"/>
              </a:rPr>
              <a:t> </a:t>
            </a:r>
            <a:r>
              <a:rPr lang="en-US" sz="2000" spc="-10" dirty="0" smtClean="0">
                <a:latin typeface="Times New Roman" pitchFamily="18" charset="0"/>
                <a:cs typeface="Times New Roman" pitchFamily="18" charset="0"/>
              </a:rPr>
              <a:t>client</a:t>
            </a:r>
            <a:r>
              <a:rPr lang="en-US" sz="2000" spc="15"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and</a:t>
            </a:r>
            <a:r>
              <a:rPr lang="en-US" sz="2000" spc="-17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a:t>
            </a:r>
            <a:r>
              <a:rPr lang="en-US" sz="2000" spc="-140" dirty="0" smtClean="0">
                <a:latin typeface="Times New Roman" pitchFamily="18" charset="0"/>
                <a:cs typeface="Times New Roman" pitchFamily="18" charset="0"/>
              </a:rPr>
              <a:t> </a:t>
            </a:r>
            <a:r>
              <a:rPr lang="en-US" sz="2000" spc="-10" dirty="0" smtClean="0">
                <a:latin typeface="Times New Roman" pitchFamily="18" charset="0"/>
                <a:cs typeface="Times New Roman" pitchFamily="18" charset="0"/>
              </a:rPr>
              <a:t>server.</a:t>
            </a:r>
            <a:endParaRPr lang="en-US" sz="2000" dirty="0" smtClean="0">
              <a:latin typeface="Times New Roman" pitchFamily="18" charset="0"/>
              <a:cs typeface="Times New Roman" pitchFamily="18" charset="0"/>
            </a:endParaRPr>
          </a:p>
          <a:p>
            <a:endParaRPr lang="en-US" dirty="0"/>
          </a:p>
        </p:txBody>
      </p:sp>
      <p:pic>
        <p:nvPicPr>
          <p:cNvPr id="5125" name="Picture 5"/>
          <p:cNvPicPr>
            <a:picLocks noGrp="1" noChangeAspect="1" noChangeArrowheads="1"/>
          </p:cNvPicPr>
          <p:nvPr>
            <p:ph sz="half" idx="1"/>
          </p:nvPr>
        </p:nvPicPr>
        <p:blipFill>
          <a:blip r:embed="rId2"/>
          <a:srcRect/>
          <a:stretch>
            <a:fillRect/>
          </a:stretch>
        </p:blipFill>
        <p:spPr bwMode="auto">
          <a:xfrm>
            <a:off x="4643438" y="928670"/>
            <a:ext cx="4214842" cy="4562492"/>
          </a:xfrm>
          <a:prstGeom prst="rect">
            <a:avLst/>
          </a:prstGeom>
          <a:noFill/>
          <a:ln w="9525">
            <a:noFill/>
            <a:miter lim="800000"/>
            <a:headEnd/>
            <a:tailEnd/>
          </a:ln>
          <a:effectLst/>
        </p:spPr>
      </p:pic>
      <p:sp>
        <p:nvSpPr>
          <p:cNvPr id="3" name="Rectangle 2"/>
          <p:cNvSpPr/>
          <p:nvPr/>
        </p:nvSpPr>
        <p:spPr>
          <a:xfrm>
            <a:off x="0" y="714356"/>
            <a:ext cx="4500562" cy="7540526"/>
          </a:xfrm>
          <a:prstGeom prst="rect">
            <a:avLst/>
          </a:prstGeom>
        </p:spPr>
        <p:txBody>
          <a:bodyPr wrap="square">
            <a:spAutoFit/>
          </a:bodyPr>
          <a:lstStyle/>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basic client-server model, processes in a distributed system are divided into </a:t>
            </a:r>
            <a:r>
              <a:rPr lang="en-US" sz="2400" dirty="0" smtClean="0">
                <a:latin typeface="Times New Roman" panose="02020603050405020304" pitchFamily="18" charset="0"/>
                <a:cs typeface="Times New Roman" panose="02020603050405020304" pitchFamily="18" charset="0"/>
              </a:rPr>
              <a:t>two (possibly overlapping) groups. </a:t>
            </a:r>
          </a:p>
          <a:p>
            <a:pPr marL="285750" indent="-28575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A server is a process implementing a specific service, </a:t>
            </a:r>
            <a:r>
              <a:rPr lang="en-US" sz="2400" dirty="0" err="1" smtClean="0">
                <a:latin typeface="Times New Roman" panose="02020603050405020304" pitchFamily="18" charset="0"/>
                <a:cs typeface="Times New Roman" panose="02020603050405020304" pitchFamily="18" charset="0"/>
              </a:rPr>
              <a:t>eg</a:t>
            </a:r>
            <a:r>
              <a:rPr lang="en-US" sz="2400" dirty="0" smtClean="0">
                <a:latin typeface="Times New Roman" panose="02020603050405020304" pitchFamily="18" charset="0"/>
                <a:cs typeface="Times New Roman" panose="02020603050405020304" pitchFamily="18" charset="0"/>
              </a:rPr>
              <a:t>, a file system service or a database service. </a:t>
            </a:r>
          </a:p>
          <a:p>
            <a:pPr marL="285750" indent="-285750">
              <a:buFont typeface="Wingdings" panose="05000000000000000000" pitchFamily="2" charset="2"/>
              <a:buChar char="Ø"/>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client is a process that requests </a:t>
            </a:r>
            <a:r>
              <a:rPr lang="en-US" sz="2400" dirty="0" smtClean="0">
                <a:latin typeface="Times New Roman" panose="02020603050405020304" pitchFamily="18" charset="0"/>
                <a:cs typeface="Times New Roman" panose="02020603050405020304" pitchFamily="18" charset="0"/>
              </a:rPr>
              <a:t>a service from a server by sending  it </a:t>
            </a:r>
            <a:r>
              <a:rPr lang="en-US" sz="2400" dirty="0">
                <a:latin typeface="Times New Roman" panose="02020603050405020304" pitchFamily="18" charset="0"/>
                <a:cs typeface="Times New Roman" panose="02020603050405020304" pitchFamily="18" charset="0"/>
              </a:rPr>
              <a:t>a request and subsequently waiting for the server's reply</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client-server interaction, also known as request-reply </a:t>
            </a:r>
            <a:r>
              <a:rPr lang="en-US" sz="2400" dirty="0" smtClean="0">
                <a:latin typeface="Times New Roman" panose="02020603050405020304" pitchFamily="18" charset="0"/>
                <a:cs typeface="Times New Roman" panose="02020603050405020304" pitchFamily="18" charset="0"/>
              </a:rPr>
              <a:t>behavior.</a:t>
            </a:r>
          </a:p>
          <a:p>
            <a:pPr marL="285750" indent="-285750">
              <a:buFont typeface="Wingdings" panose="05000000000000000000" pitchFamily="2" charset="2"/>
              <a:buChar char="Ø"/>
            </a:pPr>
            <a:endParaRPr lang="en-US" sz="20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85786" y="0"/>
            <a:ext cx="7901014" cy="428604"/>
          </a:xfrm>
        </p:spPr>
        <p:txBody>
          <a:bodyPr>
            <a:normAutofit fontScale="90000"/>
          </a:bodyPr>
          <a:lstStyle/>
          <a:p>
            <a:pPr lvl="3" algn="l" rtl="0">
              <a:spcBef>
                <a:spcPct val="0"/>
              </a:spcBef>
              <a:buFont typeface="Arial" pitchFamily="34" charset="0"/>
              <a:buChar char="•"/>
            </a:pPr>
            <a:r>
              <a:rPr lang="en-US" sz="3100" b="1" dirty="0" smtClean="0">
                <a:solidFill>
                  <a:schemeClr val="tx1">
                    <a:lumMod val="95000"/>
                    <a:lumOff val="5000"/>
                  </a:schemeClr>
                </a:solidFill>
                <a:latin typeface="Times New Roman" pitchFamily="18" charset="0"/>
                <a:cs typeface="Times New Roman" pitchFamily="18" charset="0"/>
              </a:rPr>
              <a:t>  Application Layering:-</a:t>
            </a:r>
            <a:endParaRPr lang="en-US" dirty="0"/>
          </a:p>
        </p:txBody>
      </p:sp>
      <p:sp>
        <p:nvSpPr>
          <p:cNvPr id="4" name="Text Placeholder 3"/>
          <p:cNvSpPr>
            <a:spLocks noGrp="1"/>
          </p:cNvSpPr>
          <p:nvPr>
            <p:ph type="body" idx="1"/>
          </p:nvPr>
        </p:nvSpPr>
        <p:spPr>
          <a:xfrm>
            <a:off x="214282" y="428604"/>
            <a:ext cx="8643998" cy="857256"/>
          </a:xfrm>
        </p:spPr>
        <p:txBody>
          <a:bodyPr/>
          <a:lstStyle/>
          <a:p>
            <a:pPr marL="12700">
              <a:spcBef>
                <a:spcPts val="120"/>
              </a:spcBef>
              <a:buFont typeface="Arial" pitchFamily="34" charset="0"/>
              <a:buChar char="•"/>
            </a:pPr>
            <a:r>
              <a:rPr lang="en-US" b="0" spc="-75" dirty="0" smtClean="0">
                <a:solidFill>
                  <a:schemeClr val="tx1">
                    <a:lumMod val="95000"/>
                    <a:lumOff val="5000"/>
                  </a:schemeClr>
                </a:solidFill>
                <a:latin typeface="Times New Roman" panose="02020603050405020304" pitchFamily="18" charset="0"/>
                <a:cs typeface="Times New Roman" panose="02020603050405020304" pitchFamily="18" charset="0"/>
              </a:rPr>
              <a:t>Recall</a:t>
            </a:r>
            <a:r>
              <a:rPr lang="en-US" b="0" spc="-16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70" dirty="0" smtClean="0">
                <a:solidFill>
                  <a:schemeClr val="tx1">
                    <a:lumMod val="95000"/>
                    <a:lumOff val="5000"/>
                  </a:schemeClr>
                </a:solidFill>
                <a:latin typeface="Times New Roman" panose="02020603050405020304" pitchFamily="18" charset="0"/>
                <a:cs typeface="Times New Roman" panose="02020603050405020304" pitchFamily="18" charset="0"/>
              </a:rPr>
              <a:t>previously</a:t>
            </a:r>
            <a:r>
              <a:rPr lang="en-US" b="0" spc="-65"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90" dirty="0" smtClean="0">
                <a:solidFill>
                  <a:schemeClr val="tx1">
                    <a:lumMod val="95000"/>
                    <a:lumOff val="5000"/>
                  </a:schemeClr>
                </a:solidFill>
                <a:latin typeface="Times New Roman" panose="02020603050405020304" pitchFamily="18" charset="0"/>
                <a:cs typeface="Times New Roman" panose="02020603050405020304" pitchFamily="18" charset="0"/>
              </a:rPr>
              <a:t>mentioned</a:t>
            </a:r>
            <a:r>
              <a:rPr lang="en-US" b="0" spc="-114"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50" dirty="0" smtClean="0">
                <a:solidFill>
                  <a:schemeClr val="tx1">
                    <a:lumMod val="95000"/>
                    <a:lumOff val="5000"/>
                  </a:schemeClr>
                </a:solidFill>
                <a:latin typeface="Times New Roman" panose="02020603050405020304" pitchFamily="18" charset="0"/>
                <a:cs typeface="Times New Roman" panose="02020603050405020304" pitchFamily="18" charset="0"/>
              </a:rPr>
              <a:t>layers</a:t>
            </a:r>
            <a:r>
              <a:rPr lang="en-US" b="0" spc="-135"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25" dirty="0" smtClean="0">
                <a:solidFill>
                  <a:schemeClr val="tx1">
                    <a:lumMod val="95000"/>
                    <a:lumOff val="5000"/>
                  </a:schemeClr>
                </a:solidFill>
                <a:latin typeface="Times New Roman" panose="02020603050405020304" pitchFamily="18" charset="0"/>
                <a:cs typeface="Times New Roman" panose="02020603050405020304" pitchFamily="18" charset="0"/>
              </a:rPr>
              <a:t>of </a:t>
            </a:r>
            <a:r>
              <a:rPr lang="en-US" b="0" spc="-45" dirty="0" smtClean="0">
                <a:solidFill>
                  <a:schemeClr val="tx1">
                    <a:lumMod val="95000"/>
                    <a:lumOff val="5000"/>
                  </a:schemeClr>
                </a:solidFill>
                <a:latin typeface="Times New Roman" panose="02020603050405020304" pitchFamily="18" charset="0"/>
                <a:cs typeface="Times New Roman" panose="02020603050405020304" pitchFamily="18" charset="0"/>
              </a:rPr>
              <a:t>architectural</a:t>
            </a:r>
            <a:r>
              <a:rPr lang="en-US" b="0" spc="3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10" dirty="0" smtClean="0">
                <a:solidFill>
                  <a:schemeClr val="tx1">
                    <a:lumMod val="95000"/>
                    <a:lumOff val="5000"/>
                  </a:schemeClr>
                </a:solidFill>
                <a:latin typeface="Times New Roman" panose="02020603050405020304" pitchFamily="18" charset="0"/>
                <a:cs typeface="Times New Roman" panose="02020603050405020304" pitchFamily="18" charset="0"/>
              </a:rPr>
              <a:t>style.</a:t>
            </a:r>
          </a:p>
          <a:p>
            <a:pPr marL="252730" indent="-514350" algn="just">
              <a:spcBef>
                <a:spcPts val="120"/>
              </a:spcBef>
            </a:pPr>
            <a:r>
              <a:rPr lang="en-US" b="0" dirty="0" smtClean="0">
                <a:solidFill>
                  <a:schemeClr val="accent2">
                    <a:lumMod val="60000"/>
                    <a:lumOff val="40000"/>
                  </a:schemeClr>
                </a:solidFill>
                <a:latin typeface="Times New Roman" panose="02020603050405020304" pitchFamily="18" charset="0"/>
                <a:cs typeface="Times New Roman" panose="02020603050405020304" pitchFamily="18" charset="0"/>
              </a:rPr>
              <a:t>1)</a:t>
            </a:r>
            <a:r>
              <a:rPr lang="en-US" b="0" dirty="0" smtClean="0">
                <a:solidFill>
                  <a:schemeClr val="tx1">
                    <a:lumMod val="95000"/>
                    <a:lumOff val="5000"/>
                  </a:schemeClr>
                </a:solidFill>
                <a:latin typeface="Times New Roman" panose="02020603050405020304" pitchFamily="18" charset="0"/>
                <a:cs typeface="Times New Roman" panose="02020603050405020304" pitchFamily="18" charset="0"/>
              </a:rPr>
              <a:t>The</a:t>
            </a:r>
            <a:r>
              <a:rPr lang="en-US" b="0" spc="-135"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40" dirty="0" smtClean="0">
                <a:solidFill>
                  <a:schemeClr val="tx1">
                    <a:lumMod val="95000"/>
                    <a:lumOff val="5000"/>
                  </a:schemeClr>
                </a:solidFill>
                <a:latin typeface="Times New Roman" panose="02020603050405020304" pitchFamily="18" charset="0"/>
                <a:cs typeface="Times New Roman" panose="02020603050405020304" pitchFamily="18" charset="0"/>
              </a:rPr>
              <a:t>user-</a:t>
            </a:r>
            <a:r>
              <a:rPr lang="en-US" b="0" spc="-20" dirty="0" smtClean="0">
                <a:solidFill>
                  <a:schemeClr val="tx1">
                    <a:lumMod val="95000"/>
                    <a:lumOff val="5000"/>
                  </a:schemeClr>
                </a:solidFill>
                <a:latin typeface="Times New Roman" panose="02020603050405020304" pitchFamily="18" charset="0"/>
                <a:cs typeface="Times New Roman" panose="02020603050405020304" pitchFamily="18" charset="0"/>
              </a:rPr>
              <a:t>interface</a:t>
            </a:r>
            <a:r>
              <a:rPr lang="en-US" b="0" spc="-204"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10" dirty="0" smtClean="0">
                <a:solidFill>
                  <a:schemeClr val="tx1">
                    <a:lumMod val="95000"/>
                    <a:lumOff val="5000"/>
                  </a:schemeClr>
                </a:solidFill>
                <a:latin typeface="Times New Roman" panose="02020603050405020304" pitchFamily="18" charset="0"/>
                <a:cs typeface="Times New Roman" panose="02020603050405020304" pitchFamily="18" charset="0"/>
              </a:rPr>
              <a:t>level  </a:t>
            </a:r>
            <a:r>
              <a:rPr lang="en-US" b="0" spc="-10" dirty="0" smtClean="0">
                <a:solidFill>
                  <a:schemeClr val="accent2">
                    <a:lumMod val="60000"/>
                    <a:lumOff val="40000"/>
                  </a:schemeClr>
                </a:solidFill>
                <a:latin typeface="Times New Roman" panose="02020603050405020304" pitchFamily="18" charset="0"/>
                <a:cs typeface="Times New Roman" panose="02020603050405020304" pitchFamily="18" charset="0"/>
              </a:rPr>
              <a:t>2)</a:t>
            </a:r>
            <a:r>
              <a:rPr lang="en-US" b="0" dirty="0" smtClean="0">
                <a:solidFill>
                  <a:schemeClr val="tx1">
                    <a:lumMod val="95000"/>
                    <a:lumOff val="5000"/>
                  </a:schemeClr>
                </a:solidFill>
                <a:latin typeface="Times New Roman" panose="02020603050405020304" pitchFamily="18" charset="0"/>
                <a:cs typeface="Times New Roman" panose="02020603050405020304" pitchFamily="18" charset="0"/>
              </a:rPr>
              <a:t>The</a:t>
            </a:r>
            <a:r>
              <a:rPr lang="en-US" b="0" spc="-55"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dirty="0" smtClean="0">
                <a:solidFill>
                  <a:schemeClr val="tx1">
                    <a:lumMod val="95000"/>
                    <a:lumOff val="5000"/>
                  </a:schemeClr>
                </a:solidFill>
                <a:latin typeface="Times New Roman" panose="02020603050405020304" pitchFamily="18" charset="0"/>
                <a:cs typeface="Times New Roman" panose="02020603050405020304" pitchFamily="18" charset="0"/>
              </a:rPr>
              <a:t>processing</a:t>
            </a:r>
            <a:r>
              <a:rPr lang="en-US" b="0" spc="15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10" dirty="0" smtClean="0">
                <a:solidFill>
                  <a:schemeClr val="tx1">
                    <a:lumMod val="95000"/>
                    <a:lumOff val="5000"/>
                  </a:schemeClr>
                </a:solidFill>
                <a:latin typeface="Times New Roman" panose="02020603050405020304" pitchFamily="18" charset="0"/>
                <a:cs typeface="Times New Roman" panose="02020603050405020304" pitchFamily="18" charset="0"/>
              </a:rPr>
              <a:t>level  </a:t>
            </a:r>
            <a:r>
              <a:rPr lang="en-US" b="0" spc="-10" dirty="0" smtClean="0">
                <a:solidFill>
                  <a:schemeClr val="accent2">
                    <a:lumMod val="60000"/>
                    <a:lumOff val="40000"/>
                  </a:schemeClr>
                </a:solidFill>
                <a:latin typeface="Times New Roman" panose="02020603050405020304" pitchFamily="18" charset="0"/>
                <a:cs typeface="Times New Roman" panose="02020603050405020304" pitchFamily="18" charset="0"/>
              </a:rPr>
              <a:t>3) </a:t>
            </a:r>
            <a:r>
              <a:rPr lang="en-US" b="0" dirty="0" smtClean="0">
                <a:solidFill>
                  <a:schemeClr val="tx1">
                    <a:lumMod val="95000"/>
                    <a:lumOff val="5000"/>
                  </a:schemeClr>
                </a:solidFill>
                <a:latin typeface="Times New Roman" panose="02020603050405020304" pitchFamily="18" charset="0"/>
                <a:cs typeface="Times New Roman" panose="02020603050405020304" pitchFamily="18" charset="0"/>
              </a:rPr>
              <a:t>The</a:t>
            </a:r>
            <a:r>
              <a:rPr lang="en-US" b="0" spc="-15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dirty="0" smtClean="0">
                <a:solidFill>
                  <a:schemeClr val="tx1">
                    <a:lumMod val="95000"/>
                    <a:lumOff val="5000"/>
                  </a:schemeClr>
                </a:solidFill>
                <a:latin typeface="Times New Roman" panose="02020603050405020304" pitchFamily="18" charset="0"/>
                <a:cs typeface="Times New Roman" panose="02020603050405020304" pitchFamily="18" charset="0"/>
              </a:rPr>
              <a:t>data</a:t>
            </a:r>
            <a:r>
              <a:rPr lang="en-US" b="0" spc="-18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b="0" spc="-10" dirty="0" smtClean="0">
                <a:solidFill>
                  <a:schemeClr val="tx1">
                    <a:lumMod val="95000"/>
                    <a:lumOff val="5000"/>
                  </a:schemeClr>
                </a:solidFill>
                <a:latin typeface="Times New Roman" panose="02020603050405020304" pitchFamily="18" charset="0"/>
                <a:cs typeface="Times New Roman" panose="02020603050405020304" pitchFamily="18" charset="0"/>
              </a:rPr>
              <a:t>level</a:t>
            </a:r>
            <a:endParaRPr lang="en-US" b="0" dirty="0" smtClean="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Text Placeholder 6"/>
          <p:cNvSpPr>
            <a:spLocks noGrp="1"/>
          </p:cNvSpPr>
          <p:nvPr>
            <p:ph type="body" sz="half" idx="3"/>
          </p:nvPr>
        </p:nvSpPr>
        <p:spPr>
          <a:xfrm>
            <a:off x="0" y="6203157"/>
            <a:ext cx="9144000" cy="654843"/>
          </a:xfrm>
        </p:spPr>
        <p:txBody>
          <a:bodyPr>
            <a:noAutofit/>
          </a:bodyPr>
          <a:lstStyle/>
          <a:p>
            <a:r>
              <a:rPr lang="en-US" sz="2000" spc="-20" dirty="0" smtClean="0">
                <a:solidFill>
                  <a:schemeClr val="tx1"/>
                </a:solidFill>
                <a:latin typeface="Times New Roman" pitchFamily="18" charset="0"/>
                <a:cs typeface="Times New Roman" pitchFamily="18" charset="0"/>
              </a:rPr>
              <a:t>Figure(</a:t>
            </a:r>
            <a:r>
              <a:rPr lang="en-US" sz="2000" dirty="0" smtClean="0">
                <a:solidFill>
                  <a:schemeClr val="tx1"/>
                </a:solidFill>
                <a:latin typeface="Times New Roman" pitchFamily="18" charset="0"/>
                <a:cs typeface="Times New Roman" pitchFamily="18" charset="0"/>
              </a:rPr>
              <a:t>Application layering with an example</a:t>
            </a:r>
            <a:r>
              <a:rPr lang="en-US" sz="2000" spc="-20" dirty="0" smtClean="0">
                <a:solidFill>
                  <a:schemeClr val="tx1"/>
                </a:solidFill>
                <a:latin typeface="Times New Roman" pitchFamily="18" charset="0"/>
                <a:cs typeface="Times New Roman" pitchFamily="18" charset="0"/>
              </a:rPr>
              <a:t>)</a:t>
            </a:r>
            <a:r>
              <a:rPr lang="en-US" sz="2000" spc="-6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The</a:t>
            </a:r>
            <a:r>
              <a:rPr lang="en-US" sz="2000" spc="-120" dirty="0" smtClean="0">
                <a:solidFill>
                  <a:schemeClr val="tx1"/>
                </a:solidFill>
                <a:latin typeface="Times New Roman" pitchFamily="18" charset="0"/>
                <a:cs typeface="Times New Roman" pitchFamily="18" charset="0"/>
              </a:rPr>
              <a:t> </a:t>
            </a:r>
            <a:r>
              <a:rPr lang="en-US" sz="2000" spc="-25" dirty="0" smtClean="0">
                <a:solidFill>
                  <a:schemeClr val="tx1"/>
                </a:solidFill>
                <a:latin typeface="Times New Roman" pitchFamily="18" charset="0"/>
                <a:cs typeface="Times New Roman" pitchFamily="18" charset="0"/>
              </a:rPr>
              <a:t>simplified</a:t>
            </a:r>
            <a:r>
              <a:rPr lang="en-US" sz="2000" spc="-70" dirty="0" smtClean="0">
                <a:solidFill>
                  <a:schemeClr val="tx1"/>
                </a:solidFill>
                <a:latin typeface="Times New Roman" pitchFamily="18" charset="0"/>
                <a:cs typeface="Times New Roman" pitchFamily="18" charset="0"/>
              </a:rPr>
              <a:t> </a:t>
            </a:r>
            <a:r>
              <a:rPr lang="en-US" sz="2000" spc="-40" dirty="0" smtClean="0">
                <a:solidFill>
                  <a:schemeClr val="tx1"/>
                </a:solidFill>
                <a:latin typeface="Times New Roman" pitchFamily="18" charset="0"/>
                <a:cs typeface="Times New Roman" pitchFamily="18" charset="0"/>
              </a:rPr>
              <a:t>organization</a:t>
            </a:r>
            <a:r>
              <a:rPr lang="en-US" sz="2000" spc="8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of</a:t>
            </a:r>
            <a:r>
              <a:rPr lang="en-US" sz="2000" spc="-3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an</a:t>
            </a:r>
            <a:r>
              <a:rPr lang="en-US" sz="2000" spc="-135" dirty="0" smtClean="0">
                <a:solidFill>
                  <a:schemeClr val="tx1"/>
                </a:solidFill>
                <a:latin typeface="Times New Roman" pitchFamily="18" charset="0"/>
                <a:cs typeface="Times New Roman" pitchFamily="18" charset="0"/>
              </a:rPr>
              <a:t> </a:t>
            </a:r>
            <a:r>
              <a:rPr lang="en-US" sz="2000" spc="-25" dirty="0" smtClean="0">
                <a:solidFill>
                  <a:schemeClr val="tx1"/>
                </a:solidFill>
                <a:latin typeface="Times New Roman" pitchFamily="18" charset="0"/>
                <a:cs typeface="Times New Roman" pitchFamily="18" charset="0"/>
              </a:rPr>
              <a:t>Internet</a:t>
            </a:r>
            <a:r>
              <a:rPr lang="en-US" sz="2000" spc="-30" dirty="0" smtClean="0">
                <a:solidFill>
                  <a:schemeClr val="tx1"/>
                </a:solidFill>
                <a:latin typeface="Times New Roman" pitchFamily="18" charset="0"/>
                <a:cs typeface="Times New Roman" pitchFamily="18" charset="0"/>
              </a:rPr>
              <a:t> </a:t>
            </a:r>
            <a:r>
              <a:rPr lang="en-US" sz="2000" spc="-10" dirty="0" smtClean="0">
                <a:solidFill>
                  <a:schemeClr val="tx1"/>
                </a:solidFill>
                <a:latin typeface="Times New Roman" pitchFamily="18" charset="0"/>
                <a:cs typeface="Times New Roman" pitchFamily="18" charset="0"/>
              </a:rPr>
              <a:t>search </a:t>
            </a:r>
            <a:r>
              <a:rPr lang="en-US" sz="2000" spc="-25" dirty="0" smtClean="0">
                <a:solidFill>
                  <a:schemeClr val="tx1"/>
                </a:solidFill>
                <a:latin typeface="Times New Roman" pitchFamily="18" charset="0"/>
                <a:cs typeface="Times New Roman" pitchFamily="18" charset="0"/>
              </a:rPr>
              <a:t>engine</a:t>
            </a:r>
            <a:r>
              <a:rPr lang="en-US" sz="2000" spc="-110" dirty="0" smtClean="0">
                <a:solidFill>
                  <a:schemeClr val="tx1"/>
                </a:solidFill>
                <a:latin typeface="Times New Roman" pitchFamily="18" charset="0"/>
                <a:cs typeface="Times New Roman" pitchFamily="18" charset="0"/>
              </a:rPr>
              <a:t> </a:t>
            </a:r>
            <a:r>
              <a:rPr lang="en-US" sz="2000" dirty="0" smtClean="0">
                <a:solidFill>
                  <a:schemeClr val="tx1"/>
                </a:solidFill>
                <a:latin typeface="Times New Roman" pitchFamily="18" charset="0"/>
                <a:cs typeface="Times New Roman" pitchFamily="18" charset="0"/>
              </a:rPr>
              <a:t>into</a:t>
            </a:r>
            <a:r>
              <a:rPr lang="en-US" sz="2000" spc="-90" dirty="0" smtClean="0">
                <a:solidFill>
                  <a:schemeClr val="tx1"/>
                </a:solidFill>
                <a:latin typeface="Times New Roman" pitchFamily="18" charset="0"/>
                <a:cs typeface="Times New Roman" pitchFamily="18" charset="0"/>
              </a:rPr>
              <a:t> </a:t>
            </a:r>
            <a:r>
              <a:rPr lang="en-US" sz="2000" spc="-25" dirty="0" smtClean="0">
                <a:solidFill>
                  <a:schemeClr val="tx1"/>
                </a:solidFill>
                <a:latin typeface="Times New Roman" pitchFamily="18" charset="0"/>
                <a:cs typeface="Times New Roman" pitchFamily="18" charset="0"/>
              </a:rPr>
              <a:t>three</a:t>
            </a:r>
            <a:r>
              <a:rPr lang="en-US" sz="2000" spc="-140" dirty="0" smtClean="0">
                <a:solidFill>
                  <a:schemeClr val="tx1"/>
                </a:solidFill>
                <a:latin typeface="Times New Roman" pitchFamily="18" charset="0"/>
                <a:cs typeface="Times New Roman" pitchFamily="18" charset="0"/>
              </a:rPr>
              <a:t> </a:t>
            </a:r>
            <a:r>
              <a:rPr lang="en-US" sz="2000" spc="-30" dirty="0" smtClean="0">
                <a:solidFill>
                  <a:schemeClr val="tx1"/>
                </a:solidFill>
                <a:latin typeface="Times New Roman" pitchFamily="18" charset="0"/>
                <a:cs typeface="Times New Roman" pitchFamily="18" charset="0"/>
              </a:rPr>
              <a:t>different </a:t>
            </a:r>
            <a:r>
              <a:rPr lang="en-US" sz="2000" spc="-10" dirty="0" smtClean="0">
                <a:solidFill>
                  <a:schemeClr val="tx1"/>
                </a:solidFill>
                <a:latin typeface="Times New Roman" pitchFamily="18" charset="0"/>
                <a:cs typeface="Times New Roman" pitchFamily="18" charset="0"/>
              </a:rPr>
              <a:t>layers.</a:t>
            </a:r>
            <a:endParaRPr lang="en-US" sz="2000" dirty="0">
              <a:solidFill>
                <a:schemeClr val="tx1"/>
              </a:solidFill>
            </a:endParaRPr>
          </a:p>
        </p:txBody>
      </p:sp>
      <p:pic>
        <p:nvPicPr>
          <p:cNvPr id="9" name="Picture 2"/>
          <p:cNvPicPr>
            <a:picLocks noGrp="1" noChangeAspect="1" noChangeArrowheads="1"/>
          </p:cNvPicPr>
          <p:nvPr>
            <p:ph sz="quarter" idx="4"/>
          </p:nvPr>
        </p:nvPicPr>
        <p:blipFill>
          <a:blip r:embed="rId2"/>
          <a:srcRect/>
          <a:stretch>
            <a:fillRect/>
          </a:stretch>
        </p:blipFill>
        <p:spPr bwMode="auto">
          <a:xfrm>
            <a:off x="285720" y="1357298"/>
            <a:ext cx="8643998" cy="4772672"/>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85786" y="0"/>
            <a:ext cx="7901014" cy="1142984"/>
          </a:xfrm>
        </p:spPr>
        <p:txBody>
          <a:bodyPr>
            <a:normAutofit/>
          </a:bodyPr>
          <a:lstStyle/>
          <a:p>
            <a:pPr marL="1399032" lvl="3" indent="-457200" algn="l">
              <a:buFont typeface="Arial" pitchFamily="34" charset="0"/>
              <a:buChar char="•"/>
            </a:pPr>
            <a:r>
              <a:rPr lang="en-US" sz="3200" b="1" dirty="0" err="1" smtClean="0">
                <a:solidFill>
                  <a:schemeClr val="tx1">
                    <a:lumMod val="95000"/>
                    <a:lumOff val="5000"/>
                  </a:schemeClr>
                </a:solidFill>
                <a:latin typeface="Times New Roman" pitchFamily="18" charset="0"/>
                <a:cs typeface="Times New Roman" pitchFamily="18" charset="0"/>
              </a:rPr>
              <a:t>Multitiered</a:t>
            </a:r>
            <a:r>
              <a:rPr lang="en-US" sz="3200" b="1" dirty="0" smtClean="0">
                <a:solidFill>
                  <a:schemeClr val="tx1">
                    <a:lumMod val="95000"/>
                    <a:lumOff val="5000"/>
                  </a:schemeClr>
                </a:solidFill>
                <a:latin typeface="Times New Roman" pitchFamily="18" charset="0"/>
                <a:cs typeface="Times New Roman" pitchFamily="18" charset="0"/>
              </a:rPr>
              <a:t> Architectures:-</a:t>
            </a:r>
            <a:r>
              <a:rPr lang="en-US" sz="2300" dirty="0" smtClean="0">
                <a:solidFill>
                  <a:schemeClr val="tx1">
                    <a:lumMod val="95000"/>
                    <a:lumOff val="5000"/>
                  </a:schemeClr>
                </a:solidFill>
                <a:latin typeface="Times New Roman" pitchFamily="18" charset="0"/>
                <a:cs typeface="Times New Roman" pitchFamily="18" charset="0"/>
              </a:rPr>
              <a:t/>
            </a:r>
            <a:br>
              <a:rPr lang="en-US" sz="2300" dirty="0" smtClean="0">
                <a:solidFill>
                  <a:schemeClr val="tx1">
                    <a:lumMod val="95000"/>
                    <a:lumOff val="5000"/>
                  </a:schemeClr>
                </a:solidFill>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228600" y="1000108"/>
            <a:ext cx="8763000" cy="5629292"/>
          </a:xfrm>
        </p:spPr>
        <p:txBody>
          <a:bodyPr>
            <a:normAutofit/>
          </a:bodyPr>
          <a:lstStyle/>
          <a:p>
            <a:pPr marL="633730" marR="285115" indent="-600710">
              <a:lnSpc>
                <a:spcPts val="3379"/>
              </a:lnSpc>
              <a:spcBef>
                <a:spcPts val="375"/>
              </a:spcBef>
            </a:pPr>
            <a:r>
              <a:rPr lang="en-US" sz="2800" spc="-50" dirty="0" smtClean="0">
                <a:latin typeface="Times New Roman" panose="02020603050405020304" pitchFamily="18" charset="0"/>
                <a:cs typeface="Times New Roman" panose="02020603050405020304" pitchFamily="18" charset="0"/>
              </a:rPr>
              <a:t>The</a:t>
            </a:r>
            <a:r>
              <a:rPr lang="en-US" sz="2800" spc="-160" dirty="0" smtClean="0">
                <a:latin typeface="Times New Roman" panose="02020603050405020304" pitchFamily="18" charset="0"/>
                <a:cs typeface="Times New Roman" panose="02020603050405020304" pitchFamily="18" charset="0"/>
              </a:rPr>
              <a:t> </a:t>
            </a:r>
            <a:r>
              <a:rPr lang="en-US" sz="2800" spc="-75" dirty="0" smtClean="0">
                <a:latin typeface="Times New Roman" panose="02020603050405020304" pitchFamily="18" charset="0"/>
                <a:cs typeface="Times New Roman" panose="02020603050405020304" pitchFamily="18" charset="0"/>
              </a:rPr>
              <a:t>simplest</a:t>
            </a:r>
            <a:r>
              <a:rPr lang="en-US" sz="2800" spc="-125" dirty="0" smtClean="0">
                <a:latin typeface="Times New Roman" panose="02020603050405020304" pitchFamily="18" charset="0"/>
                <a:cs typeface="Times New Roman" panose="02020603050405020304" pitchFamily="18" charset="0"/>
              </a:rPr>
              <a:t> </a:t>
            </a:r>
            <a:r>
              <a:rPr lang="en-US" sz="2800" spc="-70" dirty="0" smtClean="0">
                <a:latin typeface="Times New Roman" panose="02020603050405020304" pitchFamily="18" charset="0"/>
                <a:cs typeface="Times New Roman" panose="02020603050405020304" pitchFamily="18" charset="0"/>
              </a:rPr>
              <a:t>organization</a:t>
            </a:r>
            <a:r>
              <a:rPr lang="en-US" sz="2800" spc="45"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is</a:t>
            </a:r>
            <a:r>
              <a:rPr lang="en-US" sz="2800" spc="-160" dirty="0" smtClean="0">
                <a:latin typeface="Times New Roman" panose="02020603050405020304" pitchFamily="18" charset="0"/>
                <a:cs typeface="Times New Roman" panose="02020603050405020304" pitchFamily="18" charset="0"/>
              </a:rPr>
              <a:t> </a:t>
            </a:r>
            <a:r>
              <a:rPr lang="en-US" sz="2800" spc="-20" dirty="0" smtClean="0">
                <a:latin typeface="Times New Roman" panose="02020603050405020304" pitchFamily="18" charset="0"/>
                <a:cs typeface="Times New Roman" panose="02020603050405020304" pitchFamily="18" charset="0"/>
              </a:rPr>
              <a:t>to</a:t>
            </a:r>
            <a:r>
              <a:rPr lang="en-US" sz="2800" spc="-190" dirty="0" smtClean="0">
                <a:latin typeface="Times New Roman" panose="02020603050405020304" pitchFamily="18" charset="0"/>
                <a:cs typeface="Times New Roman" panose="02020603050405020304" pitchFamily="18" charset="0"/>
              </a:rPr>
              <a:t> </a:t>
            </a:r>
            <a:r>
              <a:rPr lang="en-US" sz="2800" spc="-60" dirty="0" smtClean="0">
                <a:latin typeface="Times New Roman" panose="02020603050405020304" pitchFamily="18" charset="0"/>
                <a:cs typeface="Times New Roman" panose="02020603050405020304" pitchFamily="18" charset="0"/>
              </a:rPr>
              <a:t>have</a:t>
            </a:r>
            <a:r>
              <a:rPr lang="en-US" sz="2800" spc="-140" dirty="0" smtClean="0">
                <a:latin typeface="Times New Roman" panose="02020603050405020304" pitchFamily="18" charset="0"/>
                <a:cs typeface="Times New Roman" panose="02020603050405020304" pitchFamily="18" charset="0"/>
              </a:rPr>
              <a:t> </a:t>
            </a:r>
            <a:r>
              <a:rPr lang="en-US" sz="2800" spc="-50" dirty="0" smtClean="0">
                <a:latin typeface="Times New Roman" panose="02020603050405020304" pitchFamily="18" charset="0"/>
                <a:cs typeface="Times New Roman" panose="02020603050405020304" pitchFamily="18" charset="0"/>
              </a:rPr>
              <a:t>only</a:t>
            </a:r>
            <a:r>
              <a:rPr lang="en-US" sz="2800" spc="-155" dirty="0" smtClean="0">
                <a:latin typeface="Times New Roman" panose="02020603050405020304" pitchFamily="18" charset="0"/>
                <a:cs typeface="Times New Roman" panose="02020603050405020304" pitchFamily="18" charset="0"/>
              </a:rPr>
              <a:t> </a:t>
            </a:r>
            <a:r>
              <a:rPr lang="en-US" sz="2800" spc="-55" dirty="0" smtClean="0">
                <a:latin typeface="Times New Roman" panose="02020603050405020304" pitchFamily="18" charset="0"/>
                <a:cs typeface="Times New Roman" panose="02020603050405020304" pitchFamily="18" charset="0"/>
              </a:rPr>
              <a:t>two types</a:t>
            </a:r>
            <a:r>
              <a:rPr lang="en-US" sz="2800" spc="-145" dirty="0" smtClean="0">
                <a:latin typeface="Times New Roman" panose="02020603050405020304" pitchFamily="18" charset="0"/>
                <a:cs typeface="Times New Roman" panose="02020603050405020304" pitchFamily="18" charset="0"/>
              </a:rPr>
              <a:t> </a:t>
            </a:r>
            <a:r>
              <a:rPr lang="en-US" sz="2800" spc="-35" dirty="0" smtClean="0">
                <a:latin typeface="Times New Roman" panose="02020603050405020304" pitchFamily="18" charset="0"/>
                <a:cs typeface="Times New Roman" panose="02020603050405020304" pitchFamily="18" charset="0"/>
              </a:rPr>
              <a:t>of</a:t>
            </a:r>
            <a:r>
              <a:rPr lang="en-US" sz="2800" spc="-140" dirty="0" smtClean="0">
                <a:latin typeface="Times New Roman" panose="02020603050405020304" pitchFamily="18" charset="0"/>
                <a:cs typeface="Times New Roman" panose="02020603050405020304" pitchFamily="18" charset="0"/>
              </a:rPr>
              <a:t> </a:t>
            </a:r>
            <a:r>
              <a:rPr lang="en-US" sz="2800" spc="-10" dirty="0" smtClean="0">
                <a:latin typeface="Times New Roman" panose="02020603050405020304" pitchFamily="18" charset="0"/>
                <a:cs typeface="Times New Roman" panose="02020603050405020304" pitchFamily="18" charset="0"/>
              </a:rPr>
              <a:t>machines:</a:t>
            </a:r>
            <a:endParaRPr lang="en-US" sz="2800" dirty="0" smtClean="0">
              <a:latin typeface="Times New Roman" panose="02020603050405020304" pitchFamily="18" charset="0"/>
              <a:cs typeface="Times New Roman" panose="02020603050405020304" pitchFamily="18" charset="0"/>
            </a:endParaRPr>
          </a:p>
          <a:p>
            <a:pPr marL="945515" marR="182880" lvl="3" indent="0">
              <a:lnSpc>
                <a:spcPct val="100400"/>
              </a:lnSpc>
              <a:spcBef>
                <a:spcPts val="509"/>
              </a:spcBef>
              <a:buNone/>
              <a:tabLst>
                <a:tab pos="634365" algn="l"/>
                <a:tab pos="649605" algn="l"/>
                <a:tab pos="4467225" algn="l"/>
              </a:tabLst>
            </a:pPr>
            <a:r>
              <a:rPr lang="en-US" sz="2400" dirty="0" smtClean="0">
                <a:solidFill>
                  <a:srgbClr val="0070C0"/>
                </a:solidFill>
                <a:latin typeface="Times New Roman" panose="02020603050405020304" pitchFamily="18" charset="0"/>
                <a:cs typeface="Times New Roman" panose="02020603050405020304" pitchFamily="18" charset="0"/>
              </a:rPr>
              <a:t>1)  </a:t>
            </a:r>
            <a:r>
              <a:rPr lang="en-US" sz="2400" spc="-155" dirty="0" smtClean="0">
                <a:latin typeface="Times New Roman" panose="02020603050405020304" pitchFamily="18" charset="0"/>
                <a:cs typeface="Times New Roman" panose="02020603050405020304" pitchFamily="18" charset="0"/>
              </a:rPr>
              <a:t>A</a:t>
            </a:r>
            <a:r>
              <a:rPr lang="en-US" sz="2400" spc="-85"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client</a:t>
            </a:r>
            <a:r>
              <a:rPr lang="en-US" sz="2400" spc="-190" dirty="0" smtClean="0">
                <a:latin typeface="Times New Roman" panose="02020603050405020304" pitchFamily="18" charset="0"/>
                <a:cs typeface="Times New Roman" panose="02020603050405020304" pitchFamily="18" charset="0"/>
              </a:rPr>
              <a:t> </a:t>
            </a:r>
            <a:r>
              <a:rPr lang="en-US" sz="2400" spc="-10" dirty="0" smtClean="0">
                <a:latin typeface="Times New Roman" panose="02020603050405020304" pitchFamily="18" charset="0"/>
                <a:cs typeface="Times New Roman" panose="02020603050405020304" pitchFamily="18" charset="0"/>
              </a:rPr>
              <a:t>machine</a:t>
            </a:r>
            <a:r>
              <a:rPr lang="en-US" sz="2400" spc="-114" dirty="0" smtClean="0">
                <a:latin typeface="Times New Roman" panose="02020603050405020304" pitchFamily="18" charset="0"/>
                <a:cs typeface="Times New Roman" panose="02020603050405020304" pitchFamily="18" charset="0"/>
              </a:rPr>
              <a:t> </a:t>
            </a:r>
            <a:r>
              <a:rPr lang="en-US" sz="2400" spc="-10" dirty="0" smtClean="0">
                <a:latin typeface="Times New Roman" panose="02020603050405020304" pitchFamily="18" charset="0"/>
                <a:cs typeface="Times New Roman" panose="02020603050405020304" pitchFamily="18" charset="0"/>
              </a:rPr>
              <a:t>containing</a:t>
            </a:r>
            <a:r>
              <a:rPr lang="en-US" sz="2400" spc="90"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only</a:t>
            </a:r>
            <a:r>
              <a:rPr lang="en-US" sz="2400" spc="-60" dirty="0" smtClean="0">
                <a:latin typeface="Times New Roman" panose="02020603050405020304" pitchFamily="18" charset="0"/>
                <a:cs typeface="Times New Roman" panose="02020603050405020304" pitchFamily="18" charset="0"/>
              </a:rPr>
              <a:t> </a:t>
            </a:r>
            <a:r>
              <a:rPr lang="en-US" sz="2400" spc="-25" dirty="0" smtClean="0">
                <a:latin typeface="Times New Roman" panose="02020603050405020304" pitchFamily="18" charset="0"/>
                <a:cs typeface="Times New Roman" panose="02020603050405020304" pitchFamily="18" charset="0"/>
              </a:rPr>
              <a:t>the </a:t>
            </a:r>
            <a:r>
              <a:rPr lang="en-US" sz="2400" dirty="0" smtClean="0">
                <a:latin typeface="Times New Roman" panose="02020603050405020304" pitchFamily="18" charset="0"/>
                <a:cs typeface="Times New Roman" panose="02020603050405020304" pitchFamily="18" charset="0"/>
              </a:rPr>
              <a:t>programs</a:t>
            </a:r>
            <a:r>
              <a:rPr lang="en-US" sz="2400" spc="-90" dirty="0" smtClean="0">
                <a:latin typeface="Times New Roman" panose="02020603050405020304" pitchFamily="18" charset="0"/>
                <a:cs typeface="Times New Roman" panose="02020603050405020304" pitchFamily="18" charset="0"/>
              </a:rPr>
              <a:t> </a:t>
            </a:r>
            <a:r>
              <a:rPr lang="en-US" sz="2400" spc="-10" dirty="0" smtClean="0">
                <a:latin typeface="Times New Roman" panose="02020603050405020304" pitchFamily="18" charset="0"/>
                <a:cs typeface="Times New Roman" panose="02020603050405020304" pitchFamily="18" charset="0"/>
              </a:rPr>
              <a:t>implementing </a:t>
            </a:r>
            <a:r>
              <a:rPr lang="en-US" sz="2400" dirty="0" smtClean="0">
                <a:latin typeface="Times New Roman" panose="02020603050405020304" pitchFamily="18" charset="0"/>
                <a:cs typeface="Times New Roman" panose="02020603050405020304" pitchFamily="18" charset="0"/>
              </a:rPr>
              <a:t>(part</a:t>
            </a:r>
            <a:r>
              <a:rPr lang="en-US" sz="2400" spc="-75"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of)</a:t>
            </a:r>
            <a:r>
              <a:rPr lang="en-US" sz="2400" spc="-35"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a:t>
            </a:r>
            <a:r>
              <a:rPr lang="en-US" sz="2400" spc="-150" dirty="0" smtClean="0">
                <a:latin typeface="Times New Roman" panose="02020603050405020304" pitchFamily="18" charset="0"/>
                <a:cs typeface="Times New Roman" panose="02020603050405020304" pitchFamily="18" charset="0"/>
              </a:rPr>
              <a:t> </a:t>
            </a:r>
            <a:r>
              <a:rPr lang="en-US" sz="2400" spc="-20" dirty="0" smtClean="0">
                <a:latin typeface="Times New Roman" panose="02020603050405020304" pitchFamily="18" charset="0"/>
                <a:cs typeface="Times New Roman" panose="02020603050405020304" pitchFamily="18" charset="0"/>
              </a:rPr>
              <a:t>user- </a:t>
            </a:r>
            <a:r>
              <a:rPr lang="en-US" sz="2400" spc="-10" dirty="0" smtClean="0">
                <a:latin typeface="Times New Roman" panose="02020603050405020304" pitchFamily="18" charset="0"/>
                <a:cs typeface="Times New Roman" panose="02020603050405020304" pitchFamily="18" charset="0"/>
              </a:rPr>
              <a:t>interface</a:t>
            </a:r>
            <a:r>
              <a:rPr lang="en-US" sz="2400" spc="-50" dirty="0" smtClean="0">
                <a:latin typeface="Times New Roman" panose="02020603050405020304" pitchFamily="18" charset="0"/>
                <a:cs typeface="Times New Roman" panose="02020603050405020304" pitchFamily="18" charset="0"/>
              </a:rPr>
              <a:t> </a:t>
            </a:r>
            <a:r>
              <a:rPr lang="en-US" sz="2400" spc="-20" dirty="0" smtClean="0">
                <a:latin typeface="Times New Roman" panose="02020603050405020304" pitchFamily="18" charset="0"/>
                <a:cs typeface="Times New Roman" panose="02020603050405020304" pitchFamily="18" charset="0"/>
              </a:rPr>
              <a:t>level</a:t>
            </a:r>
            <a:endParaRPr lang="en-US" sz="2400" dirty="0" smtClean="0">
              <a:latin typeface="Times New Roman" panose="02020603050405020304" pitchFamily="18" charset="0"/>
              <a:cs typeface="Times New Roman" panose="02020603050405020304" pitchFamily="18" charset="0"/>
            </a:endParaRPr>
          </a:p>
          <a:p>
            <a:pPr marL="927100" lvl="3" indent="0">
              <a:spcBef>
                <a:spcPts val="250"/>
              </a:spcBef>
              <a:buClr>
                <a:srgbClr val="362AD4"/>
              </a:buClr>
              <a:buNone/>
              <a:tabLst>
                <a:tab pos="641985" algn="l"/>
                <a:tab pos="5214620" algn="l"/>
              </a:tabLst>
            </a:pPr>
            <a:r>
              <a:rPr lang="en-US" sz="2400" dirty="0" smtClean="0">
                <a:solidFill>
                  <a:srgbClr val="0070C0"/>
                </a:solidFill>
                <a:latin typeface="Times New Roman" panose="02020603050405020304" pitchFamily="18" charset="0"/>
                <a:cs typeface="Times New Roman" panose="02020603050405020304" pitchFamily="18" charset="0"/>
              </a:rPr>
              <a:t>2) </a:t>
            </a:r>
            <a:r>
              <a:rPr lang="en-US" sz="2400" dirty="0" smtClean="0">
                <a:latin typeface="Times New Roman" panose="02020603050405020304" pitchFamily="18" charset="0"/>
                <a:cs typeface="Times New Roman" panose="02020603050405020304" pitchFamily="18" charset="0"/>
              </a:rPr>
              <a:t>A</a:t>
            </a:r>
            <a:r>
              <a:rPr lang="en-US" sz="2400" spc="-185" dirty="0" smtClean="0">
                <a:latin typeface="Times New Roman" panose="02020603050405020304" pitchFamily="18" charset="0"/>
                <a:cs typeface="Times New Roman" panose="02020603050405020304" pitchFamily="18" charset="0"/>
              </a:rPr>
              <a:t> </a:t>
            </a:r>
            <a:r>
              <a:rPr lang="en-US" sz="2400" spc="-40" dirty="0" smtClean="0">
                <a:latin typeface="Times New Roman" panose="02020603050405020304" pitchFamily="18" charset="0"/>
                <a:cs typeface="Times New Roman" panose="02020603050405020304" pitchFamily="18" charset="0"/>
              </a:rPr>
              <a:t>server</a:t>
            </a:r>
            <a:r>
              <a:rPr lang="en-US" sz="2400" spc="-140" dirty="0" smtClean="0">
                <a:latin typeface="Times New Roman" panose="02020603050405020304" pitchFamily="18" charset="0"/>
                <a:cs typeface="Times New Roman" panose="02020603050405020304" pitchFamily="18" charset="0"/>
              </a:rPr>
              <a:t> </a:t>
            </a:r>
            <a:r>
              <a:rPr lang="en-US" sz="2400" spc="-75" dirty="0" smtClean="0">
                <a:latin typeface="Times New Roman" panose="02020603050405020304" pitchFamily="18" charset="0"/>
                <a:cs typeface="Times New Roman" panose="02020603050405020304" pitchFamily="18" charset="0"/>
              </a:rPr>
              <a:t>machine</a:t>
            </a:r>
            <a:r>
              <a:rPr lang="en-US" sz="2400" spc="-15" dirty="0" smtClean="0">
                <a:latin typeface="Times New Roman" panose="02020603050405020304" pitchFamily="18" charset="0"/>
                <a:cs typeface="Times New Roman" panose="02020603050405020304" pitchFamily="18" charset="0"/>
              </a:rPr>
              <a:t> </a:t>
            </a:r>
            <a:r>
              <a:rPr lang="en-US" sz="2400" spc="-10" dirty="0" smtClean="0">
                <a:latin typeface="Times New Roman" panose="02020603050405020304" pitchFamily="18" charset="0"/>
                <a:cs typeface="Times New Roman" panose="02020603050405020304" pitchFamily="18" charset="0"/>
              </a:rPr>
              <a:t>containing </a:t>
            </a:r>
            <a:r>
              <a:rPr lang="en-US" sz="2400" spc="-175" dirty="0" smtClean="0">
                <a:latin typeface="Times New Roman" panose="02020603050405020304" pitchFamily="18" charset="0"/>
                <a:cs typeface="Times New Roman" panose="02020603050405020304" pitchFamily="18" charset="0"/>
              </a:rPr>
              <a:t>the</a:t>
            </a:r>
            <a:r>
              <a:rPr lang="en-US" sz="2400" spc="5" dirty="0" smtClean="0">
                <a:latin typeface="Times New Roman" panose="02020603050405020304" pitchFamily="18" charset="0"/>
                <a:cs typeface="Times New Roman" panose="02020603050405020304" pitchFamily="18" charset="0"/>
              </a:rPr>
              <a:t> </a:t>
            </a:r>
            <a:r>
              <a:rPr lang="en-US" sz="2400" spc="-10" dirty="0" smtClean="0">
                <a:latin typeface="Times New Roman" panose="02020603050405020304" pitchFamily="18" charset="0"/>
                <a:cs typeface="Times New Roman" panose="02020603050405020304" pitchFamily="18" charset="0"/>
              </a:rPr>
              <a:t>rest , </a:t>
            </a:r>
            <a:r>
              <a:rPr lang="en-US" sz="2400" spc="-40" dirty="0" smtClean="0">
                <a:latin typeface="Times New Roman" panose="02020603050405020304" pitchFamily="18" charset="0"/>
                <a:cs typeface="Times New Roman" panose="02020603050405020304" pitchFamily="18" charset="0"/>
              </a:rPr>
              <a:t>the</a:t>
            </a:r>
            <a:r>
              <a:rPr lang="en-US" sz="2400" spc="-135" dirty="0" smtClean="0">
                <a:latin typeface="Times New Roman" panose="02020603050405020304" pitchFamily="18" charset="0"/>
                <a:cs typeface="Times New Roman" panose="02020603050405020304" pitchFamily="18" charset="0"/>
              </a:rPr>
              <a:t> </a:t>
            </a:r>
            <a:r>
              <a:rPr lang="en-US" sz="2400" spc="-50" dirty="0" smtClean="0">
                <a:latin typeface="Times New Roman" panose="02020603050405020304" pitchFamily="18" charset="0"/>
                <a:cs typeface="Times New Roman" panose="02020603050405020304" pitchFamily="18" charset="0"/>
              </a:rPr>
              <a:t>programs</a:t>
            </a:r>
            <a:r>
              <a:rPr lang="en-US" sz="2400" spc="-125" dirty="0" smtClean="0">
                <a:latin typeface="Times New Roman" panose="02020603050405020304" pitchFamily="18" charset="0"/>
                <a:cs typeface="Times New Roman" panose="02020603050405020304" pitchFamily="18" charset="0"/>
              </a:rPr>
              <a:t> </a:t>
            </a:r>
            <a:r>
              <a:rPr lang="en-US" sz="2400" spc="-55" dirty="0" smtClean="0">
                <a:latin typeface="Times New Roman" panose="02020603050405020304" pitchFamily="18" charset="0"/>
                <a:cs typeface="Times New Roman" panose="02020603050405020304" pitchFamily="18" charset="0"/>
              </a:rPr>
              <a:t>implementing</a:t>
            </a:r>
            <a:r>
              <a:rPr lang="en-US" sz="2400" spc="60" dirty="0" smtClean="0">
                <a:latin typeface="Times New Roman" panose="02020603050405020304" pitchFamily="18" charset="0"/>
                <a:cs typeface="Times New Roman" panose="02020603050405020304" pitchFamily="18" charset="0"/>
              </a:rPr>
              <a:t> </a:t>
            </a:r>
            <a:r>
              <a:rPr lang="en-US" sz="2400" spc="-40" dirty="0" smtClean="0">
                <a:latin typeface="Times New Roman" panose="02020603050405020304" pitchFamily="18" charset="0"/>
                <a:cs typeface="Times New Roman" panose="02020603050405020304" pitchFamily="18" charset="0"/>
              </a:rPr>
              <a:t>the</a:t>
            </a:r>
            <a:r>
              <a:rPr lang="en-US" sz="2400" spc="-135" dirty="0" smtClean="0">
                <a:latin typeface="Times New Roman" panose="02020603050405020304" pitchFamily="18" charset="0"/>
                <a:cs typeface="Times New Roman" panose="02020603050405020304" pitchFamily="18" charset="0"/>
              </a:rPr>
              <a:t> </a:t>
            </a:r>
            <a:r>
              <a:rPr lang="en-US" sz="2400" spc="-55" dirty="0" smtClean="0">
                <a:latin typeface="Times New Roman" panose="02020603050405020304" pitchFamily="18" charset="0"/>
                <a:cs typeface="Times New Roman" panose="02020603050405020304" pitchFamily="18" charset="0"/>
              </a:rPr>
              <a:t>processing</a:t>
            </a:r>
            <a:r>
              <a:rPr lang="en-US" sz="2400" spc="-10" dirty="0" smtClean="0">
                <a:latin typeface="Times New Roman" panose="02020603050405020304" pitchFamily="18" charset="0"/>
                <a:cs typeface="Times New Roman" panose="02020603050405020304" pitchFamily="18" charset="0"/>
              </a:rPr>
              <a:t> </a:t>
            </a:r>
            <a:r>
              <a:rPr lang="en-US" sz="2400" spc="-25" dirty="0" smtClean="0">
                <a:latin typeface="Times New Roman" panose="02020603050405020304" pitchFamily="18" charset="0"/>
                <a:cs typeface="Times New Roman" panose="02020603050405020304" pitchFamily="18" charset="0"/>
              </a:rPr>
              <a:t>and </a:t>
            </a:r>
            <a:r>
              <a:rPr lang="en-US" sz="2400" spc="-30" dirty="0" smtClean="0">
                <a:latin typeface="Times New Roman" panose="02020603050405020304" pitchFamily="18" charset="0"/>
                <a:cs typeface="Times New Roman" panose="02020603050405020304" pitchFamily="18" charset="0"/>
              </a:rPr>
              <a:t>data</a:t>
            </a:r>
            <a:r>
              <a:rPr lang="en-US" sz="2400" spc="-145" dirty="0" smtClean="0">
                <a:latin typeface="Times New Roman" panose="02020603050405020304" pitchFamily="18" charset="0"/>
                <a:cs typeface="Times New Roman" panose="02020603050405020304" pitchFamily="18" charset="0"/>
              </a:rPr>
              <a:t> </a:t>
            </a:r>
            <a:r>
              <a:rPr lang="en-US" sz="2400" spc="-10" dirty="0" smtClean="0">
                <a:latin typeface="Times New Roman" panose="02020603050405020304" pitchFamily="18" charset="0"/>
                <a:cs typeface="Times New Roman" panose="02020603050405020304" pitchFamily="18" charset="0"/>
              </a:rPr>
              <a:t>level</a:t>
            </a:r>
          </a:p>
          <a:p>
            <a:pPr marL="641985" indent="-629285">
              <a:spcBef>
                <a:spcPts val="250"/>
              </a:spcBef>
              <a:buClr>
                <a:srgbClr val="362AD4"/>
              </a:buClr>
              <a:tabLst>
                <a:tab pos="641985" algn="l"/>
                <a:tab pos="5214620" algn="l"/>
              </a:tabLst>
            </a:pPr>
            <a:r>
              <a:rPr lang="en-US" sz="2800" spc="-10" dirty="0" smtClean="0">
                <a:latin typeface="Times New Roman" panose="02020603050405020304" pitchFamily="18" charset="0"/>
                <a:cs typeface="Times New Roman" panose="02020603050405020304" pitchFamily="18" charset="0"/>
              </a:rPr>
              <a:t>Here we are going to discuss below Multitiered Architectures:-</a:t>
            </a:r>
          </a:p>
          <a:p>
            <a:pPr marL="1282065" lvl="2" indent="-629285">
              <a:spcBef>
                <a:spcPts val="250"/>
              </a:spcBef>
              <a:buClr>
                <a:srgbClr val="362AD4"/>
              </a:buClr>
              <a:buNone/>
              <a:tabLst>
                <a:tab pos="641985" algn="l"/>
                <a:tab pos="5214620" algn="l"/>
              </a:tabLst>
            </a:pPr>
            <a:r>
              <a:rPr lang="en-US" sz="2800" dirty="0" smtClean="0">
                <a:solidFill>
                  <a:schemeClr val="tx1">
                    <a:lumMod val="95000"/>
                    <a:lumOff val="5000"/>
                  </a:schemeClr>
                </a:solidFill>
                <a:latin typeface="Times New Roman" pitchFamily="18" charset="0"/>
                <a:cs typeface="Times New Roman" pitchFamily="18" charset="0"/>
              </a:rPr>
              <a:t>             </a:t>
            </a:r>
            <a:r>
              <a:rPr lang="en-US" sz="2800" dirty="0" err="1" smtClean="0">
                <a:solidFill>
                  <a:schemeClr val="tx1">
                    <a:lumMod val="95000"/>
                    <a:lumOff val="5000"/>
                  </a:schemeClr>
                </a:solidFill>
                <a:latin typeface="Times New Roman" pitchFamily="18" charset="0"/>
                <a:cs typeface="Times New Roman" pitchFamily="18" charset="0"/>
              </a:rPr>
              <a:t>i</a:t>
            </a:r>
            <a:r>
              <a:rPr lang="en-US" sz="2800" dirty="0" smtClean="0">
                <a:solidFill>
                  <a:schemeClr val="tx1">
                    <a:lumMod val="95000"/>
                    <a:lumOff val="5000"/>
                  </a:schemeClr>
                </a:solidFill>
                <a:latin typeface="Times New Roman" pitchFamily="18" charset="0"/>
                <a:cs typeface="Times New Roman" pitchFamily="18" charset="0"/>
              </a:rPr>
              <a:t>)Two-tiered architecture</a:t>
            </a:r>
            <a:br>
              <a:rPr lang="en-US" sz="2800" dirty="0" smtClean="0">
                <a:solidFill>
                  <a:schemeClr val="tx1">
                    <a:lumMod val="95000"/>
                    <a:lumOff val="5000"/>
                  </a:schemeClr>
                </a:solidFill>
                <a:latin typeface="Times New Roman" pitchFamily="18" charset="0"/>
                <a:cs typeface="Times New Roman" pitchFamily="18" charset="0"/>
              </a:rPr>
            </a:br>
            <a:r>
              <a:rPr lang="en-US" sz="2800" dirty="0" smtClean="0">
                <a:solidFill>
                  <a:schemeClr val="tx1">
                    <a:lumMod val="95000"/>
                    <a:lumOff val="5000"/>
                  </a:schemeClr>
                </a:solidFill>
                <a:latin typeface="Times New Roman" pitchFamily="18" charset="0"/>
                <a:cs typeface="Times New Roman" pitchFamily="18" charset="0"/>
              </a:rPr>
              <a:t>     ii)Three-tiered architecture</a:t>
            </a:r>
            <a:r>
              <a:rPr lang="en-US" sz="1900" dirty="0" smtClean="0">
                <a:solidFill>
                  <a:schemeClr val="tx1">
                    <a:lumMod val="95000"/>
                    <a:lumOff val="5000"/>
                  </a:schemeClr>
                </a:solidFill>
                <a:latin typeface="Times New Roman" pitchFamily="18" charset="0"/>
                <a:cs typeface="Times New Roman" pitchFamily="18" charset="0"/>
              </a:rPr>
              <a:t/>
            </a:r>
            <a:br>
              <a:rPr lang="en-US" sz="1900" dirty="0" smtClean="0">
                <a:solidFill>
                  <a:schemeClr val="tx1">
                    <a:lumMod val="95000"/>
                    <a:lumOff val="5000"/>
                  </a:schemeClr>
                </a:solidFill>
                <a:latin typeface="Times New Roman" pitchFamily="18" charset="0"/>
                <a:cs typeface="Times New Roman" pitchFamily="18" charset="0"/>
              </a:rPr>
            </a:br>
            <a:endParaRPr lang="en-US" sz="1900" spc="-10" dirty="0" smtClean="0">
              <a:latin typeface="Times New Roman" panose="02020603050405020304" pitchFamily="18" charset="0"/>
              <a:cs typeface="Times New Roman" panose="02020603050405020304" pitchFamily="18" charset="0"/>
            </a:endParaRPr>
          </a:p>
          <a:p>
            <a:pPr marL="1388110" marR="5080" lvl="1" indent="-534035">
              <a:lnSpc>
                <a:spcPts val="2880"/>
              </a:lnSpc>
              <a:spcBef>
                <a:spcPts val="605"/>
              </a:spcBef>
              <a:buNone/>
              <a:tabLst>
                <a:tab pos="1018540" algn="l"/>
              </a:tabLst>
            </a:pPr>
            <a:r>
              <a:rPr lang="en-US" sz="2200" dirty="0" smtClean="0">
                <a:solidFill>
                  <a:schemeClr val="tx1">
                    <a:lumMod val="95000"/>
                    <a:lumOff val="5000"/>
                  </a:schemeClr>
                </a:solidFill>
                <a:latin typeface="Times New Roman" pitchFamily="18" charset="0"/>
                <a:cs typeface="Times New Roman" pitchFamily="18" charset="0"/>
              </a:rPr>
              <a:t>        </a:t>
            </a:r>
            <a:endParaRPr lang="en-US" sz="2200"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57224" y="0"/>
            <a:ext cx="8077200" cy="781048"/>
          </a:xfrm>
        </p:spPr>
        <p:txBody>
          <a:bodyPr/>
          <a:lstStyle/>
          <a:p>
            <a:r>
              <a:rPr lang="en-US" sz="2800" dirty="0" smtClean="0">
                <a:solidFill>
                  <a:schemeClr val="tx1">
                    <a:lumMod val="95000"/>
                    <a:lumOff val="5000"/>
                  </a:schemeClr>
                </a:solidFill>
                <a:latin typeface="Times New Roman" pitchFamily="18" charset="0"/>
                <a:cs typeface="Times New Roman" pitchFamily="18" charset="0"/>
              </a:rPr>
              <a:t> </a:t>
            </a:r>
            <a:r>
              <a:rPr lang="en-US" sz="2800" b="1" dirty="0" err="1" smtClean="0">
                <a:solidFill>
                  <a:schemeClr val="tx1">
                    <a:lumMod val="95000"/>
                    <a:lumOff val="5000"/>
                  </a:schemeClr>
                </a:solidFill>
                <a:latin typeface="Times New Roman" pitchFamily="18" charset="0"/>
                <a:cs typeface="Times New Roman" pitchFamily="18" charset="0"/>
              </a:rPr>
              <a:t>i</a:t>
            </a:r>
            <a:r>
              <a:rPr lang="en-US" sz="2800" b="1" dirty="0" smtClean="0">
                <a:solidFill>
                  <a:schemeClr val="tx1">
                    <a:lumMod val="95000"/>
                    <a:lumOff val="5000"/>
                  </a:schemeClr>
                </a:solidFill>
                <a:latin typeface="Times New Roman" pitchFamily="18" charset="0"/>
                <a:cs typeface="Times New Roman" pitchFamily="18" charset="0"/>
              </a:rPr>
              <a:t>)Two-tiered architecture:-</a:t>
            </a:r>
            <a:endParaRPr lang="en-US" b="1" dirty="0"/>
          </a:p>
        </p:txBody>
      </p:sp>
      <p:sp>
        <p:nvSpPr>
          <p:cNvPr id="6" name="Text Placeholder 5"/>
          <p:cNvSpPr>
            <a:spLocks noGrp="1"/>
          </p:cNvSpPr>
          <p:nvPr>
            <p:ph type="body" idx="2"/>
          </p:nvPr>
        </p:nvSpPr>
        <p:spPr>
          <a:xfrm>
            <a:off x="533400" y="6019800"/>
            <a:ext cx="7848600" cy="533400"/>
          </a:xfrm>
        </p:spPr>
        <p:txBody>
          <a:bodyPr>
            <a:normAutofit/>
          </a:bodyPr>
          <a:lstStyle/>
          <a:p>
            <a:pPr algn="ctr"/>
            <a:r>
              <a:rPr lang="en-US" sz="2400" spc="-25" dirty="0" smtClean="0">
                <a:latin typeface="Times New Roman" pitchFamily="18" charset="0"/>
                <a:cs typeface="Times New Roman" pitchFamily="18" charset="0"/>
              </a:rPr>
              <a:t>Figure</a:t>
            </a:r>
            <a:r>
              <a:rPr lang="en-US" sz="2400" spc="-45" dirty="0" smtClean="0">
                <a:latin typeface="Times New Roman" pitchFamily="18" charset="0"/>
                <a:cs typeface="Times New Roman" pitchFamily="18" charset="0"/>
              </a:rPr>
              <a:t> </a:t>
            </a:r>
            <a:r>
              <a:rPr lang="en-US" sz="2400" spc="-55" dirty="0" smtClean="0">
                <a:latin typeface="Times New Roman" pitchFamily="18" charset="0"/>
                <a:cs typeface="Times New Roman" pitchFamily="18" charset="0"/>
              </a:rPr>
              <a:t>:-</a:t>
            </a:r>
            <a:r>
              <a:rPr lang="en-US" sz="2400" spc="-40" dirty="0" smtClean="0">
                <a:latin typeface="Times New Roman" pitchFamily="18" charset="0"/>
                <a:cs typeface="Times New Roman" pitchFamily="18" charset="0"/>
              </a:rPr>
              <a:t>Alternative</a:t>
            </a:r>
            <a:r>
              <a:rPr lang="en-US" sz="2400" spc="15" dirty="0" smtClean="0">
                <a:latin typeface="Times New Roman" pitchFamily="18" charset="0"/>
                <a:cs typeface="Times New Roman" pitchFamily="18" charset="0"/>
              </a:rPr>
              <a:t> </a:t>
            </a:r>
            <a:r>
              <a:rPr lang="en-US" sz="2400" spc="-55" dirty="0" smtClean="0">
                <a:latin typeface="Times New Roman" pitchFamily="18" charset="0"/>
                <a:cs typeface="Times New Roman" pitchFamily="18" charset="0"/>
              </a:rPr>
              <a:t>client-</a:t>
            </a:r>
            <a:r>
              <a:rPr lang="en-US" sz="2400" spc="-10" dirty="0" smtClean="0">
                <a:latin typeface="Times New Roman" pitchFamily="18" charset="0"/>
                <a:cs typeface="Times New Roman" pitchFamily="18" charset="0"/>
              </a:rPr>
              <a:t>server </a:t>
            </a:r>
            <a:r>
              <a:rPr lang="en-US" sz="2400" spc="-25" dirty="0" smtClean="0">
                <a:latin typeface="Times New Roman" pitchFamily="18" charset="0"/>
                <a:cs typeface="Times New Roman" pitchFamily="18" charset="0"/>
              </a:rPr>
              <a:t>organizations</a:t>
            </a:r>
            <a:r>
              <a:rPr lang="en-US" sz="2400" spc="45" dirty="0" smtClean="0">
                <a:latin typeface="Times New Roman" pitchFamily="18" charset="0"/>
                <a:cs typeface="Times New Roman" pitchFamily="18" charset="0"/>
              </a:rPr>
              <a:t> </a:t>
            </a:r>
            <a:r>
              <a:rPr lang="en-US" sz="2400" spc="-250" dirty="0" smtClean="0">
                <a:latin typeface="Times New Roman" pitchFamily="18" charset="0"/>
                <a:cs typeface="Times New Roman" pitchFamily="18" charset="0"/>
              </a:rPr>
              <a:t>(a)—</a:t>
            </a:r>
            <a:r>
              <a:rPr lang="en-US" sz="2400" spc="-114" dirty="0" smtClean="0">
                <a:latin typeface="Times New Roman" pitchFamily="18" charset="0"/>
                <a:cs typeface="Times New Roman" pitchFamily="18" charset="0"/>
              </a:rPr>
              <a:t>(e).</a:t>
            </a:r>
            <a:endParaRPr lang="en-US" sz="2400" dirty="0" smtClean="0">
              <a:latin typeface="Times New Roman" pitchFamily="18" charset="0"/>
              <a:cs typeface="Times New Roman" pitchFamily="18" charset="0"/>
            </a:endParaRPr>
          </a:p>
          <a:p>
            <a:pPr algn="ctr"/>
            <a:endParaRPr lang="en-US" sz="2400" dirty="0"/>
          </a:p>
        </p:txBody>
      </p:sp>
      <p:pic>
        <p:nvPicPr>
          <p:cNvPr id="7170" name="Picture 2"/>
          <p:cNvPicPr>
            <a:picLocks noGrp="1" noChangeAspect="1" noChangeArrowheads="1"/>
          </p:cNvPicPr>
          <p:nvPr>
            <p:ph sz="half" idx="1"/>
          </p:nvPr>
        </p:nvPicPr>
        <p:blipFill>
          <a:blip r:embed="rId2"/>
          <a:srcRect/>
          <a:stretch>
            <a:fillRect/>
          </a:stretch>
        </p:blipFill>
        <p:spPr bwMode="auto">
          <a:xfrm>
            <a:off x="571472" y="714356"/>
            <a:ext cx="8229600" cy="53578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0"/>
            <a:ext cx="7924800" cy="704848"/>
          </a:xfrm>
        </p:spPr>
        <p:txBody>
          <a:bodyPr/>
          <a:lstStyle/>
          <a:p>
            <a:r>
              <a:rPr lang="en-US" sz="2800" b="1" dirty="0" smtClean="0">
                <a:solidFill>
                  <a:schemeClr val="tx1">
                    <a:lumMod val="95000"/>
                    <a:lumOff val="5000"/>
                  </a:schemeClr>
                </a:solidFill>
                <a:latin typeface="Times New Roman" pitchFamily="18" charset="0"/>
                <a:cs typeface="Times New Roman" pitchFamily="18" charset="0"/>
              </a:rPr>
              <a:t>ii)Three-tiered architecture:-</a:t>
            </a:r>
            <a:endParaRPr lang="en-US" b="1" dirty="0"/>
          </a:p>
        </p:txBody>
      </p:sp>
      <p:sp>
        <p:nvSpPr>
          <p:cNvPr id="3" name="Text Placeholder 2"/>
          <p:cNvSpPr>
            <a:spLocks noGrp="1"/>
          </p:cNvSpPr>
          <p:nvPr>
            <p:ph type="body" idx="2"/>
          </p:nvPr>
        </p:nvSpPr>
        <p:spPr>
          <a:xfrm>
            <a:off x="685800" y="5715000"/>
            <a:ext cx="7848600" cy="533400"/>
          </a:xfrm>
        </p:spPr>
        <p:txBody>
          <a:bodyPr/>
          <a:lstStyle/>
          <a:p>
            <a:pPr algn="ctr"/>
            <a:r>
              <a:rPr lang="en-US" sz="2400" spc="-25" dirty="0" smtClean="0">
                <a:latin typeface="Times New Roman" pitchFamily="18" charset="0"/>
                <a:cs typeface="Times New Roman" pitchFamily="18" charset="0"/>
              </a:rPr>
              <a:t>Figure</a:t>
            </a:r>
            <a:r>
              <a:rPr lang="en-US" sz="2400" spc="-90" dirty="0" smtClean="0">
                <a:latin typeface="Times New Roman" pitchFamily="18" charset="0"/>
                <a:cs typeface="Times New Roman" pitchFamily="18" charset="0"/>
              </a:rPr>
              <a:t> </a:t>
            </a:r>
            <a:r>
              <a:rPr lang="en-US" sz="2400" spc="-55"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An</a:t>
            </a:r>
            <a:r>
              <a:rPr lang="en-US" sz="2400" spc="-120" dirty="0" smtClean="0">
                <a:latin typeface="Times New Roman" pitchFamily="18" charset="0"/>
                <a:cs typeface="Times New Roman" pitchFamily="18" charset="0"/>
              </a:rPr>
              <a:t> </a:t>
            </a:r>
            <a:r>
              <a:rPr lang="en-US" sz="2400" spc="-35" dirty="0" smtClean="0">
                <a:latin typeface="Times New Roman" pitchFamily="18" charset="0"/>
                <a:cs typeface="Times New Roman" pitchFamily="18" charset="0"/>
              </a:rPr>
              <a:t>example</a:t>
            </a:r>
            <a:r>
              <a:rPr lang="en-US" sz="2400" spc="-25"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of</a:t>
            </a:r>
            <a:r>
              <a:rPr lang="en-US" sz="2400" spc="-6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a:t>
            </a:r>
            <a:r>
              <a:rPr lang="en-US" sz="2400" spc="-155" dirty="0" smtClean="0">
                <a:latin typeface="Times New Roman" pitchFamily="18" charset="0"/>
                <a:cs typeface="Times New Roman" pitchFamily="18" charset="0"/>
              </a:rPr>
              <a:t> </a:t>
            </a:r>
            <a:r>
              <a:rPr lang="en-US" sz="2400" spc="-25" dirty="0" smtClean="0">
                <a:latin typeface="Times New Roman" pitchFamily="18" charset="0"/>
                <a:cs typeface="Times New Roman" pitchFamily="18" charset="0"/>
              </a:rPr>
              <a:t>server </a:t>
            </a:r>
            <a:r>
              <a:rPr lang="en-US" sz="2400" spc="-10" dirty="0" smtClean="0">
                <a:latin typeface="Times New Roman" pitchFamily="18" charset="0"/>
                <a:cs typeface="Times New Roman" pitchFamily="18" charset="0"/>
              </a:rPr>
              <a:t>acting</a:t>
            </a:r>
            <a:r>
              <a:rPr lang="en-US" sz="2400" spc="-8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as</a:t>
            </a:r>
            <a:r>
              <a:rPr lang="en-US" sz="2400" spc="-140" dirty="0" smtClean="0">
                <a:latin typeface="Times New Roman" pitchFamily="18" charset="0"/>
                <a:cs typeface="Times New Roman" pitchFamily="18" charset="0"/>
              </a:rPr>
              <a:t> </a:t>
            </a:r>
            <a:r>
              <a:rPr lang="en-US" sz="2400" spc="-10" dirty="0" smtClean="0">
                <a:latin typeface="Times New Roman" pitchFamily="18" charset="0"/>
                <a:cs typeface="Times New Roman" pitchFamily="18" charset="0"/>
              </a:rPr>
              <a:t>client.</a:t>
            </a:r>
            <a:endParaRPr lang="en-US" sz="2400" dirty="0" smtClean="0">
              <a:latin typeface="Times New Roman" pitchFamily="18" charset="0"/>
              <a:cs typeface="Times New Roman" pitchFamily="18" charset="0"/>
            </a:endParaRPr>
          </a:p>
          <a:p>
            <a:endParaRPr lang="en-US" dirty="0"/>
          </a:p>
        </p:txBody>
      </p:sp>
      <p:pic>
        <p:nvPicPr>
          <p:cNvPr id="8194" name="Picture 2"/>
          <p:cNvPicPr>
            <a:picLocks noGrp="1" noChangeAspect="1" noChangeArrowheads="1"/>
          </p:cNvPicPr>
          <p:nvPr>
            <p:ph sz="half" idx="1"/>
          </p:nvPr>
        </p:nvPicPr>
        <p:blipFill>
          <a:blip r:embed="rId2"/>
          <a:srcRect/>
          <a:stretch>
            <a:fillRect/>
          </a:stretch>
        </p:blipFill>
        <p:spPr bwMode="auto">
          <a:xfrm>
            <a:off x="571500" y="1000108"/>
            <a:ext cx="8077200" cy="4562492"/>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85786" y="0"/>
            <a:ext cx="7924800" cy="819912"/>
          </a:xfrm>
        </p:spPr>
        <p:txBody>
          <a:bodyPr>
            <a:normAutofit/>
          </a:bodyPr>
          <a:lstStyle/>
          <a:p>
            <a:r>
              <a:rPr lang="en-US" sz="4000" b="1" dirty="0" smtClean="0">
                <a:solidFill>
                  <a:schemeClr val="tx1">
                    <a:lumMod val="95000"/>
                    <a:lumOff val="5000"/>
                  </a:schemeClr>
                </a:solidFill>
                <a:latin typeface="Times New Roman" pitchFamily="18" charset="0"/>
                <a:cs typeface="Times New Roman" pitchFamily="18" charset="0"/>
              </a:rPr>
              <a:t>2)Decentralized Organization:-</a:t>
            </a:r>
            <a:endParaRPr lang="en-US" sz="4000" b="1" dirty="0">
              <a:solidFill>
                <a:schemeClr val="tx1">
                  <a:lumMod val="95000"/>
                  <a:lumOff val="5000"/>
                </a:schemeClr>
              </a:solidFill>
              <a:latin typeface="Times New Roman" pitchFamily="18" charset="0"/>
              <a:cs typeface="Times New Roman" pitchFamily="18" charset="0"/>
            </a:endParaRPr>
          </a:p>
        </p:txBody>
      </p:sp>
      <p:sp>
        <p:nvSpPr>
          <p:cNvPr id="6" name="Content Placeholder 5"/>
          <p:cNvSpPr>
            <a:spLocks noGrp="1"/>
          </p:cNvSpPr>
          <p:nvPr>
            <p:ph idx="1"/>
          </p:nvPr>
        </p:nvSpPr>
        <p:spPr>
          <a:xfrm>
            <a:off x="214282" y="1000108"/>
            <a:ext cx="8472518" cy="5643602"/>
          </a:xfrm>
        </p:spPr>
        <p:txBody>
          <a:bodyPr>
            <a:normAutofit/>
          </a:bodyPr>
          <a:lstStyle/>
          <a:p>
            <a:pPr marL="273050" indent="-273050">
              <a:lnSpc>
                <a:spcPct val="90000"/>
              </a:lnSpc>
              <a:spcBef>
                <a:spcPts val="800"/>
              </a:spcBef>
              <a:spcAft>
                <a:spcPts val="600"/>
              </a:spcAft>
              <a:buClr>
                <a:srgbClr val="3333CC"/>
              </a:buCl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dirty="0" smtClean="0">
                <a:latin typeface="Times New Roman" panose="02020603050405020304" pitchFamily="18" charset="0"/>
                <a:cs typeface="Times New Roman" panose="02020603050405020304" pitchFamily="18" charset="0"/>
              </a:rPr>
              <a:t>Vertical </a:t>
            </a:r>
            <a:r>
              <a:rPr lang="en-US" altLang="en-US" dirty="0">
                <a:latin typeface="Times New Roman" panose="02020603050405020304" pitchFamily="18" charset="0"/>
                <a:cs typeface="Times New Roman" panose="02020603050405020304" pitchFamily="18" charset="0"/>
              </a:rPr>
              <a:t>versus horizontal distribution. Horizontal distribution leads to peer-to-peer architectures. </a:t>
            </a:r>
          </a:p>
          <a:p>
            <a:pPr marL="273050" indent="-273050">
              <a:lnSpc>
                <a:spcPct val="90000"/>
              </a:lnSpc>
              <a:spcBef>
                <a:spcPts val="800"/>
              </a:spcBef>
              <a:spcAft>
                <a:spcPts val="600"/>
              </a:spcAft>
              <a:buClr>
                <a:srgbClr val="3333CC"/>
              </a:buCl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dirty="0">
                <a:latin typeface="Times New Roman" panose="02020603050405020304" pitchFamily="18" charset="0"/>
                <a:cs typeface="Times New Roman" panose="02020603050405020304" pitchFamily="18" charset="0"/>
              </a:rPr>
              <a:t>Each process acts as a client and server at the same time. These are referred to as </a:t>
            </a:r>
            <a:r>
              <a:rPr lang="en-US" altLang="en-US" i="1" dirty="0">
                <a:latin typeface="Times New Roman" panose="02020603050405020304" pitchFamily="18" charset="0"/>
                <a:cs typeface="Times New Roman" panose="02020603050405020304" pitchFamily="18" charset="0"/>
              </a:rPr>
              <a:t>servents</a:t>
            </a:r>
            <a:r>
              <a:rPr lang="en-US" altLang="en-US" dirty="0">
                <a:latin typeface="Times New Roman" panose="02020603050405020304" pitchFamily="18" charset="0"/>
                <a:cs typeface="Times New Roman" panose="02020603050405020304" pitchFamily="18" charset="0"/>
              </a:rPr>
              <a:t>. Then the nodes are arranged in an overlay network based on the connections between </a:t>
            </a:r>
            <a:r>
              <a:rPr lang="en-US" altLang="en-US" dirty="0" smtClean="0">
                <a:latin typeface="Times New Roman" panose="02020603050405020304" pitchFamily="18" charset="0"/>
                <a:cs typeface="Times New Roman" panose="02020603050405020304" pitchFamily="18" charset="0"/>
              </a:rPr>
              <a:t>them.</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Here we discus below Architectures:-</a:t>
            </a:r>
          </a:p>
          <a:p>
            <a:pPr marL="850392" lvl="1" indent="-457200"/>
            <a:r>
              <a:rPr lang="en-US" sz="2700" dirty="0" smtClean="0">
                <a:latin typeface="Times New Roman" pitchFamily="18" charset="0"/>
                <a:cs typeface="Times New Roman" pitchFamily="18" charset="0"/>
              </a:rPr>
              <a:t>Structured Peer-to-Peer Architectures</a:t>
            </a:r>
          </a:p>
          <a:p>
            <a:pPr marL="850392" lvl="1" indent="-457200"/>
            <a:r>
              <a:rPr lang="en-US" sz="2700" dirty="0" smtClean="0">
                <a:latin typeface="Times New Roman" pitchFamily="18" charset="0"/>
                <a:cs typeface="Times New Roman" pitchFamily="18" charset="0"/>
              </a:rPr>
              <a:t>Unstructured Peer-to-Peer Architectures</a:t>
            </a:r>
          </a:p>
          <a:p>
            <a:pPr marL="850392" lvl="1" indent="-457200"/>
            <a:r>
              <a:rPr lang="en-US" sz="2700" dirty="0" smtClean="0">
                <a:latin typeface="Times New Roman" pitchFamily="18" charset="0"/>
                <a:cs typeface="Times New Roman" pitchFamily="18" charset="0"/>
              </a:rPr>
              <a:t>Topology Management of Overlay Networks</a:t>
            </a:r>
          </a:p>
          <a:p>
            <a:pPr marL="850392" lvl="1" indent="-457200"/>
            <a:r>
              <a:rPr lang="en-US" sz="2700" dirty="0" smtClean="0">
                <a:latin typeface="Times New Roman" pitchFamily="18" charset="0"/>
                <a:cs typeface="Times New Roman" pitchFamily="18" charset="0"/>
              </a:rPr>
              <a:t>Superpeers</a:t>
            </a: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5786" y="142852"/>
            <a:ext cx="8001000" cy="609600"/>
          </a:xfrm>
        </p:spPr>
        <p:txBody>
          <a:bodyPr/>
          <a:lstStyle/>
          <a:p>
            <a:pPr lvl="5" algn="l" rtl="0">
              <a:spcBef>
                <a:spcPct val="0"/>
              </a:spcBef>
              <a:buFont typeface="Arial" pitchFamily="34" charset="0"/>
              <a:buChar char="•"/>
            </a:pPr>
            <a:r>
              <a:rPr lang="en-US" sz="2400" b="1" dirty="0" smtClean="0">
                <a:latin typeface="Times New Roman" pitchFamily="18" charset="0"/>
                <a:cs typeface="Times New Roman" pitchFamily="18" charset="0"/>
              </a:rPr>
              <a:t>Structured Peer-to-Peer Architectures:-</a:t>
            </a:r>
            <a:r>
              <a:rPr lang="en-US" sz="2100" dirty="0" smtClean="0">
                <a:latin typeface="Times New Roman" pitchFamily="18" charset="0"/>
                <a:cs typeface="Times New Roman" pitchFamily="18" charset="0"/>
              </a:rPr>
              <a:t/>
            </a:r>
            <a:br>
              <a:rPr lang="en-US" sz="2100" dirty="0" smtClean="0">
                <a:latin typeface="Times New Roman" pitchFamily="18" charset="0"/>
                <a:cs typeface="Times New Roman" pitchFamily="18" charset="0"/>
              </a:rPr>
            </a:br>
            <a:endParaRPr lang="en-US" dirty="0"/>
          </a:p>
        </p:txBody>
      </p:sp>
      <p:sp>
        <p:nvSpPr>
          <p:cNvPr id="6" name="Text Placeholder 5"/>
          <p:cNvSpPr>
            <a:spLocks noGrp="1"/>
          </p:cNvSpPr>
          <p:nvPr>
            <p:ph type="body" idx="2"/>
          </p:nvPr>
        </p:nvSpPr>
        <p:spPr>
          <a:xfrm>
            <a:off x="4714876" y="5929330"/>
            <a:ext cx="4286280" cy="785818"/>
          </a:xfrm>
        </p:spPr>
        <p:txBody>
          <a:bodyPr>
            <a:normAutofit/>
          </a:bodyPr>
          <a:lstStyle/>
          <a:p>
            <a:r>
              <a:rPr lang="en-US" sz="2000" spc="-55" dirty="0" smtClean="0">
                <a:latin typeface="Times New Roman" pitchFamily="18" charset="0"/>
                <a:cs typeface="Times New Roman" pitchFamily="18" charset="0"/>
              </a:rPr>
              <a:t>Figure</a:t>
            </a:r>
            <a:r>
              <a:rPr lang="en-US" sz="2000" spc="-85" dirty="0" smtClean="0">
                <a:latin typeface="Times New Roman" pitchFamily="18" charset="0"/>
                <a:cs typeface="Times New Roman" pitchFamily="18" charset="0"/>
              </a:rPr>
              <a:t> </a:t>
            </a:r>
            <a:r>
              <a:rPr lang="en-US" sz="2000" spc="-80" dirty="0" smtClean="0">
                <a:latin typeface="Times New Roman" pitchFamily="18" charset="0"/>
                <a:cs typeface="Times New Roman" pitchFamily="18" charset="0"/>
              </a:rPr>
              <a:t>:-</a:t>
            </a:r>
            <a:r>
              <a:rPr lang="en-US" sz="2000" spc="-175" dirty="0" smtClean="0">
                <a:latin typeface="Times New Roman" pitchFamily="18" charset="0"/>
                <a:cs typeface="Times New Roman" pitchFamily="18" charset="0"/>
              </a:rPr>
              <a:t> </a:t>
            </a:r>
            <a:r>
              <a:rPr lang="en-US" sz="2000" spc="-25" dirty="0" smtClean="0">
                <a:latin typeface="Times New Roman" pitchFamily="18" charset="0"/>
                <a:cs typeface="Times New Roman" pitchFamily="18" charset="0"/>
              </a:rPr>
              <a:t>The</a:t>
            </a:r>
            <a:r>
              <a:rPr lang="en-US" sz="2000" spc="-120" dirty="0" smtClean="0">
                <a:latin typeface="Times New Roman" pitchFamily="18" charset="0"/>
                <a:cs typeface="Times New Roman" pitchFamily="18" charset="0"/>
              </a:rPr>
              <a:t> </a:t>
            </a:r>
            <a:r>
              <a:rPr lang="en-US" sz="2000" spc="-65" dirty="0" smtClean="0">
                <a:latin typeface="Times New Roman" pitchFamily="18" charset="0"/>
                <a:cs typeface="Times New Roman" pitchFamily="18" charset="0"/>
              </a:rPr>
              <a:t>mapping </a:t>
            </a:r>
            <a:r>
              <a:rPr lang="en-US" sz="2000" dirty="0" smtClean="0">
                <a:latin typeface="Times New Roman" pitchFamily="18" charset="0"/>
                <a:cs typeface="Times New Roman" pitchFamily="18" charset="0"/>
              </a:rPr>
              <a:t>of data</a:t>
            </a:r>
            <a:r>
              <a:rPr lang="en-US" sz="2000" spc="-105"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items</a:t>
            </a:r>
            <a:r>
              <a:rPr lang="en-US" sz="2000" spc="-5" dirty="0" smtClean="0">
                <a:latin typeface="Times New Roman" pitchFamily="18" charset="0"/>
                <a:cs typeface="Times New Roman" pitchFamily="18" charset="0"/>
              </a:rPr>
              <a:t> </a:t>
            </a:r>
            <a:r>
              <a:rPr lang="en-US" sz="2000" spc="-20" dirty="0" smtClean="0">
                <a:latin typeface="Times New Roman" pitchFamily="18" charset="0"/>
                <a:cs typeface="Times New Roman" pitchFamily="18" charset="0"/>
              </a:rPr>
              <a:t>onto </a:t>
            </a:r>
            <a:r>
              <a:rPr lang="en-US" sz="2000" spc="-40" dirty="0" smtClean="0">
                <a:latin typeface="Times New Roman" pitchFamily="18" charset="0"/>
                <a:cs typeface="Times New Roman" pitchFamily="18" charset="0"/>
              </a:rPr>
              <a:t>nodes</a:t>
            </a:r>
            <a:r>
              <a:rPr lang="en-US" sz="2000" spc="-75"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in</a:t>
            </a:r>
            <a:r>
              <a:rPr lang="en-US" sz="2000" spc="-175" dirty="0" smtClean="0">
                <a:latin typeface="Times New Roman" pitchFamily="18" charset="0"/>
                <a:cs typeface="Times New Roman" pitchFamily="18" charset="0"/>
              </a:rPr>
              <a:t> </a:t>
            </a:r>
            <a:r>
              <a:rPr lang="en-US" sz="2000" spc="-10" dirty="0" smtClean="0">
                <a:latin typeface="Times New Roman" pitchFamily="18" charset="0"/>
                <a:cs typeface="Times New Roman" pitchFamily="18" charset="0"/>
              </a:rPr>
              <a:t>Chord.</a:t>
            </a:r>
            <a:endParaRPr lang="en-US" sz="2000" dirty="0" smtClean="0">
              <a:latin typeface="Times New Roman" pitchFamily="18" charset="0"/>
              <a:cs typeface="Times New Roman" pitchFamily="18" charset="0"/>
            </a:endParaRPr>
          </a:p>
          <a:p>
            <a:endParaRPr lang="en-US" dirty="0"/>
          </a:p>
        </p:txBody>
      </p:sp>
      <p:pic>
        <p:nvPicPr>
          <p:cNvPr id="9218" name="Picture 2"/>
          <p:cNvPicPr>
            <a:picLocks noGrp="1" noChangeAspect="1" noChangeArrowheads="1"/>
          </p:cNvPicPr>
          <p:nvPr>
            <p:ph sz="half" idx="1"/>
          </p:nvPr>
        </p:nvPicPr>
        <p:blipFill>
          <a:blip r:embed="rId2"/>
          <a:srcRect/>
          <a:stretch>
            <a:fillRect/>
          </a:stretch>
        </p:blipFill>
        <p:spPr bwMode="auto">
          <a:xfrm>
            <a:off x="4643438" y="785794"/>
            <a:ext cx="4286280" cy="5072098"/>
          </a:xfrm>
          <a:prstGeom prst="rect">
            <a:avLst/>
          </a:prstGeom>
          <a:noFill/>
          <a:ln w="9525">
            <a:noFill/>
            <a:miter lim="800000"/>
            <a:headEnd/>
            <a:tailEnd/>
          </a:ln>
          <a:effectLst/>
        </p:spPr>
      </p:pic>
      <p:sp>
        <p:nvSpPr>
          <p:cNvPr id="2" name="Rectangle 1"/>
          <p:cNvSpPr/>
          <p:nvPr/>
        </p:nvSpPr>
        <p:spPr>
          <a:xfrm>
            <a:off x="0" y="642918"/>
            <a:ext cx="4714876" cy="6063198"/>
          </a:xfrm>
          <a:prstGeom prst="rect">
            <a:avLst/>
          </a:prstGeom>
        </p:spPr>
        <p:txBody>
          <a:bodyPr wrap="square">
            <a:spAutoFit/>
          </a:bodyPr>
          <a:lstStyle/>
          <a:p>
            <a:pPr marL="285750" indent="-285750">
              <a:buFont typeface="Wingdings" panose="05000000000000000000" pitchFamily="2" charset="2"/>
              <a:buChar char="Ø"/>
            </a:pPr>
            <a:r>
              <a:rPr lang="en-US" sz="2200" dirty="0" smtClean="0">
                <a:latin typeface="Times New Roman" pitchFamily="18" charset="0"/>
                <a:cs typeface="Times New Roman" pitchFamily="18" charset="0"/>
              </a:rPr>
              <a:t>Follows </a:t>
            </a:r>
            <a:r>
              <a:rPr lang="en-US" sz="2200" dirty="0">
                <a:latin typeface="Times New Roman" pitchFamily="18" charset="0"/>
                <a:cs typeface="Times New Roman" pitchFamily="18" charset="0"/>
              </a:rPr>
              <a:t>deterministic </a:t>
            </a:r>
            <a:r>
              <a:rPr lang="en-US" sz="2200" dirty="0" smtClean="0">
                <a:latin typeface="Times New Roman" pitchFamily="18" charset="0"/>
                <a:cs typeface="Times New Roman" pitchFamily="18" charset="0"/>
              </a:rPr>
              <a:t>procedure.</a:t>
            </a:r>
          </a:p>
          <a:p>
            <a:pPr marL="285750" indent="-285750">
              <a:buFont typeface="Wingdings" panose="05000000000000000000" pitchFamily="2" charset="2"/>
              <a:buChar char="Ø"/>
            </a:pPr>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organizes peers (nodes) and resources using a </a:t>
            </a:r>
            <a:r>
              <a:rPr lang="en-US" sz="2200" b="1" dirty="0">
                <a:latin typeface="Times New Roman" pitchFamily="18" charset="0"/>
                <a:cs typeface="Times New Roman" pitchFamily="18" charset="0"/>
              </a:rPr>
              <a:t>Distributed Hash Table (DHT</a:t>
            </a:r>
            <a:r>
              <a:rPr lang="en-US" sz="2200" b="1" dirty="0" smtClean="0">
                <a:latin typeface="Times New Roman" pitchFamily="18" charset="0"/>
                <a:cs typeface="Times New Roman" pitchFamily="18" charset="0"/>
              </a:rPr>
              <a:t>)</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Ex:chord</a:t>
            </a:r>
            <a:endParaRPr lang="en-US" sz="2200" dirty="0" smtClean="0">
              <a:latin typeface="Times New Roman" pitchFamily="18" charset="0"/>
              <a:cs typeface="Times New Roman" pitchFamily="18" charset="0"/>
            </a:endParaRPr>
          </a:p>
          <a:p>
            <a:pPr marL="285750" indent="-285750">
              <a:buFont typeface="Wingdings" panose="05000000000000000000" pitchFamily="2" charset="2"/>
              <a:buChar char="Ø"/>
            </a:pPr>
            <a:r>
              <a:rPr lang="en-US" sz="2200" dirty="0">
                <a:latin typeface="Times New Roman" pitchFamily="18" charset="0"/>
                <a:cs typeface="Times New Roman" pitchFamily="18" charset="0"/>
              </a:rPr>
              <a:t>The system is structured as a virtual circle where each node (computational entity) is assigned a unique identifier (like 0, 1, 2, ..., 15 in the example</a:t>
            </a:r>
            <a:r>
              <a:rPr lang="en-US" sz="2200" dirty="0" smtClean="0">
                <a:latin typeface="Times New Roman" pitchFamily="18" charset="0"/>
                <a:cs typeface="Times New Roman" pitchFamily="18" charset="0"/>
              </a:rPr>
              <a:t>)</a:t>
            </a:r>
          </a:p>
          <a:p>
            <a:pPr marL="285750" indent="-285750">
              <a:buFont typeface="Wingdings" panose="05000000000000000000" pitchFamily="2" charset="2"/>
              <a:buChar char="Ø"/>
            </a:pPr>
            <a:r>
              <a:rPr lang="en-US" sz="2200" dirty="0">
                <a:latin typeface="Times New Roman" pitchFamily="18" charset="0"/>
                <a:cs typeface="Times New Roman" pitchFamily="18" charset="0"/>
              </a:rPr>
              <a:t>Each node is responsible for storing data associated with certain key values</a:t>
            </a:r>
            <a:r>
              <a:rPr lang="en-US" sz="2200" dirty="0" smtClean="0">
                <a:latin typeface="Times New Roman" pitchFamily="18" charset="0"/>
                <a:cs typeface="Times New Roman" pitchFamily="18" charset="0"/>
              </a:rPr>
              <a:t>.</a:t>
            </a:r>
          </a:p>
          <a:p>
            <a:pPr marL="285750" indent="-285750">
              <a:buFont typeface="Wingdings" panose="05000000000000000000" pitchFamily="2" charset="2"/>
              <a:buChar char="Ø"/>
            </a:pPr>
            <a:r>
              <a:rPr lang="en-US" sz="2200" dirty="0">
                <a:latin typeface="Times New Roman" pitchFamily="18" charset="0"/>
                <a:cs typeface="Times New Roman" pitchFamily="18" charset="0"/>
              </a:rPr>
              <a:t>If a node fails, other nodes take over the responsibility for the associated keys, ensuring redundancy and fault tolerance</a:t>
            </a:r>
            <a:r>
              <a:rPr lang="en-US" sz="2200" dirty="0" smtClean="0">
                <a:latin typeface="Times New Roman" pitchFamily="18" charset="0"/>
                <a:cs typeface="Times New Roman" pitchFamily="18" charset="0"/>
              </a:rPr>
              <a:t>.</a:t>
            </a:r>
          </a:p>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5000628" y="6096000"/>
            <a:ext cx="3914772" cy="533400"/>
          </a:xfrm>
        </p:spPr>
        <p:txBody>
          <a:bodyPr>
            <a:noAutofit/>
          </a:bodyPr>
          <a:lstStyle/>
          <a:p>
            <a:r>
              <a:rPr lang="en-US" sz="2000" dirty="0" smtClean="0">
                <a:latin typeface="Times New Roman" pitchFamily="18" charset="0"/>
                <a:cs typeface="Times New Roman" pitchFamily="18" charset="0"/>
              </a:rPr>
              <a:t>Figure :- </a:t>
            </a:r>
            <a:r>
              <a:rPr lang="en-US" sz="2000" dirty="0" smtClean="0">
                <a:latin typeface="Times New Roman" pitchFamily="18" charset="0"/>
                <a:cs typeface="Times New Roman" pitchFamily="18" charset="0"/>
                <a:sym typeface="Wingdings" pitchFamily="2" charset="2"/>
              </a:rPr>
              <a:t>(a) The mapping of data items onto nodes in CAN. </a:t>
            </a:r>
            <a:endParaRPr lang="en-US" sz="2000" dirty="0">
              <a:latin typeface="Times New Roman" pitchFamily="18" charset="0"/>
              <a:cs typeface="Times New Roman" pitchFamily="18" charset="0"/>
            </a:endParaRPr>
          </a:p>
        </p:txBody>
      </p:sp>
      <p:pic>
        <p:nvPicPr>
          <p:cNvPr id="10246" name="Picture 6"/>
          <p:cNvPicPr>
            <a:picLocks noGrp="1" noChangeAspect="1" noChangeArrowheads="1"/>
          </p:cNvPicPr>
          <p:nvPr>
            <p:ph sz="half" idx="1"/>
          </p:nvPr>
        </p:nvPicPr>
        <p:blipFill>
          <a:blip r:embed="rId2"/>
          <a:srcRect/>
          <a:stretch>
            <a:fillRect/>
          </a:stretch>
        </p:blipFill>
        <p:spPr bwMode="auto">
          <a:xfrm>
            <a:off x="4857752" y="609600"/>
            <a:ext cx="4057648" cy="5334000"/>
          </a:xfrm>
          <a:prstGeom prst="rect">
            <a:avLst/>
          </a:prstGeom>
          <a:noFill/>
          <a:ln w="9525">
            <a:noFill/>
            <a:miter lim="800000"/>
            <a:headEnd/>
            <a:tailEnd/>
          </a:ln>
          <a:effectLst/>
        </p:spPr>
      </p:pic>
      <p:sp>
        <p:nvSpPr>
          <p:cNvPr id="2" name="Rectangle 1"/>
          <p:cNvSpPr/>
          <p:nvPr/>
        </p:nvSpPr>
        <p:spPr>
          <a:xfrm>
            <a:off x="304800" y="428604"/>
            <a:ext cx="4572000" cy="6186309"/>
          </a:xfrm>
          <a:prstGeom prst="rect">
            <a:avLst/>
          </a:prstGeom>
        </p:spPr>
        <p:txBody>
          <a:bodyPr wrap="square">
            <a:spAutoFit/>
          </a:bodyPr>
          <a:lstStyle/>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Content Addressable Network (CAN)</a:t>
            </a:r>
            <a:r>
              <a:rPr lang="en-US" sz="2200" dirty="0">
                <a:latin typeface="Times New Roman" panose="02020603050405020304" pitchFamily="18" charset="0"/>
                <a:cs typeface="Times New Roman" panose="02020603050405020304" pitchFamily="18" charset="0"/>
              </a:rPr>
              <a:t> maps data items onto nodes</a:t>
            </a:r>
            <a:r>
              <a:rPr lang="en-US" sz="2200"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Each node in the system is responsible for a zone (or region) in this coordinate </a:t>
            </a:r>
            <a:r>
              <a:rPr lang="en-US" sz="2200" dirty="0" smtClean="0">
                <a:latin typeface="Times New Roman" panose="02020603050405020304" pitchFamily="18" charset="0"/>
                <a:cs typeface="Times New Roman" panose="02020603050405020304" pitchFamily="18" charset="0"/>
              </a:rPr>
              <a:t>space.</a:t>
            </a: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black dots represent the actual nodes in the </a:t>
            </a:r>
            <a:r>
              <a:rPr lang="en-US" sz="2200" dirty="0" smtClean="0">
                <a:latin typeface="Times New Roman" panose="02020603050405020304" pitchFamily="18" charset="0"/>
                <a:cs typeface="Times New Roman" panose="02020603050405020304" pitchFamily="18" charset="0"/>
              </a:rPr>
              <a:t>CAN.</a:t>
            </a: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entire space is divided among the nodes. Each node manages a </a:t>
            </a:r>
            <a:r>
              <a:rPr lang="en-US" sz="2200" b="1" dirty="0">
                <a:latin typeface="Times New Roman" panose="02020603050405020304" pitchFamily="18" charset="0"/>
                <a:cs typeface="Times New Roman" panose="02020603050405020304" pitchFamily="18" charset="0"/>
              </a:rPr>
              <a:t>rectangular region</a:t>
            </a:r>
            <a:r>
              <a:rPr lang="en-US" sz="2200" dirty="0">
                <a:latin typeface="Times New Roman" panose="02020603050405020304" pitchFamily="18" charset="0"/>
                <a:cs typeface="Times New Roman" panose="02020603050405020304" pitchFamily="18" charset="0"/>
              </a:rPr>
              <a:t> that is assigned to it based on its position</a:t>
            </a:r>
            <a:r>
              <a:rPr lang="en-US" sz="2200"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 key (data item) is mapped into this coordinate space using a </a:t>
            </a:r>
            <a:r>
              <a:rPr lang="en-US" sz="2200" b="1" dirty="0">
                <a:latin typeface="Times New Roman" panose="02020603050405020304" pitchFamily="18" charset="0"/>
                <a:cs typeface="Times New Roman" panose="02020603050405020304" pitchFamily="18" charset="0"/>
              </a:rPr>
              <a:t>hash function</a:t>
            </a:r>
            <a:r>
              <a:rPr lang="en-US" sz="2200" dirty="0">
                <a:latin typeface="Times New Roman" panose="02020603050405020304" pitchFamily="18" charset="0"/>
                <a:cs typeface="Times New Roman" panose="02020603050405020304" pitchFamily="18" charset="0"/>
              </a:rPr>
              <a:t> that converts the key into a pair of coordinates.</a:t>
            </a:r>
            <a:endParaRPr lang="en-US" sz="22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node responsible for the area containing the key's coordinates will store that data</a:t>
            </a:r>
            <a:r>
              <a:rPr lang="en-US" sz="2200" dirty="0" smtClean="0">
                <a:latin typeface="Times New Roman" panose="02020603050405020304" pitchFamily="18" charset="0"/>
                <a:cs typeface="Times New Roman" panose="02020603050405020304" pitchFamily="18"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5000628" y="5867400"/>
            <a:ext cx="4143372" cy="685800"/>
          </a:xfrm>
        </p:spPr>
        <p:txBody>
          <a:bodyPr>
            <a:normAutofit fontScale="92500" lnSpcReduction="10000"/>
          </a:bodyPr>
          <a:lstStyle/>
          <a:p>
            <a:r>
              <a:rPr lang="en-US" sz="2200" dirty="0" smtClean="0">
                <a:latin typeface="Times New Roman" pitchFamily="18" charset="0"/>
                <a:cs typeface="Times New Roman" pitchFamily="18" charset="0"/>
              </a:rPr>
              <a:t>Figure:- (b) Splitting a region when a node joins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pic>
        <p:nvPicPr>
          <p:cNvPr id="11266" name="Picture 2"/>
          <p:cNvPicPr>
            <a:picLocks noGrp="1" noChangeAspect="1" noChangeArrowheads="1"/>
          </p:cNvPicPr>
          <p:nvPr>
            <p:ph sz="half" idx="1"/>
          </p:nvPr>
        </p:nvPicPr>
        <p:blipFill>
          <a:blip r:embed="rId2"/>
          <a:srcRect/>
          <a:stretch>
            <a:fillRect/>
          </a:stretch>
        </p:blipFill>
        <p:spPr bwMode="auto">
          <a:xfrm>
            <a:off x="4857752" y="609600"/>
            <a:ext cx="4286248" cy="4876800"/>
          </a:xfrm>
          <a:prstGeom prst="rect">
            <a:avLst/>
          </a:prstGeom>
          <a:noFill/>
          <a:ln w="9525">
            <a:noFill/>
            <a:miter lim="800000"/>
            <a:headEnd/>
            <a:tailEnd/>
          </a:ln>
          <a:effectLst/>
        </p:spPr>
      </p:pic>
      <p:sp>
        <p:nvSpPr>
          <p:cNvPr id="2" name="Rectangle 1"/>
          <p:cNvSpPr/>
          <p:nvPr/>
        </p:nvSpPr>
        <p:spPr>
          <a:xfrm>
            <a:off x="381000" y="990600"/>
            <a:ext cx="4572000" cy="4955203"/>
          </a:xfrm>
          <a:prstGeom prst="rect">
            <a:avLst/>
          </a:prstGeom>
        </p:spPr>
        <p:txBody>
          <a:bodyPr>
            <a:spAutoFit/>
          </a:bodyPr>
          <a:lstStyle/>
          <a:p>
            <a:pPr marL="285750" indent="-285750">
              <a:buFont typeface="Wingdings" panose="05000000000000000000" pitchFamily="2" charset="2"/>
              <a:buChar char="Ø"/>
            </a:pPr>
            <a:r>
              <a:rPr lang="en-US" sz="2800" b="1" dirty="0" smtClean="0">
                <a:latin typeface="Times New Roman" panose="02020603050405020304" pitchFamily="18" charset="0"/>
                <a:cs typeface="Times New Roman" panose="02020603050405020304" pitchFamily="18" charset="0"/>
              </a:rPr>
              <a:t>Region </a:t>
            </a:r>
            <a:r>
              <a:rPr lang="en-US" sz="2800" b="1" dirty="0">
                <a:latin typeface="Times New Roman" panose="02020603050405020304" pitchFamily="18" charset="0"/>
                <a:cs typeface="Times New Roman" panose="02020603050405020304" pitchFamily="18" charset="0"/>
              </a:rPr>
              <a:t>splitting</a:t>
            </a:r>
            <a:r>
              <a:rPr lang="en-US" sz="2800" dirty="0">
                <a:latin typeface="Times New Roman" panose="02020603050405020304" pitchFamily="18" charset="0"/>
                <a:cs typeface="Times New Roman" panose="02020603050405020304" pitchFamily="18" charset="0"/>
              </a:rPr>
              <a:t> in CAN occurs when a new node joins the </a:t>
            </a:r>
            <a:r>
              <a:rPr lang="en-US" sz="2800" dirty="0" smtClean="0">
                <a:latin typeface="Times New Roman" panose="02020603050405020304" pitchFamily="18" charset="0"/>
                <a:cs typeface="Times New Roman" panose="02020603050405020304" pitchFamily="18" charset="0"/>
              </a:rPr>
              <a:t>network.</a:t>
            </a:r>
          </a:p>
          <a:p>
            <a:pPr marL="285750" indent="-28575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CAN dynamically redistributes the coordinate space to balance the load as nodes join and leave, ensuring efficient operation even in a large-scale, dynamic environment</a:t>
            </a:r>
            <a:r>
              <a:rPr lang="en-US" sz="2800" dirty="0" smtClean="0">
                <a:latin typeface="Times New Roman" panose="02020603050405020304" pitchFamily="18" charset="0"/>
                <a:cs typeface="Times New Roman" panose="02020603050405020304" pitchFamily="18" charset="0"/>
              </a:rPr>
              <a:t>.</a:t>
            </a:r>
          </a:p>
          <a:p>
            <a:pPr marL="285750" indent="-285750"/>
            <a:endParaRPr lang="en-US"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85786" y="357166"/>
            <a:ext cx="8115328" cy="867524"/>
          </a:xfrm>
        </p:spPr>
        <p:txBody>
          <a:bodyPr>
            <a:normAutofit/>
          </a:bodyPr>
          <a:lstStyle/>
          <a:p>
            <a:pPr lvl="5" algn="l" rtl="0">
              <a:spcBef>
                <a:spcPct val="0"/>
              </a:spcBef>
              <a:buFont typeface="Arial" pitchFamily="34" charset="0"/>
              <a:buChar char="•"/>
            </a:pPr>
            <a:r>
              <a:rPr lang="en-US" sz="3200" b="1" dirty="0" smtClean="0">
                <a:latin typeface="Times New Roman" pitchFamily="18" charset="0"/>
                <a:cs typeface="Times New Roman" pitchFamily="18" charset="0"/>
              </a:rPr>
              <a:t>  Unstructured Peer-to-Peer Architectures:-</a:t>
            </a:r>
            <a:r>
              <a:rPr lang="en-US" sz="2100" dirty="0" smtClean="0">
                <a:latin typeface="Times New Roman" pitchFamily="18" charset="0"/>
                <a:cs typeface="Times New Roman" pitchFamily="18" charset="0"/>
              </a:rPr>
              <a:t/>
            </a:r>
            <a:br>
              <a:rPr lang="en-US" sz="2100"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a:xfrm>
            <a:off x="479898" y="1214422"/>
            <a:ext cx="8229600" cy="4927298"/>
          </a:xfrm>
        </p:spPr>
        <p:txBody>
          <a:bodyPr>
            <a:normAutofit lnSpcReduction="10000"/>
          </a:bodyPr>
          <a:lstStyle/>
          <a:p>
            <a:r>
              <a:rPr lang="en-US" sz="2800" dirty="0" smtClean="0">
                <a:latin typeface="Times New Roman" panose="02020603050405020304" pitchFamily="18" charset="0"/>
                <a:cs typeface="Times New Roman" panose="02020603050405020304" pitchFamily="18" charset="0"/>
              </a:rPr>
              <a:t>In </a:t>
            </a:r>
            <a:r>
              <a:rPr lang="en-US" sz="2800" dirty="0">
                <a:latin typeface="Times New Roman" panose="02020603050405020304" pitchFamily="18" charset="0"/>
                <a:cs typeface="Times New Roman" panose="02020603050405020304" pitchFamily="18" charset="0"/>
              </a:rPr>
              <a:t>unstructured </a:t>
            </a:r>
            <a:r>
              <a:rPr lang="en-US" sz="2800" b="1" dirty="0">
                <a:latin typeface="Times New Roman" panose="02020603050405020304" pitchFamily="18" charset="0"/>
                <a:cs typeface="Times New Roman" panose="02020603050405020304" pitchFamily="18" charset="0"/>
              </a:rPr>
              <a:t>peer-to-peer (P2P) architecture</a:t>
            </a:r>
            <a:r>
              <a:rPr lang="en-US" sz="2800" dirty="0">
                <a:latin typeface="Times New Roman" panose="02020603050405020304" pitchFamily="18" charset="0"/>
                <a:cs typeface="Times New Roman" panose="02020603050405020304" pitchFamily="18" charset="0"/>
              </a:rPr>
              <a:t>, peers (nodes) connect to one another in a decentralized manner without a fixed or predefined topology</a:t>
            </a:r>
            <a:r>
              <a:rPr lang="en-US" sz="2800" dirty="0" smtClean="0">
                <a:latin typeface="Times New Roman" panose="02020603050405020304" pitchFamily="18" charset="0"/>
                <a:cs typeface="Times New Roman" panose="02020603050405020304" pitchFamily="18" charset="0"/>
              </a:rPr>
              <a:t>.</a:t>
            </a:r>
          </a:p>
          <a:p>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Nodes form random or loosely organized networks, and connections between them are typically based on local or arbitrary decisions rather than a centralized control.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This leads to networks often modeled as </a:t>
            </a:r>
            <a:r>
              <a:rPr lang="en-US" sz="2800" b="1" dirty="0">
                <a:latin typeface="Times New Roman" panose="02020603050405020304" pitchFamily="18" charset="0"/>
                <a:cs typeface="Times New Roman" panose="02020603050405020304" pitchFamily="18" charset="0"/>
              </a:rPr>
              <a:t>random graphs</a:t>
            </a:r>
            <a:r>
              <a:rPr lang="en-US" sz="2800" dirty="0">
                <a:latin typeface="Times New Roman" panose="02020603050405020304" pitchFamily="18" charset="0"/>
                <a:cs typeface="Times New Roman" panose="02020603050405020304" pitchFamily="18" charset="0"/>
              </a:rPr>
              <a:t>, where nodes only maintain a </a:t>
            </a:r>
            <a:r>
              <a:rPr lang="en-US" sz="2800" b="1" dirty="0">
                <a:latin typeface="Times New Roman" panose="02020603050405020304" pitchFamily="18" charset="0"/>
                <a:cs typeface="Times New Roman" panose="02020603050405020304" pitchFamily="18" charset="0"/>
              </a:rPr>
              <a:t>partial view</a:t>
            </a:r>
            <a:r>
              <a:rPr lang="en-US" sz="2800" dirty="0">
                <a:latin typeface="Times New Roman" panose="02020603050405020304" pitchFamily="18" charset="0"/>
                <a:cs typeface="Times New Roman" panose="02020603050405020304" pitchFamily="18" charset="0"/>
              </a:rPr>
              <a:t> of the entire </a:t>
            </a:r>
            <a:r>
              <a:rPr lang="en-US" sz="2800" dirty="0" smtClean="0">
                <a:latin typeface="Times New Roman" panose="02020603050405020304" pitchFamily="18" charset="0"/>
                <a:cs typeface="Times New Roman" panose="02020603050405020304" pitchFamily="18" charset="0"/>
              </a:rPr>
              <a:t>network.</a:t>
            </a:r>
            <a:endParaRPr lang="en-US" sz="2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514352"/>
            <a:ext cx="8305800" cy="857248"/>
          </a:xfrm>
        </p:spPr>
        <p:txBody>
          <a:bodyPr/>
          <a:lstStyle/>
          <a:p>
            <a:pPr lvl="5" algn="l" rtl="0">
              <a:spcBef>
                <a:spcPct val="0"/>
              </a:spcBef>
              <a:buFont typeface="Arial" pitchFamily="34" charset="0"/>
              <a:buChar char="•"/>
            </a:pPr>
            <a:r>
              <a:rPr lang="en-US" sz="2800" b="1" dirty="0" smtClean="0">
                <a:latin typeface="Times New Roman" pitchFamily="18" charset="0"/>
                <a:cs typeface="Times New Roman" pitchFamily="18" charset="0"/>
              </a:rPr>
              <a:t>   Topology Management of Overlay Networks:-</a:t>
            </a:r>
            <a:r>
              <a:rPr lang="en-US" sz="2100" dirty="0" smtClean="0">
                <a:latin typeface="Times New Roman" pitchFamily="18" charset="0"/>
                <a:cs typeface="Times New Roman" pitchFamily="18" charset="0"/>
              </a:rPr>
              <a:t/>
            </a:r>
            <a:br>
              <a:rPr lang="en-US" sz="2100" dirty="0" smtClean="0">
                <a:latin typeface="Times New Roman" pitchFamily="18" charset="0"/>
                <a:cs typeface="Times New Roman" pitchFamily="18" charset="0"/>
              </a:rPr>
            </a:br>
            <a:endParaRPr lang="en-US" dirty="0"/>
          </a:p>
        </p:txBody>
      </p:sp>
      <p:sp>
        <p:nvSpPr>
          <p:cNvPr id="6" name="Text Placeholder 5"/>
          <p:cNvSpPr>
            <a:spLocks noGrp="1"/>
          </p:cNvSpPr>
          <p:nvPr>
            <p:ph type="body" idx="2"/>
          </p:nvPr>
        </p:nvSpPr>
        <p:spPr>
          <a:xfrm>
            <a:off x="0" y="5638800"/>
            <a:ext cx="9144000" cy="990600"/>
          </a:xfrm>
        </p:spPr>
        <p:txBody>
          <a:bodyPr>
            <a:normAutofit fontScale="55000" lnSpcReduction="20000"/>
          </a:bodyPr>
          <a:lstStyle/>
          <a:p>
            <a:r>
              <a:rPr lang="en-US" sz="4000" dirty="0" smtClean="0">
                <a:latin typeface="Times New Roman" pitchFamily="18" charset="0"/>
                <a:cs typeface="Times New Roman" pitchFamily="18" charset="0"/>
              </a:rPr>
              <a:t>Figure :-  A two-layered approach for constructing and maintaining specific overlay topologies using techniques from unstructured peer-to-peer systems.</a:t>
            </a:r>
          </a:p>
          <a:p>
            <a:endParaRPr lang="en-US" dirty="0"/>
          </a:p>
        </p:txBody>
      </p:sp>
      <p:pic>
        <p:nvPicPr>
          <p:cNvPr id="13314" name="Picture 2"/>
          <p:cNvPicPr>
            <a:picLocks noGrp="1" noChangeAspect="1" noChangeArrowheads="1"/>
          </p:cNvPicPr>
          <p:nvPr>
            <p:ph sz="half" idx="1"/>
          </p:nvPr>
        </p:nvPicPr>
        <p:blipFill>
          <a:blip r:embed="rId3"/>
          <a:srcRect/>
          <a:stretch>
            <a:fillRect/>
          </a:stretch>
        </p:blipFill>
        <p:spPr bwMode="auto">
          <a:xfrm>
            <a:off x="899592" y="1485900"/>
            <a:ext cx="7086600" cy="40386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5786" y="0"/>
            <a:ext cx="7924800" cy="762000"/>
          </a:xfrm>
        </p:spPr>
        <p:txBody>
          <a:bodyPr/>
          <a:lstStyle/>
          <a:p>
            <a:pPr lvl="5" algn="l" rtl="0">
              <a:spcBef>
                <a:spcPct val="0"/>
              </a:spcBef>
              <a:buFont typeface="Arial" pitchFamily="34" charset="0"/>
              <a:buChar char="•"/>
            </a:pPr>
            <a:r>
              <a:rPr lang="en-US" sz="3200" b="1" dirty="0" smtClean="0">
                <a:latin typeface="Times New Roman" pitchFamily="18" charset="0"/>
                <a:cs typeface="Times New Roman" pitchFamily="18" charset="0"/>
              </a:rPr>
              <a:t>    Superpeers:-</a:t>
            </a:r>
            <a:r>
              <a:rPr lang="en-US" sz="2100" dirty="0" smtClean="0">
                <a:latin typeface="Times New Roman" pitchFamily="18" charset="0"/>
                <a:cs typeface="Times New Roman" pitchFamily="18" charset="0"/>
              </a:rPr>
              <a:t/>
            </a:r>
            <a:br>
              <a:rPr lang="en-US" sz="2100" dirty="0" smtClean="0">
                <a:latin typeface="Times New Roman" pitchFamily="18" charset="0"/>
                <a:cs typeface="Times New Roman" pitchFamily="18" charset="0"/>
              </a:rPr>
            </a:br>
            <a:endParaRPr lang="en-US" dirty="0"/>
          </a:p>
        </p:txBody>
      </p:sp>
      <p:sp>
        <p:nvSpPr>
          <p:cNvPr id="6" name="Text Placeholder 5"/>
          <p:cNvSpPr>
            <a:spLocks noGrp="1"/>
          </p:cNvSpPr>
          <p:nvPr>
            <p:ph type="body" idx="2"/>
          </p:nvPr>
        </p:nvSpPr>
        <p:spPr>
          <a:xfrm>
            <a:off x="5500694" y="5929330"/>
            <a:ext cx="3643306" cy="714380"/>
          </a:xfrm>
        </p:spPr>
        <p:txBody>
          <a:bodyPr>
            <a:noAutofit/>
          </a:bodyPr>
          <a:lstStyle/>
          <a:p>
            <a:pPr>
              <a:spcBef>
                <a:spcPts val="5"/>
              </a:spcBef>
            </a:pPr>
            <a:r>
              <a:rPr lang="en-US" sz="2000" spc="-25" dirty="0" smtClean="0">
                <a:latin typeface="Times New Roman" pitchFamily="18" charset="0"/>
                <a:cs typeface="Times New Roman" pitchFamily="18" charset="0"/>
              </a:rPr>
              <a:t>Figure</a:t>
            </a:r>
            <a:r>
              <a:rPr lang="en-US" sz="2000" spc="-145" dirty="0" smtClean="0">
                <a:latin typeface="Times New Roman" pitchFamily="18" charset="0"/>
                <a:cs typeface="Times New Roman" pitchFamily="18" charset="0"/>
              </a:rPr>
              <a:t> </a:t>
            </a:r>
            <a:r>
              <a:rPr lang="en-US" sz="2000" spc="-55" dirty="0" smtClean="0">
                <a:latin typeface="Times New Roman" pitchFamily="18" charset="0"/>
                <a:cs typeface="Times New Roman" pitchFamily="18" charset="0"/>
              </a:rPr>
              <a:t>:-</a:t>
            </a:r>
            <a:r>
              <a:rPr lang="en-US" sz="2000" spc="-170" dirty="0" smtClean="0">
                <a:latin typeface="Times New Roman" pitchFamily="18" charset="0"/>
                <a:cs typeface="Times New Roman" pitchFamily="18" charset="0"/>
              </a:rPr>
              <a:t> </a:t>
            </a:r>
            <a:r>
              <a:rPr lang="en-US" sz="2000" spc="-220" dirty="0" smtClean="0">
                <a:latin typeface="Times New Roman" pitchFamily="18" charset="0"/>
                <a:cs typeface="Times New Roman" pitchFamily="18" charset="0"/>
              </a:rPr>
              <a:t>A</a:t>
            </a:r>
            <a:r>
              <a:rPr lang="en-US" sz="2000" spc="-25" dirty="0" smtClean="0">
                <a:latin typeface="Times New Roman" pitchFamily="18" charset="0"/>
                <a:cs typeface="Times New Roman" pitchFamily="18" charset="0"/>
              </a:rPr>
              <a:t> </a:t>
            </a:r>
            <a:r>
              <a:rPr lang="en-US" sz="2000" spc="-35" dirty="0" smtClean="0">
                <a:latin typeface="Times New Roman" pitchFamily="18" charset="0"/>
                <a:cs typeface="Times New Roman" pitchFamily="18" charset="0"/>
              </a:rPr>
              <a:t>hierarchical</a:t>
            </a:r>
            <a:r>
              <a:rPr lang="en-US" sz="2000" spc="-20" dirty="0" smtClean="0">
                <a:latin typeface="Times New Roman" pitchFamily="18" charset="0"/>
                <a:cs typeface="Times New Roman" pitchFamily="18" charset="0"/>
              </a:rPr>
              <a:t> </a:t>
            </a:r>
            <a:r>
              <a:rPr lang="en-US" sz="2000" spc="-30" dirty="0" smtClean="0">
                <a:latin typeface="Times New Roman" pitchFamily="18" charset="0"/>
                <a:cs typeface="Times New Roman" pitchFamily="18" charset="0"/>
              </a:rPr>
              <a:t>organization</a:t>
            </a:r>
            <a:r>
              <a:rPr lang="en-US" sz="2000" spc="-5"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of</a:t>
            </a:r>
            <a:r>
              <a:rPr lang="en-US" sz="2000" spc="-60" dirty="0" smtClean="0">
                <a:latin typeface="Times New Roman" pitchFamily="18" charset="0"/>
                <a:cs typeface="Times New Roman" pitchFamily="18" charset="0"/>
              </a:rPr>
              <a:t> </a:t>
            </a:r>
            <a:r>
              <a:rPr lang="en-US" sz="2000" spc="-20" dirty="0" smtClean="0">
                <a:latin typeface="Times New Roman" pitchFamily="18" charset="0"/>
                <a:cs typeface="Times New Roman" pitchFamily="18" charset="0"/>
              </a:rPr>
              <a:t>nodes</a:t>
            </a:r>
            <a:r>
              <a:rPr lang="en-US" sz="2000" spc="-8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into</a:t>
            </a:r>
            <a:r>
              <a:rPr lang="en-US" sz="2000" spc="-95" dirty="0" smtClean="0">
                <a:latin typeface="Times New Roman" pitchFamily="18" charset="0"/>
                <a:cs typeface="Times New Roman" pitchFamily="18" charset="0"/>
              </a:rPr>
              <a:t> </a:t>
            </a:r>
            <a:r>
              <a:rPr lang="en-US" sz="2000" spc="-50" dirty="0" smtClean="0">
                <a:latin typeface="Times New Roman" pitchFamily="18" charset="0"/>
                <a:cs typeface="Times New Roman" pitchFamily="18" charset="0"/>
              </a:rPr>
              <a:t>a </a:t>
            </a:r>
            <a:r>
              <a:rPr lang="en-US" sz="2000" spc="-30" dirty="0" err="1" smtClean="0">
                <a:latin typeface="Times New Roman" pitchFamily="18" charset="0"/>
                <a:cs typeface="Times New Roman" pitchFamily="18" charset="0"/>
              </a:rPr>
              <a:t>superpeer</a:t>
            </a:r>
            <a:r>
              <a:rPr lang="en-US" sz="2000" spc="-10" dirty="0" smtClean="0">
                <a:latin typeface="Times New Roman" pitchFamily="18" charset="0"/>
                <a:cs typeface="Times New Roman" pitchFamily="18" charset="0"/>
              </a:rPr>
              <a:t> network.</a:t>
            </a:r>
            <a:endParaRPr lang="en-US" sz="2000" dirty="0">
              <a:latin typeface="Times New Roman" pitchFamily="18" charset="0"/>
              <a:cs typeface="Times New Roman" pitchFamily="18" charset="0"/>
            </a:endParaRPr>
          </a:p>
        </p:txBody>
      </p:sp>
      <p:pic>
        <p:nvPicPr>
          <p:cNvPr id="15362" name="Picture 2"/>
          <p:cNvPicPr>
            <a:picLocks noGrp="1" noChangeAspect="1" noChangeArrowheads="1"/>
          </p:cNvPicPr>
          <p:nvPr>
            <p:ph sz="half" idx="1"/>
          </p:nvPr>
        </p:nvPicPr>
        <p:blipFill>
          <a:blip r:embed="rId2"/>
          <a:srcRect/>
          <a:stretch>
            <a:fillRect/>
          </a:stretch>
        </p:blipFill>
        <p:spPr bwMode="auto">
          <a:xfrm>
            <a:off x="5415064" y="1676400"/>
            <a:ext cx="3733800" cy="3886200"/>
          </a:xfrm>
          <a:prstGeom prst="rect">
            <a:avLst/>
          </a:prstGeom>
          <a:noFill/>
          <a:ln w="9525">
            <a:noFill/>
            <a:miter lim="800000"/>
            <a:headEnd/>
            <a:tailEnd/>
          </a:ln>
          <a:effectLst/>
        </p:spPr>
      </p:pic>
      <p:sp>
        <p:nvSpPr>
          <p:cNvPr id="5" name="Rectangle 4"/>
          <p:cNvSpPr/>
          <p:nvPr/>
        </p:nvSpPr>
        <p:spPr>
          <a:xfrm>
            <a:off x="76200" y="714356"/>
            <a:ext cx="5562600" cy="7571303"/>
          </a:xfrm>
          <a:prstGeom prst="rect">
            <a:avLst/>
          </a:prstGeom>
        </p:spPr>
        <p:txBody>
          <a:bodyPr wrap="square">
            <a:spAutoFit/>
          </a:bodyPr>
          <a:lstStyle/>
          <a:p>
            <a:pPr>
              <a:buFont typeface="Arial" pitchFamily="34" charset="0"/>
              <a:buChar char="•"/>
            </a:pPr>
            <a:r>
              <a:rPr lang="en-US" sz="2100" b="1" dirty="0" smtClean="0">
                <a:latin typeface="Times New Roman" panose="02020603050405020304" pitchFamily="18" charset="0"/>
                <a:cs typeface="Times New Roman" panose="02020603050405020304" pitchFamily="18" charset="0"/>
              </a:rPr>
              <a:t>Regular </a:t>
            </a:r>
            <a:r>
              <a:rPr lang="en-US" sz="2100" b="1" dirty="0">
                <a:latin typeface="Times New Roman" panose="02020603050405020304" pitchFamily="18" charset="0"/>
                <a:cs typeface="Times New Roman" panose="02020603050405020304" pitchFamily="18" charset="0"/>
              </a:rPr>
              <a:t>peers</a:t>
            </a:r>
            <a:r>
              <a:rPr lang="en-US" sz="2100" dirty="0">
                <a:latin typeface="Times New Roman" panose="02020603050405020304" pitchFamily="18" charset="0"/>
                <a:cs typeface="Times New Roman" panose="02020603050405020304" pitchFamily="18" charset="0"/>
              </a:rPr>
              <a:t>: These are standard nodes that connect to and communicate primarily with their assigned </a:t>
            </a:r>
            <a:r>
              <a:rPr lang="en-US" sz="2100" dirty="0" err="1">
                <a:latin typeface="Times New Roman" panose="02020603050405020304" pitchFamily="18" charset="0"/>
                <a:cs typeface="Times New Roman" panose="02020603050405020304" pitchFamily="18" charset="0"/>
              </a:rPr>
              <a:t>superpeers</a:t>
            </a:r>
            <a:r>
              <a:rPr lang="en-US" sz="2100" dirty="0">
                <a:latin typeface="Times New Roman" panose="02020603050405020304" pitchFamily="18" charset="0"/>
                <a:cs typeface="Times New Roman" panose="02020603050405020304" pitchFamily="18" charset="0"/>
              </a:rPr>
              <a:t>. They don't handle extensive routing or query distribution </a:t>
            </a:r>
            <a:r>
              <a:rPr lang="en-US" sz="2100" dirty="0" smtClean="0">
                <a:latin typeface="Times New Roman" panose="02020603050405020304" pitchFamily="18" charset="0"/>
                <a:cs typeface="Times New Roman" panose="02020603050405020304" pitchFamily="18" charset="0"/>
              </a:rPr>
              <a:t>themselves. These are connected as a client to super peer.</a:t>
            </a:r>
            <a:endParaRPr lang="en-US" sz="2100" dirty="0">
              <a:latin typeface="Times New Roman" panose="02020603050405020304" pitchFamily="18" charset="0"/>
              <a:cs typeface="Times New Roman" panose="02020603050405020304" pitchFamily="18" charset="0"/>
            </a:endParaRPr>
          </a:p>
          <a:p>
            <a:pPr>
              <a:buFont typeface="Arial" pitchFamily="34" charset="0"/>
              <a:buChar char="•"/>
            </a:pPr>
            <a:r>
              <a:rPr lang="en-US" sz="2100" b="1" dirty="0" err="1" smtClean="0">
                <a:latin typeface="Times New Roman" panose="02020603050405020304" pitchFamily="18" charset="0"/>
                <a:cs typeface="Times New Roman" panose="02020603050405020304" pitchFamily="18" charset="0"/>
              </a:rPr>
              <a:t>Superpeers</a:t>
            </a:r>
            <a:r>
              <a:rPr lang="en-US" sz="2100" dirty="0">
                <a:latin typeface="Times New Roman" panose="02020603050405020304" pitchFamily="18" charset="0"/>
                <a:cs typeface="Times New Roman" panose="02020603050405020304" pitchFamily="18" charset="0"/>
              </a:rPr>
              <a:t>: These are nodes with more resources (processing power, storage, or bandwidth) and act as intermediaries for a group of regular peers. They handle query processing and routing on behalf of their connected regular peers, reducing the overall load on the network.</a:t>
            </a:r>
          </a:p>
          <a:p>
            <a:pPr>
              <a:buFont typeface="Arial" pitchFamily="34" charset="0"/>
              <a:buChar char="•"/>
            </a:pPr>
            <a:r>
              <a:rPr lang="en-US" sz="2100" b="1" dirty="0" err="1" smtClean="0">
                <a:latin typeface="Times New Roman" panose="02020603050405020304" pitchFamily="18" charset="0"/>
                <a:cs typeface="Times New Roman" panose="02020603050405020304" pitchFamily="18" charset="0"/>
              </a:rPr>
              <a:t>Superpeer</a:t>
            </a:r>
            <a:r>
              <a:rPr lang="en-US" sz="2100" b="1" dirty="0" smtClean="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network</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Superpeers</a:t>
            </a:r>
            <a:r>
              <a:rPr lang="en-US" sz="2100" dirty="0">
                <a:latin typeface="Times New Roman" panose="02020603050405020304" pitchFamily="18" charset="0"/>
                <a:cs typeface="Times New Roman" panose="02020603050405020304" pitchFamily="18" charset="0"/>
              </a:rPr>
              <a:t> are interconnected, forming a network among themselves to further propagate search queries or data requests between other </a:t>
            </a:r>
            <a:r>
              <a:rPr lang="en-US" sz="2100" dirty="0" err="1">
                <a:latin typeface="Times New Roman" panose="02020603050405020304" pitchFamily="18" charset="0"/>
                <a:cs typeface="Times New Roman" panose="02020603050405020304" pitchFamily="18" charset="0"/>
              </a:rPr>
              <a:t>superpeers</a:t>
            </a:r>
            <a:r>
              <a:rPr lang="en-US" sz="2100" dirty="0">
                <a:latin typeface="Times New Roman" panose="02020603050405020304" pitchFamily="18" charset="0"/>
                <a:cs typeface="Times New Roman" panose="02020603050405020304" pitchFamily="18" charset="0"/>
              </a:rPr>
              <a:t>. This helps in achieving scalability and more efficient query processing compared to a pure P2P network</a:t>
            </a:r>
            <a:r>
              <a:rPr lang="en-US" sz="2100"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2" algn="l" rtl="0">
              <a:spcBef>
                <a:spcPct val="0"/>
              </a:spcBef>
            </a:pPr>
            <a:r>
              <a:rPr lang="en-US" sz="2400" dirty="0" smtClean="0">
                <a:latin typeface="Times New Roman" pitchFamily="18" charset="0"/>
                <a:cs typeface="Times New Roman" pitchFamily="18" charset="0"/>
              </a:rPr>
              <a:t>  </a:t>
            </a:r>
            <a:r>
              <a:rPr lang="en-US" sz="4400" b="1" dirty="0" smtClean="0">
                <a:latin typeface="Times New Roman" pitchFamily="18" charset="0"/>
                <a:cs typeface="Times New Roman" pitchFamily="18" charset="0"/>
              </a:rPr>
              <a:t>3) Hybrid forms:-</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endParaRPr lang="en-US" dirty="0"/>
          </a:p>
        </p:txBody>
      </p:sp>
      <p:sp>
        <p:nvSpPr>
          <p:cNvPr id="6" name="Content Placeholder 5"/>
          <p:cNvSpPr>
            <a:spLocks noGrp="1"/>
          </p:cNvSpPr>
          <p:nvPr>
            <p:ph idx="1"/>
          </p:nvPr>
        </p:nvSpPr>
        <p:spPr/>
        <p:txBody>
          <a:bodyPr/>
          <a:lstStyle/>
          <a:p>
            <a:pPr marL="484632" indent="-457200"/>
            <a:r>
              <a:rPr lang="en-US" sz="2900" dirty="0" smtClean="0">
                <a:latin typeface="Times New Roman" pitchFamily="18" charset="0"/>
                <a:cs typeface="Times New Roman" pitchFamily="18" charset="0"/>
              </a:rPr>
              <a:t>Here we are going to discus about below topics:-</a:t>
            </a:r>
          </a:p>
          <a:p>
            <a:pPr marL="1673352" lvl="4" indent="-457200"/>
            <a:r>
              <a:rPr lang="en-US" sz="2300" dirty="0" smtClean="0">
                <a:latin typeface="Times New Roman" pitchFamily="18" charset="0"/>
                <a:cs typeface="Times New Roman" pitchFamily="18" charset="0"/>
              </a:rPr>
              <a:t>Edge-server Systems</a:t>
            </a:r>
          </a:p>
          <a:p>
            <a:pPr marL="1673352" lvl="4" indent="-457200"/>
            <a:r>
              <a:rPr lang="en-US" sz="2300" dirty="0" smtClean="0">
                <a:latin typeface="Times New Roman" pitchFamily="18" charset="0"/>
                <a:cs typeface="Times New Roman" pitchFamily="18" charset="0"/>
              </a:rPr>
              <a:t>Collaborative Distributed Systems</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5786" y="0"/>
            <a:ext cx="8001000" cy="628648"/>
          </a:xfrm>
        </p:spPr>
        <p:txBody>
          <a:bodyPr/>
          <a:lstStyle/>
          <a:p>
            <a:pPr lvl="4" algn="l" rtl="0">
              <a:spcBef>
                <a:spcPct val="0"/>
              </a:spcBef>
              <a:buFont typeface="Arial" pitchFamily="34" charset="0"/>
              <a:buChar char="•"/>
            </a:pPr>
            <a:r>
              <a:rPr lang="en-US" sz="2800" b="1" dirty="0" smtClean="0">
                <a:latin typeface="Times New Roman" pitchFamily="18" charset="0"/>
                <a:cs typeface="Times New Roman" pitchFamily="18" charset="0"/>
              </a:rPr>
              <a:t>   Edge-server Systems:-</a:t>
            </a:r>
            <a:r>
              <a:rPr lang="en-US" sz="2300" dirty="0" smtClean="0">
                <a:latin typeface="Times New Roman" pitchFamily="18" charset="0"/>
                <a:cs typeface="Times New Roman" pitchFamily="18" charset="0"/>
              </a:rPr>
              <a:t/>
            </a:r>
            <a:br>
              <a:rPr lang="en-US" sz="2300" dirty="0" smtClean="0">
                <a:latin typeface="Times New Roman" pitchFamily="18" charset="0"/>
                <a:cs typeface="Times New Roman" pitchFamily="18" charset="0"/>
              </a:rPr>
            </a:br>
            <a:endParaRPr lang="en-US" dirty="0"/>
          </a:p>
        </p:txBody>
      </p:sp>
      <p:sp>
        <p:nvSpPr>
          <p:cNvPr id="6" name="Text Placeholder 5"/>
          <p:cNvSpPr>
            <a:spLocks noGrp="1"/>
          </p:cNvSpPr>
          <p:nvPr>
            <p:ph type="body" idx="2"/>
          </p:nvPr>
        </p:nvSpPr>
        <p:spPr>
          <a:xfrm>
            <a:off x="0" y="6357958"/>
            <a:ext cx="8991600" cy="500042"/>
          </a:xfrm>
        </p:spPr>
        <p:txBody>
          <a:bodyPr>
            <a:normAutofit/>
          </a:bodyPr>
          <a:lstStyle/>
          <a:p>
            <a:pPr algn="ctr"/>
            <a:r>
              <a:rPr lang="en-US" sz="2000" dirty="0" smtClean="0">
                <a:latin typeface="Times New Roman" pitchFamily="18" charset="0"/>
                <a:cs typeface="Times New Roman" pitchFamily="18" charset="0"/>
              </a:rPr>
              <a:t>Figure :-Viewing the Internet as consisting of a collection of edge servers.</a:t>
            </a:r>
          </a:p>
          <a:p>
            <a:endParaRPr lang="en-US" dirty="0"/>
          </a:p>
        </p:txBody>
      </p:sp>
      <p:pic>
        <p:nvPicPr>
          <p:cNvPr id="16386" name="Picture 2"/>
          <p:cNvPicPr>
            <a:picLocks noGrp="1" noChangeAspect="1" noChangeArrowheads="1"/>
          </p:cNvPicPr>
          <p:nvPr>
            <p:ph sz="half" idx="1"/>
          </p:nvPr>
        </p:nvPicPr>
        <p:blipFill>
          <a:blip r:embed="rId2"/>
          <a:srcRect/>
          <a:stretch>
            <a:fillRect/>
          </a:stretch>
        </p:blipFill>
        <p:spPr bwMode="auto">
          <a:xfrm>
            <a:off x="428596" y="3143248"/>
            <a:ext cx="8501122" cy="3214710"/>
          </a:xfrm>
          <a:prstGeom prst="rect">
            <a:avLst/>
          </a:prstGeom>
          <a:noFill/>
          <a:ln w="9525">
            <a:noFill/>
            <a:miter lim="800000"/>
            <a:headEnd/>
            <a:tailEnd/>
          </a:ln>
          <a:effectLst/>
        </p:spPr>
      </p:pic>
      <p:sp>
        <p:nvSpPr>
          <p:cNvPr id="2" name="Rectangle 1"/>
          <p:cNvSpPr/>
          <p:nvPr/>
        </p:nvSpPr>
        <p:spPr>
          <a:xfrm>
            <a:off x="214282" y="357166"/>
            <a:ext cx="8624918" cy="2800767"/>
          </a:xfrm>
          <a:prstGeom prst="rect">
            <a:avLst/>
          </a:prstGeom>
        </p:spPr>
        <p:txBody>
          <a:bodyPr wrap="square">
            <a:spAutoFit/>
          </a:bodyPr>
          <a:lstStyle/>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An </a:t>
            </a:r>
            <a:r>
              <a:rPr lang="en-US" sz="2200" b="1" dirty="0" smtClean="0">
                <a:latin typeface="Times New Roman" panose="02020603050405020304" pitchFamily="18" charset="0"/>
                <a:cs typeface="Times New Roman" panose="02020603050405020304" pitchFamily="18" charset="0"/>
              </a:rPr>
              <a:t>edge server</a:t>
            </a:r>
            <a:r>
              <a:rPr lang="en-US" sz="2200" dirty="0" smtClean="0">
                <a:latin typeface="Times New Roman" panose="02020603050405020304" pitchFamily="18" charset="0"/>
                <a:cs typeface="Times New Roman" panose="02020603050405020304" pitchFamily="18" charset="0"/>
              </a:rPr>
              <a:t> is a server located closer to the end users in a distributed computing system, typically near the "edge" of the network. It is designed to reduce latency and improve the speed and performance of data processing and content delivery by bringing resources physically closer to the user.</a:t>
            </a: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CDNs (Content Delivery Network) use edge servers to deliver web content faster by caching data in multiple edge locations. This reduces the load on the central server and improves content access for users.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458200" cy="628648"/>
          </a:xfrm>
        </p:spPr>
        <p:txBody>
          <a:bodyPr/>
          <a:lstStyle/>
          <a:p>
            <a:pPr lvl="4" algn="l" rtl="0">
              <a:spcBef>
                <a:spcPct val="0"/>
              </a:spcBef>
              <a:buFont typeface="Arial" pitchFamily="34" charset="0"/>
              <a:buChar char="•"/>
            </a:pPr>
            <a:r>
              <a:rPr lang="en-US" sz="3200" b="1" dirty="0" smtClean="0">
                <a:latin typeface="Times New Roman" pitchFamily="18" charset="0"/>
                <a:cs typeface="Times New Roman" pitchFamily="18" charset="0"/>
              </a:rPr>
              <a:t>  Collaborative Distributed Systems:-</a:t>
            </a:r>
            <a:endParaRPr lang="en-US" dirty="0"/>
          </a:p>
        </p:txBody>
      </p:sp>
      <p:sp>
        <p:nvSpPr>
          <p:cNvPr id="3" name="Text Placeholder 2"/>
          <p:cNvSpPr>
            <a:spLocks noGrp="1"/>
          </p:cNvSpPr>
          <p:nvPr>
            <p:ph type="body" idx="2"/>
          </p:nvPr>
        </p:nvSpPr>
        <p:spPr>
          <a:xfrm>
            <a:off x="228600" y="6429396"/>
            <a:ext cx="8387862" cy="428603"/>
          </a:xfrm>
        </p:spPr>
        <p:txBody>
          <a:bodyPr>
            <a:normAutofit/>
          </a:bodyPr>
          <a:lstStyle/>
          <a:p>
            <a:pPr algn="ctr"/>
            <a:r>
              <a:rPr lang="en-US" sz="2000" spc="-55" dirty="0" smtClean="0">
                <a:latin typeface="Times New Roman" pitchFamily="18" charset="0"/>
                <a:cs typeface="Times New Roman" pitchFamily="18" charset="0"/>
              </a:rPr>
              <a:t>Figure</a:t>
            </a:r>
            <a:r>
              <a:rPr lang="en-US" sz="2000" spc="-120" dirty="0" smtClean="0">
                <a:latin typeface="Times New Roman" pitchFamily="18" charset="0"/>
                <a:cs typeface="Times New Roman" pitchFamily="18" charset="0"/>
              </a:rPr>
              <a:t> </a:t>
            </a:r>
            <a:r>
              <a:rPr lang="en-US" sz="2000" spc="-80" dirty="0" smtClean="0">
                <a:latin typeface="Times New Roman" pitchFamily="18" charset="0"/>
                <a:cs typeface="Times New Roman" pitchFamily="18" charset="0"/>
              </a:rPr>
              <a:t>:-</a:t>
            </a:r>
            <a:r>
              <a:rPr lang="en-US" sz="2000" spc="-60" dirty="0" smtClean="0">
                <a:latin typeface="Times New Roman" pitchFamily="18" charset="0"/>
                <a:cs typeface="Times New Roman" pitchFamily="18" charset="0"/>
              </a:rPr>
              <a:t>The</a:t>
            </a:r>
            <a:r>
              <a:rPr lang="en-US" sz="2000" spc="-114" dirty="0" smtClean="0">
                <a:latin typeface="Times New Roman" pitchFamily="18" charset="0"/>
                <a:cs typeface="Times New Roman" pitchFamily="18" charset="0"/>
              </a:rPr>
              <a:t> </a:t>
            </a:r>
            <a:r>
              <a:rPr lang="en-US" sz="2000" spc="-40" dirty="0" smtClean="0">
                <a:latin typeface="Times New Roman" pitchFamily="18" charset="0"/>
                <a:cs typeface="Times New Roman" pitchFamily="18" charset="0"/>
              </a:rPr>
              <a:t>principal</a:t>
            </a:r>
            <a:r>
              <a:rPr lang="en-US" sz="2000" spc="-30" dirty="0" smtClean="0">
                <a:latin typeface="Times New Roman" pitchFamily="18" charset="0"/>
                <a:cs typeface="Times New Roman" pitchFamily="18" charset="0"/>
              </a:rPr>
              <a:t> </a:t>
            </a:r>
            <a:r>
              <a:rPr lang="en-US" sz="2000" spc="-65" dirty="0" smtClean="0">
                <a:latin typeface="Times New Roman" pitchFamily="18" charset="0"/>
                <a:cs typeface="Times New Roman" pitchFamily="18" charset="0"/>
              </a:rPr>
              <a:t>working</a:t>
            </a:r>
            <a:r>
              <a:rPr lang="en-US" sz="2000" spc="-10" dirty="0" smtClean="0">
                <a:latin typeface="Times New Roman" pitchFamily="18" charset="0"/>
                <a:cs typeface="Times New Roman" pitchFamily="18" charset="0"/>
              </a:rPr>
              <a:t> of </a:t>
            </a:r>
            <a:r>
              <a:rPr lang="en-US" sz="2000" spc="-70" dirty="0" smtClean="0">
                <a:latin typeface="Times New Roman" pitchFamily="18" charset="0"/>
                <a:cs typeface="Times New Roman" pitchFamily="18" charset="0"/>
              </a:rPr>
              <a:t> </a:t>
            </a:r>
            <a:r>
              <a:rPr lang="en-US" sz="2000" spc="-80" dirty="0" err="1" smtClean="0">
                <a:latin typeface="Times New Roman" pitchFamily="18" charset="0"/>
                <a:cs typeface="Times New Roman" pitchFamily="18" charset="0"/>
              </a:rPr>
              <a:t>BitTorrent</a:t>
            </a:r>
            <a:endParaRPr lang="en-US" sz="2000" dirty="0"/>
          </a:p>
        </p:txBody>
      </p:sp>
      <p:pic>
        <p:nvPicPr>
          <p:cNvPr id="17410" name="Picture 2"/>
          <p:cNvPicPr>
            <a:picLocks noGrp="1" noChangeAspect="1" noChangeArrowheads="1"/>
          </p:cNvPicPr>
          <p:nvPr>
            <p:ph sz="half" idx="1"/>
          </p:nvPr>
        </p:nvPicPr>
        <p:blipFill>
          <a:blip r:embed="rId2"/>
          <a:srcRect/>
          <a:stretch>
            <a:fillRect/>
          </a:stretch>
        </p:blipFill>
        <p:spPr bwMode="auto">
          <a:xfrm>
            <a:off x="234462" y="3767804"/>
            <a:ext cx="8382000" cy="2661592"/>
          </a:xfrm>
          <a:prstGeom prst="rect">
            <a:avLst/>
          </a:prstGeom>
          <a:noFill/>
          <a:ln w="9525">
            <a:noFill/>
            <a:miter lim="800000"/>
            <a:headEnd/>
            <a:tailEnd/>
          </a:ln>
          <a:effectLst/>
        </p:spPr>
      </p:pic>
      <p:sp>
        <p:nvSpPr>
          <p:cNvPr id="4" name="Rectangle 3"/>
          <p:cNvSpPr/>
          <p:nvPr/>
        </p:nvSpPr>
        <p:spPr>
          <a:xfrm>
            <a:off x="0" y="785794"/>
            <a:ext cx="8929718" cy="3139321"/>
          </a:xfrm>
          <a:prstGeom prst="rect">
            <a:avLst/>
          </a:prstGeom>
        </p:spPr>
        <p:txBody>
          <a:bodyPr wrap="square">
            <a:spAutoFit/>
          </a:bodyPr>
          <a:lstStyle/>
          <a:p>
            <a:pPr marL="285750" indent="-285750">
              <a:buFont typeface="Wingdings" panose="05000000000000000000" pitchFamily="2" charset="2"/>
              <a:buChar char="Ø"/>
            </a:pPr>
            <a:r>
              <a:rPr lang="en-US" sz="2200" b="1" dirty="0" err="1">
                <a:latin typeface="Times New Roman" pitchFamily="18" charset="0"/>
                <a:cs typeface="Times New Roman" pitchFamily="18" charset="0"/>
              </a:rPr>
              <a:t>BitTorrent</a:t>
            </a:r>
            <a:r>
              <a:rPr lang="en-US" sz="2200" dirty="0">
                <a:latin typeface="Times New Roman" pitchFamily="18" charset="0"/>
                <a:cs typeface="Times New Roman" pitchFamily="18" charset="0"/>
              </a:rPr>
              <a:t> is a </a:t>
            </a:r>
            <a:r>
              <a:rPr lang="en-US" sz="2200" dirty="0" smtClean="0">
                <a:latin typeface="Times New Roman" pitchFamily="18" charset="0"/>
                <a:cs typeface="Times New Roman" pitchFamily="18" charset="0"/>
              </a:rPr>
              <a:t>peer-to-peer </a:t>
            </a:r>
            <a:r>
              <a:rPr lang="en-US" sz="2200" dirty="0">
                <a:latin typeface="Times New Roman" pitchFamily="18" charset="0"/>
                <a:cs typeface="Times New Roman" pitchFamily="18" charset="0"/>
              </a:rPr>
              <a:t>(P2P) </a:t>
            </a:r>
            <a:r>
              <a:rPr lang="en-US" sz="2200" dirty="0" smtClean="0">
                <a:latin typeface="Times New Roman" pitchFamily="18" charset="0"/>
                <a:cs typeface="Times New Roman" pitchFamily="18" charset="0"/>
              </a:rPr>
              <a:t>file-downloading system.</a:t>
            </a:r>
          </a:p>
          <a:p>
            <a:pPr marL="285750" indent="-285750">
              <a:buFont typeface="Wingdings" panose="05000000000000000000" pitchFamily="2" charset="2"/>
              <a:buChar char="Ø"/>
            </a:pPr>
            <a:r>
              <a:rPr lang="en-US" sz="2200" dirty="0">
                <a:latin typeface="Times New Roman" pitchFamily="18" charset="0"/>
                <a:cs typeface="Times New Roman" pitchFamily="18" charset="0"/>
              </a:rPr>
              <a:t>W</a:t>
            </a:r>
            <a:r>
              <a:rPr lang="en-US" sz="2200" dirty="0" smtClean="0">
                <a:latin typeface="Times New Roman" pitchFamily="18" charset="0"/>
                <a:cs typeface="Times New Roman" pitchFamily="18" charset="0"/>
              </a:rPr>
              <a:t>hen </a:t>
            </a:r>
            <a:r>
              <a:rPr lang="en-US" sz="2200" dirty="0">
                <a:latin typeface="Times New Roman" pitchFamily="18" charset="0"/>
                <a:cs typeface="Times New Roman" pitchFamily="18" charset="0"/>
              </a:rPr>
              <a:t>an end user is looking for a file, he downloads chunks of the file from other users until the downloaded chunks can be assembled together yielding the complete </a:t>
            </a:r>
            <a:r>
              <a:rPr lang="en-US" sz="2200" dirty="0" smtClean="0">
                <a:latin typeface="Times New Roman" pitchFamily="18" charset="0"/>
                <a:cs typeface="Times New Roman" pitchFamily="18" charset="0"/>
              </a:rPr>
              <a:t>file.</a:t>
            </a:r>
          </a:p>
          <a:p>
            <a:pPr marL="285750" indent="-285750">
              <a:buFont typeface="Wingdings" panose="05000000000000000000" pitchFamily="2" charset="2"/>
              <a:buChar char="Ø"/>
            </a:pPr>
            <a:r>
              <a:rPr lang="en-US" sz="2200" dirty="0">
                <a:latin typeface="Times New Roman" pitchFamily="18" charset="0"/>
                <a:cs typeface="Times New Roman" pitchFamily="18" charset="0"/>
              </a:rPr>
              <a:t>To download a file, a user needs to access a global directory, </a:t>
            </a:r>
            <a:r>
              <a:rPr lang="en-US" sz="2200" dirty="0" err="1" smtClean="0">
                <a:latin typeface="Times New Roman" pitchFamily="18" charset="0"/>
                <a:cs typeface="Times New Roman" pitchFamily="18" charset="0"/>
              </a:rPr>
              <a:t>i.eWeb</a:t>
            </a:r>
            <a:r>
              <a:rPr lang="en-US" sz="2200" dirty="0" smtClean="0">
                <a:latin typeface="Times New Roman" pitchFamily="18" charset="0"/>
                <a:cs typeface="Times New Roman" pitchFamily="18" charset="0"/>
              </a:rPr>
              <a:t> site. </a:t>
            </a:r>
          </a:p>
          <a:p>
            <a:pPr marL="285750" indent="-285750">
              <a:buFont typeface="Wingdings" panose="05000000000000000000" pitchFamily="2" charset="2"/>
              <a:buChar char="Ø"/>
            </a:pPr>
            <a:r>
              <a:rPr lang="en-US" sz="2200" dirty="0">
                <a:latin typeface="Times New Roman" pitchFamily="18" charset="0"/>
                <a:cs typeface="Times New Roman" pitchFamily="18" charset="0"/>
              </a:rPr>
              <a:t>A .torrent file contains the information that is needed to download a specific file. </a:t>
            </a:r>
            <a:endParaRPr lang="en-US" sz="2200" dirty="0" smtClean="0">
              <a:latin typeface="Times New Roman" pitchFamily="18" charset="0"/>
              <a:cs typeface="Times New Roman" pitchFamily="18" charset="0"/>
            </a:endParaRPr>
          </a:p>
          <a:p>
            <a:pPr marL="285750" indent="-285750">
              <a:buFont typeface="Wingdings" panose="05000000000000000000" pitchFamily="2" charset="2"/>
              <a:buChar char="Ø"/>
            </a:pPr>
            <a:r>
              <a:rPr lang="en-US" sz="2200" dirty="0" smtClean="0">
                <a:latin typeface="Times New Roman" pitchFamily="18" charset="0"/>
                <a:cs typeface="Times New Roman" pitchFamily="18" charset="0"/>
              </a:rPr>
              <a:t>A tracker is a server of active </a:t>
            </a:r>
            <a:r>
              <a:rPr lang="en-US" sz="2200" dirty="0">
                <a:latin typeface="Times New Roman" pitchFamily="18" charset="0"/>
                <a:cs typeface="Times New Roman" pitchFamily="18" charset="0"/>
              </a:rPr>
              <a:t>nodes that have (chunks) of the requested file. An active node is one that is currently </a:t>
            </a:r>
            <a:r>
              <a:rPr lang="en-US" sz="2200" dirty="0" smtClean="0">
                <a:latin typeface="Times New Roman" pitchFamily="18" charset="0"/>
                <a:cs typeface="Times New Roman" pitchFamily="18" charset="0"/>
              </a:rPr>
              <a:t>downloading the file.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0"/>
            <a:ext cx="8358214" cy="928670"/>
          </a:xfrm>
        </p:spPr>
        <p:txBody>
          <a:bodyPr>
            <a:normAutofit fontScale="90000"/>
          </a:bodyPr>
          <a:lstStyle/>
          <a:p>
            <a:pPr algn="ctr"/>
            <a:r>
              <a:rPr lang="en-US" sz="5400" b="1" dirty="0" smtClean="0">
                <a:latin typeface="Times New Roman" pitchFamily="18" charset="0"/>
                <a:cs typeface="Times New Roman" pitchFamily="18" charset="0"/>
              </a:rPr>
              <a:t>Architectures v/s Middleware</a:t>
            </a:r>
            <a:endParaRPr lang="en-US" dirty="0"/>
          </a:p>
        </p:txBody>
      </p:sp>
      <p:pic>
        <p:nvPicPr>
          <p:cNvPr id="18434" name="Picture 2"/>
          <p:cNvPicPr>
            <a:picLocks noGrp="1" noChangeAspect="1" noChangeArrowheads="1"/>
          </p:cNvPicPr>
          <p:nvPr>
            <p:ph idx="1"/>
          </p:nvPr>
        </p:nvPicPr>
        <p:blipFill>
          <a:blip r:embed="rId2"/>
          <a:srcRect/>
          <a:stretch>
            <a:fillRect/>
          </a:stretch>
        </p:blipFill>
        <p:spPr bwMode="auto">
          <a:xfrm>
            <a:off x="533400" y="1524000"/>
            <a:ext cx="8382000" cy="4800600"/>
          </a:xfrm>
          <a:prstGeom prst="rect">
            <a:avLst/>
          </a:prstGeom>
          <a:noFill/>
          <a:ln w="9525">
            <a:noFill/>
            <a:miter lim="800000"/>
            <a:headEnd/>
            <a:tailEnd/>
          </a:ln>
          <a:effectLst/>
        </p:spPr>
      </p:pic>
      <p:cxnSp>
        <p:nvCxnSpPr>
          <p:cNvPr id="7" name="Straight Connector 6"/>
          <p:cNvCxnSpPr/>
          <p:nvPr/>
        </p:nvCxnSpPr>
        <p:spPr>
          <a:xfrm rot="5400000">
            <a:off x="-266700" y="3924300"/>
            <a:ext cx="480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a:off x="2477294" y="3924300"/>
            <a:ext cx="47998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09010" y="3937780"/>
            <a:ext cx="4876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6287294" y="3924300"/>
            <a:ext cx="47998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57200" y="1524000"/>
            <a:ext cx="822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57200" y="6324600"/>
            <a:ext cx="8305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57200" y="1905000"/>
            <a:ext cx="822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a:off x="457200" y="2667000"/>
            <a:ext cx="822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0800000">
            <a:off x="457200" y="3429000"/>
            <a:ext cx="822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0800000">
            <a:off x="457200" y="4191000"/>
            <a:ext cx="822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0800000">
            <a:off x="457200" y="5257800"/>
            <a:ext cx="8229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477000"/>
          </a:xfrm>
        </p:spPr>
        <p:txBody>
          <a:bodyPr>
            <a:normAutofit fontScale="92500" lnSpcReduction="20000"/>
          </a:bodyPr>
          <a:lstStyle/>
          <a:p>
            <a:pPr>
              <a:buNone/>
            </a:pPr>
            <a:r>
              <a:rPr lang="en-US" b="1" dirty="0" smtClean="0">
                <a:latin typeface="Times New Roman" pitchFamily="18" charset="0"/>
                <a:cs typeface="Times New Roman" pitchFamily="18" charset="0"/>
              </a:rPr>
              <a:t>Example in Real Systems:-</a:t>
            </a:r>
            <a:endParaRPr lang="en-US" dirty="0" smtClean="0">
              <a:latin typeface="Times New Roman" pitchFamily="18" charset="0"/>
              <a:cs typeface="Times New Roman" pitchFamily="18" charset="0"/>
            </a:endParaRPr>
          </a:p>
          <a:p>
            <a:pPr lvl="0"/>
            <a:r>
              <a:rPr lang="en-US" b="1" dirty="0" smtClean="0">
                <a:latin typeface="Times New Roman" pitchFamily="18" charset="0"/>
                <a:cs typeface="Times New Roman" pitchFamily="18" charset="0"/>
              </a:rPr>
              <a:t>Netflix (Architecture)</a:t>
            </a:r>
            <a:r>
              <a:rPr lang="en-US" dirty="0" smtClean="0">
                <a:latin typeface="Times New Roman" pitchFamily="18" charset="0"/>
                <a:cs typeface="Times New Roman" pitchFamily="18" charset="0"/>
              </a:rPr>
              <a:t>:</a:t>
            </a:r>
          </a:p>
          <a:p>
            <a:pPr lvl="1"/>
            <a:r>
              <a:rPr lang="en-US" sz="2600" b="1" dirty="0" smtClean="0">
                <a:latin typeface="Times New Roman" pitchFamily="18" charset="0"/>
                <a:cs typeface="Times New Roman" pitchFamily="18" charset="0"/>
              </a:rPr>
              <a:t>Micro services Architecture</a:t>
            </a:r>
            <a:r>
              <a:rPr lang="en-US" sz="2600" dirty="0" smtClean="0">
                <a:latin typeface="Times New Roman" pitchFamily="18" charset="0"/>
                <a:cs typeface="Times New Roman" pitchFamily="18" charset="0"/>
              </a:rPr>
              <a:t>: Netflix uses a micro services architecture where different services (such as streaming, recommendation engine, and user profiles) run independently and interact via APIs.</a:t>
            </a:r>
          </a:p>
          <a:p>
            <a:pPr lvl="0"/>
            <a:r>
              <a:rPr lang="en-US" b="1" dirty="0" smtClean="0">
                <a:latin typeface="Times New Roman" pitchFamily="18" charset="0"/>
                <a:cs typeface="Times New Roman" pitchFamily="18" charset="0"/>
              </a:rPr>
              <a:t>Netflix (Middleware)</a:t>
            </a:r>
            <a:r>
              <a:rPr lang="en-US" dirty="0" smtClean="0">
                <a:latin typeface="Times New Roman" pitchFamily="18" charset="0"/>
                <a:cs typeface="Times New Roman" pitchFamily="18" charset="0"/>
              </a:rPr>
              <a:t>:</a:t>
            </a:r>
          </a:p>
          <a:p>
            <a:pPr lvl="1"/>
            <a:r>
              <a:rPr lang="en-US" sz="2600" b="1" dirty="0" smtClean="0">
                <a:latin typeface="Times New Roman" pitchFamily="18" charset="0"/>
                <a:cs typeface="Times New Roman" pitchFamily="18" charset="0"/>
              </a:rPr>
              <a:t>Middleware for Communication</a:t>
            </a:r>
            <a:r>
              <a:rPr lang="en-US" sz="2600" dirty="0" smtClean="0">
                <a:latin typeface="Times New Roman" pitchFamily="18" charset="0"/>
                <a:cs typeface="Times New Roman" pitchFamily="18" charset="0"/>
              </a:rPr>
              <a:t>: Netflix uses </a:t>
            </a:r>
            <a:r>
              <a:rPr lang="en-US" sz="2600" b="1" dirty="0" smtClean="0">
                <a:latin typeface="Times New Roman" pitchFamily="18" charset="0"/>
                <a:cs typeface="Times New Roman" pitchFamily="18" charset="0"/>
              </a:rPr>
              <a:t>Apache Kafka</a:t>
            </a:r>
            <a:r>
              <a:rPr lang="en-US" sz="2600" dirty="0" smtClean="0">
                <a:latin typeface="Times New Roman" pitchFamily="18" charset="0"/>
                <a:cs typeface="Times New Roman" pitchFamily="18" charset="0"/>
              </a:rPr>
              <a:t> as a message broker between micro services, handling communication and data streaming between the various components.</a:t>
            </a:r>
          </a:p>
          <a:p>
            <a:pPr lvl="1"/>
            <a:r>
              <a:rPr lang="en-US" sz="2600" b="1" dirty="0" smtClean="0">
                <a:latin typeface="Times New Roman" pitchFamily="18" charset="0"/>
                <a:cs typeface="Times New Roman" pitchFamily="18" charset="0"/>
              </a:rPr>
              <a:t>API Gateway (</a:t>
            </a:r>
            <a:r>
              <a:rPr lang="en-US" sz="2600" b="1" dirty="0" err="1" smtClean="0">
                <a:latin typeface="Times New Roman" pitchFamily="18" charset="0"/>
                <a:cs typeface="Times New Roman" pitchFamily="18" charset="0"/>
              </a:rPr>
              <a:t>Zuul</a:t>
            </a:r>
            <a:r>
              <a:rPr lang="en-US" sz="2600" b="1" dirty="0" smtClean="0">
                <a:latin typeface="Times New Roman" pitchFamily="18" charset="0"/>
                <a:cs typeface="Times New Roman" pitchFamily="18" charset="0"/>
              </a:rPr>
              <a:t>)</a:t>
            </a:r>
            <a:r>
              <a:rPr lang="en-US" sz="2600" dirty="0" smtClean="0">
                <a:latin typeface="Times New Roman" pitchFamily="18" charset="0"/>
                <a:cs typeface="Times New Roman" pitchFamily="18" charset="0"/>
              </a:rPr>
              <a:t>: Netflix also uses </a:t>
            </a:r>
            <a:r>
              <a:rPr lang="en-US" sz="2600" b="1" dirty="0" err="1" smtClean="0">
                <a:latin typeface="Times New Roman" pitchFamily="18" charset="0"/>
                <a:cs typeface="Times New Roman" pitchFamily="18" charset="0"/>
              </a:rPr>
              <a:t>Zuul</a:t>
            </a:r>
            <a:r>
              <a:rPr lang="en-US" sz="2600" dirty="0" smtClean="0">
                <a:latin typeface="Times New Roman" pitchFamily="18" charset="0"/>
                <a:cs typeface="Times New Roman" pitchFamily="18" charset="0"/>
              </a:rPr>
              <a:t>, a middleware service that routes requests to the appropriate micro service.</a:t>
            </a:r>
          </a:p>
          <a:p>
            <a:pPr>
              <a:buNone/>
            </a:pPr>
            <a:r>
              <a:rPr lang="en-US" b="1" dirty="0" smtClean="0">
                <a:latin typeface="Times New Roman" pitchFamily="18" charset="0"/>
                <a:cs typeface="Times New Roman" pitchFamily="18" charset="0"/>
              </a:rPr>
              <a:t>Conclusion:-</a:t>
            </a:r>
          </a:p>
          <a:p>
            <a:pPr>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architecture</a:t>
            </a:r>
            <a:r>
              <a:rPr lang="en-US" dirty="0" smtClean="0">
                <a:latin typeface="Times New Roman" pitchFamily="18" charset="0"/>
                <a:cs typeface="Times New Roman" pitchFamily="18" charset="0"/>
              </a:rPr>
              <a:t> defines the high-level layout of distributed systems, while </a:t>
            </a:r>
            <a:r>
              <a:rPr lang="en-US" b="1" dirty="0" smtClean="0">
                <a:latin typeface="Times New Roman" pitchFamily="18" charset="0"/>
                <a:cs typeface="Times New Roman" pitchFamily="18" charset="0"/>
              </a:rPr>
              <a:t>middleware</a:t>
            </a:r>
            <a:r>
              <a:rPr lang="en-US" dirty="0" smtClean="0">
                <a:latin typeface="Times New Roman" pitchFamily="18" charset="0"/>
                <a:cs typeface="Times New Roman" pitchFamily="18" charset="0"/>
              </a:rPr>
              <a:t> provides the underlying support to manage communication, data exchange, and other complexities within the system.</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304800"/>
            <a:ext cx="8458200" cy="609600"/>
          </a:xfrm>
        </p:spPr>
        <p:txBody>
          <a:bodyPr/>
          <a:lstStyle/>
          <a:p>
            <a:r>
              <a:rPr lang="en-US" b="1" dirty="0" smtClean="0">
                <a:latin typeface="Times New Roman" pitchFamily="18" charset="0"/>
                <a:cs typeface="Times New Roman" pitchFamily="18" charset="0"/>
              </a:rPr>
              <a:t>Interceptors:-</a:t>
            </a:r>
            <a:endParaRPr lang="en-US" b="1" dirty="0">
              <a:latin typeface="Times New Roman" pitchFamily="18" charset="0"/>
              <a:cs typeface="Times New Roman" pitchFamily="18" charset="0"/>
            </a:endParaRPr>
          </a:p>
        </p:txBody>
      </p:sp>
      <p:sp>
        <p:nvSpPr>
          <p:cNvPr id="6" name="Text Placeholder 5"/>
          <p:cNvSpPr>
            <a:spLocks noGrp="1"/>
          </p:cNvSpPr>
          <p:nvPr>
            <p:ph type="body" idx="2"/>
          </p:nvPr>
        </p:nvSpPr>
        <p:spPr>
          <a:xfrm>
            <a:off x="304800" y="6096000"/>
            <a:ext cx="8610600" cy="762000"/>
          </a:xfrm>
        </p:spPr>
        <p:txBody>
          <a:bodyPr>
            <a:normAutofit/>
          </a:bodyPr>
          <a:lstStyle/>
          <a:p>
            <a:r>
              <a:rPr lang="en-US" altLang="en-US" sz="2400" dirty="0" smtClean="0">
                <a:latin typeface="Times New Roman" pitchFamily="18" charset="0"/>
                <a:cs typeface="Times New Roman" pitchFamily="18" charset="0"/>
              </a:rPr>
              <a:t>Figure 2-15. Using interceptors to handle remote-object invocations.</a:t>
            </a:r>
          </a:p>
          <a:p>
            <a:endParaRPr lang="en-US" dirty="0"/>
          </a:p>
        </p:txBody>
      </p:sp>
      <p:pic>
        <p:nvPicPr>
          <p:cNvPr id="19458" name="Picture 2"/>
          <p:cNvPicPr>
            <a:picLocks noGrp="1" noChangeAspect="1" noChangeArrowheads="1"/>
          </p:cNvPicPr>
          <p:nvPr>
            <p:ph sz="half" idx="1"/>
          </p:nvPr>
        </p:nvPicPr>
        <p:blipFill>
          <a:blip r:embed="rId3"/>
          <a:srcRect/>
          <a:stretch>
            <a:fillRect/>
          </a:stretch>
        </p:blipFill>
        <p:spPr bwMode="auto">
          <a:xfrm>
            <a:off x="609600" y="1066800"/>
            <a:ext cx="8229600" cy="48116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348" y="0"/>
            <a:ext cx="8229600" cy="667512"/>
          </a:xfrm>
        </p:spPr>
        <p:txBody>
          <a:bodyPr>
            <a:normAutofit/>
          </a:bodyPr>
          <a:lstStyle/>
          <a:p>
            <a:r>
              <a:rPr lang="en-US" altLang="en-US" sz="3200" b="1" dirty="0" smtClean="0">
                <a:latin typeface="Times New Roman" pitchFamily="18" charset="0"/>
                <a:cs typeface="Times New Roman" pitchFamily="18" charset="0"/>
              </a:rPr>
              <a:t>General Approaches to Adaptive Software:-</a:t>
            </a:r>
            <a:endParaRPr lang="en-US" sz="3200" b="1" dirty="0">
              <a:latin typeface="Times New Roman" pitchFamily="18" charset="0"/>
              <a:cs typeface="Times New Roman" pitchFamily="18" charset="0"/>
            </a:endParaRPr>
          </a:p>
        </p:txBody>
      </p:sp>
      <p:sp>
        <p:nvSpPr>
          <p:cNvPr id="6" name="Content Placeholder 5"/>
          <p:cNvSpPr>
            <a:spLocks noGrp="1"/>
          </p:cNvSpPr>
          <p:nvPr>
            <p:ph idx="1"/>
          </p:nvPr>
        </p:nvSpPr>
        <p:spPr>
          <a:xfrm>
            <a:off x="285720" y="928670"/>
            <a:ext cx="8643998" cy="5643602"/>
          </a:xfrm>
        </p:spPr>
        <p:txBody>
          <a:bodyPr>
            <a:normAutofit lnSpcReduction="10000"/>
          </a:bodyPr>
          <a:lstStyle/>
          <a:p>
            <a:pPr marL="0" indent="0">
              <a:spcBef>
                <a:spcPts val="800"/>
              </a:spcBef>
              <a:spcAft>
                <a:spcPts val="600"/>
              </a:spcAft>
              <a:buNone/>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Based on the usage/request if we change the functionality/working of the middleware that is called adaptive middleware.</a:t>
            </a:r>
          </a:p>
          <a:p>
            <a:pPr marL="0" indent="0">
              <a:spcBef>
                <a:spcPts val="800"/>
              </a:spcBef>
              <a:spcAft>
                <a:spcPts val="600"/>
              </a:spcAft>
              <a:buNone/>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Three basic approaches to adaptive software:</a:t>
            </a:r>
          </a:p>
          <a:p>
            <a:pPr>
              <a:spcBef>
                <a:spcPts val="8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b="1" dirty="0" smtClean="0">
                <a:latin typeface="Times New Roman" pitchFamily="18" charset="0"/>
                <a:cs typeface="Times New Roman" pitchFamily="18" charset="0"/>
              </a:rPr>
              <a:t>Separation of concerns:- </a:t>
            </a:r>
            <a:r>
              <a:rPr lang="en-US" sz="2800" dirty="0" smtClean="0">
                <a:latin typeface="Times New Roman" pitchFamily="18" charset="0"/>
                <a:cs typeface="Times New Roman" pitchFamily="18" charset="0"/>
              </a:rPr>
              <a:t>separate the extra functionalities into different parts and later work on them into  a single implementation.</a:t>
            </a:r>
          </a:p>
          <a:p>
            <a:pPr>
              <a:spcBef>
                <a:spcPts val="8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b="1" dirty="0" smtClean="0">
                <a:latin typeface="Times New Roman" pitchFamily="18" charset="0"/>
                <a:cs typeface="Times New Roman" pitchFamily="18" charset="0"/>
              </a:rPr>
              <a:t>Computational reflection:-</a:t>
            </a:r>
            <a:r>
              <a:rPr lang="en-US" sz="2800" dirty="0" smtClean="0">
                <a:latin typeface="Times New Roman" pitchFamily="18" charset="0"/>
                <a:cs typeface="Times New Roman" pitchFamily="18" charset="0"/>
              </a:rPr>
              <a:t>A </a:t>
            </a:r>
            <a:r>
              <a:rPr lang="en-US" sz="2800" dirty="0">
                <a:latin typeface="Times New Roman" pitchFamily="18" charset="0"/>
                <a:cs typeface="Times New Roman" pitchFamily="18" charset="0"/>
              </a:rPr>
              <a:t>technique that allows software to observe and modify its own structure and behavior at runtime.</a:t>
            </a:r>
            <a:endParaRPr lang="en-US" sz="2800" dirty="0" smtClean="0">
              <a:latin typeface="Times New Roman" pitchFamily="18" charset="0"/>
              <a:cs typeface="Times New Roman" pitchFamily="18" charset="0"/>
            </a:endParaRPr>
          </a:p>
          <a:p>
            <a:pPr>
              <a:spcBef>
                <a:spcPts val="8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b="1" dirty="0" smtClean="0">
                <a:latin typeface="Times New Roman" pitchFamily="18" charset="0"/>
                <a:cs typeface="Times New Roman" pitchFamily="18" charset="0"/>
              </a:rPr>
              <a:t>Component-based design:-</a:t>
            </a:r>
            <a:r>
              <a:rPr lang="en-US" sz="2800" dirty="0">
                <a:latin typeface="Times New Roman" pitchFamily="18" charset="0"/>
                <a:cs typeface="Times New Roman" pitchFamily="18" charset="0"/>
              </a:rPr>
              <a:t>making it easier to adjust, extend, or replace parts of the software as needed.</a:t>
            </a:r>
            <a:endParaRPr lang="en-US" sz="2800" dirty="0" smtClean="0">
              <a:latin typeface="Times New Roman" pitchFamily="18" charset="0"/>
              <a:cs typeface="Times New Roman" pitchFamily="18" charset="0"/>
            </a:endParaRP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500042"/>
            <a:ext cx="8929718" cy="928694"/>
          </a:xfrm>
        </p:spPr>
        <p:txBody>
          <a:bodyPr>
            <a:noAutofit/>
          </a:bodyPr>
          <a:lstStyle/>
          <a:p>
            <a:r>
              <a:rPr lang="en-US" sz="4000" b="1" dirty="0" smtClean="0">
                <a:latin typeface="Times New Roman" pitchFamily="18" charset="0"/>
                <a:cs typeface="Times New Roman" pitchFamily="18" charset="0"/>
              </a:rPr>
              <a:t>Self Management in Distributed Systems</a:t>
            </a:r>
            <a:endParaRPr lang="en-US" sz="4000" dirty="0"/>
          </a:p>
        </p:txBody>
      </p:sp>
      <p:sp>
        <p:nvSpPr>
          <p:cNvPr id="3" name="Content Placeholder 2"/>
          <p:cNvSpPr>
            <a:spLocks noGrp="1"/>
          </p:cNvSpPr>
          <p:nvPr>
            <p:ph idx="1"/>
          </p:nvPr>
        </p:nvSpPr>
        <p:spPr>
          <a:xfrm>
            <a:off x="0" y="1500174"/>
            <a:ext cx="9144000" cy="5357826"/>
          </a:xfrm>
        </p:spPr>
        <p:txBody>
          <a:bodyPr>
            <a:noAutofit/>
          </a:bodyPr>
          <a:lstStyle/>
          <a:p>
            <a:pPr marL="0" indent="0"/>
            <a:r>
              <a:rPr lang="en-US" sz="3200" dirty="0" smtClean="0">
                <a:latin typeface="Times New Roman" panose="02020603050405020304" pitchFamily="18" charset="0"/>
                <a:cs typeface="Times New Roman" panose="02020603050405020304" pitchFamily="18" charset="0"/>
              </a:rPr>
              <a:t>The ability </a:t>
            </a:r>
            <a:r>
              <a:rPr lang="en-US" sz="3200" dirty="0">
                <a:latin typeface="Times New Roman" panose="02020603050405020304" pitchFamily="18" charset="0"/>
                <a:cs typeface="Times New Roman" panose="02020603050405020304" pitchFamily="18" charset="0"/>
              </a:rPr>
              <a:t>of a system to autonomously handle tasks like configuration, optimization, healing, and security, reducing or eliminating the need for human intervention. </a:t>
            </a:r>
            <a:endParaRPr lang="en-US" sz="3200" dirty="0" smtClean="0">
              <a:latin typeface="Times New Roman" panose="02020603050405020304" pitchFamily="18" charset="0"/>
              <a:cs typeface="Times New Roman" panose="02020603050405020304" pitchFamily="18" charset="0"/>
            </a:endParaRPr>
          </a:p>
          <a:p>
            <a:pPr marL="0" indent="0"/>
            <a:r>
              <a:rPr lang="en-US" sz="3200" dirty="0" smtClean="0">
                <a:latin typeface="Times New Roman" panose="02020603050405020304" pitchFamily="18" charset="0"/>
                <a:cs typeface="Times New Roman" panose="02020603050405020304" pitchFamily="18" charset="0"/>
              </a:rPr>
              <a:t>This </a:t>
            </a:r>
            <a:r>
              <a:rPr lang="en-US" sz="3200" dirty="0">
                <a:latin typeface="Times New Roman" panose="02020603050405020304" pitchFamily="18" charset="0"/>
                <a:cs typeface="Times New Roman" panose="02020603050405020304" pitchFamily="18" charset="0"/>
              </a:rPr>
              <a:t>concept is key in designing systems that can scale effectively, recover from failures, and adapt to changing environments without requiring constant manual management</a:t>
            </a:r>
            <a:r>
              <a:rPr lang="en-US" sz="3200" dirty="0" smtClean="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6072230"/>
          </a:xfrm>
        </p:spPr>
        <p:txBody>
          <a:bodyPr>
            <a:normAutofit lnSpcReduction="10000"/>
          </a:bodyPr>
          <a:lstStyle/>
          <a:p>
            <a:pPr marL="0" indent="0">
              <a:buNone/>
            </a:pPr>
            <a:r>
              <a:rPr lang="en-US" sz="3200" b="1" dirty="0" smtClean="0">
                <a:latin typeface="Times New Roman" panose="02020603050405020304" pitchFamily="18" charset="0"/>
                <a:cs typeface="Times New Roman" panose="02020603050405020304" pitchFamily="18" charset="0"/>
              </a:rPr>
              <a:t>Components of Self-Management:-</a:t>
            </a:r>
          </a:p>
          <a:p>
            <a:pPr marL="0" indent="0"/>
            <a:r>
              <a:rPr lang="en-US" sz="2800" b="1" dirty="0" smtClean="0">
                <a:latin typeface="Times New Roman" panose="02020603050405020304" pitchFamily="18" charset="0"/>
                <a:cs typeface="Times New Roman" panose="02020603050405020304" pitchFamily="18" charset="0"/>
              </a:rPr>
              <a:t>Self-Configuration:-</a:t>
            </a:r>
            <a:r>
              <a:rPr lang="en-US" sz="2800" dirty="0" smtClean="0">
                <a:latin typeface="Times New Roman" panose="02020603050405020304" pitchFamily="18" charset="0"/>
                <a:cs typeface="Times New Roman" panose="02020603050405020304" pitchFamily="18" charset="0"/>
              </a:rPr>
              <a:t>The system can automatically configure itself when new nodes are added or when changes occur.</a:t>
            </a:r>
          </a:p>
          <a:p>
            <a:pPr marL="0" indent="0"/>
            <a:r>
              <a:rPr lang="en-US" sz="2800" b="1" dirty="0" smtClean="0">
                <a:latin typeface="Times New Roman" panose="02020603050405020304" pitchFamily="18" charset="0"/>
                <a:cs typeface="Times New Roman" panose="02020603050405020304" pitchFamily="18" charset="0"/>
              </a:rPr>
              <a:t>Self-Optimization:- </a:t>
            </a:r>
            <a:r>
              <a:rPr lang="en-US" sz="2800" dirty="0" smtClean="0">
                <a:latin typeface="Times New Roman" panose="02020603050405020304" pitchFamily="18" charset="0"/>
                <a:cs typeface="Times New Roman" panose="02020603050405020304" pitchFamily="18" charset="0"/>
              </a:rPr>
              <a:t>The system constantly monitors its performance and adjusts resources to optimize its operation.</a:t>
            </a:r>
          </a:p>
          <a:p>
            <a:pPr marL="0" indent="0"/>
            <a:r>
              <a:rPr lang="en-US" sz="2800" b="1" dirty="0" smtClean="0">
                <a:latin typeface="Times New Roman" panose="02020603050405020304" pitchFamily="18" charset="0"/>
                <a:cs typeface="Times New Roman" panose="02020603050405020304" pitchFamily="18" charset="0"/>
              </a:rPr>
              <a:t>Self-Healing:- </a:t>
            </a:r>
            <a:r>
              <a:rPr lang="en-US" sz="2800" dirty="0" smtClean="0">
                <a:latin typeface="Times New Roman" panose="02020603050405020304" pitchFamily="18" charset="0"/>
                <a:cs typeface="Times New Roman" panose="02020603050405020304" pitchFamily="18" charset="0"/>
              </a:rPr>
              <a:t>The system detects failures or faults and takes corrective actions without human intervention. </a:t>
            </a:r>
          </a:p>
          <a:p>
            <a:pPr marL="0" indent="0"/>
            <a:r>
              <a:rPr lang="en-US" sz="2800" b="1" dirty="0" smtClean="0">
                <a:latin typeface="Times New Roman" panose="02020603050405020304" pitchFamily="18" charset="0"/>
                <a:cs typeface="Times New Roman" panose="02020603050405020304" pitchFamily="18" charset="0"/>
              </a:rPr>
              <a:t>Self-Protection:-</a:t>
            </a:r>
            <a:r>
              <a:rPr lang="en-US" sz="2800" dirty="0" smtClean="0">
                <a:latin typeface="Times New Roman" panose="02020603050405020304" pitchFamily="18" charset="0"/>
                <a:cs typeface="Times New Roman" panose="02020603050405020304" pitchFamily="18" charset="0"/>
              </a:rPr>
              <a:t>The system autonomously identifies and mitigates security </a:t>
            </a:r>
            <a:r>
              <a:rPr lang="en-US" sz="2800" dirty="0" err="1" smtClean="0">
                <a:latin typeface="Times New Roman" panose="02020603050405020304" pitchFamily="18" charset="0"/>
                <a:cs typeface="Times New Roman" panose="02020603050405020304" pitchFamily="18" charset="0"/>
              </a:rPr>
              <a:t>threats.This</a:t>
            </a:r>
            <a:r>
              <a:rPr lang="en-US" sz="2800" dirty="0" smtClean="0">
                <a:latin typeface="Times New Roman" panose="02020603050405020304" pitchFamily="18" charset="0"/>
                <a:cs typeface="Times New Roman" panose="02020603050405020304" pitchFamily="18" charset="0"/>
              </a:rPr>
              <a:t> includes detecting malicious activity (e.g., intrusion detection), preventing unauthorized access, and patching vulnerabilities.</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5786" y="-71462"/>
            <a:ext cx="8158162" cy="642942"/>
          </a:xfrm>
        </p:spPr>
        <p:txBody>
          <a:bodyPr>
            <a:normAutofit/>
          </a:bodyPr>
          <a:lstStyle/>
          <a:p>
            <a:r>
              <a:rPr lang="en-US" altLang="en-US" sz="3600" b="1" dirty="0" smtClean="0">
                <a:solidFill>
                  <a:schemeClr val="tx1">
                    <a:lumMod val="95000"/>
                    <a:lumOff val="5000"/>
                  </a:schemeClr>
                </a:solidFill>
                <a:latin typeface="Times New Roman" pitchFamily="18" charset="0"/>
                <a:cs typeface="Times New Roman" pitchFamily="18" charset="0"/>
              </a:rPr>
              <a:t>The Feedback Control Model:-</a:t>
            </a:r>
            <a:endParaRPr lang="en-US" sz="3600" b="1" dirty="0">
              <a:solidFill>
                <a:schemeClr val="tx1">
                  <a:lumMod val="95000"/>
                  <a:lumOff val="5000"/>
                </a:schemeClr>
              </a:solidFill>
              <a:latin typeface="Times New Roman" pitchFamily="18" charset="0"/>
              <a:cs typeface="Times New Roman" pitchFamily="18" charset="0"/>
            </a:endParaRPr>
          </a:p>
        </p:txBody>
      </p:sp>
      <p:sp>
        <p:nvSpPr>
          <p:cNvPr id="6" name="Text Placeholder 5"/>
          <p:cNvSpPr>
            <a:spLocks noGrp="1"/>
          </p:cNvSpPr>
          <p:nvPr>
            <p:ph type="body" idx="1"/>
          </p:nvPr>
        </p:nvSpPr>
        <p:spPr>
          <a:xfrm>
            <a:off x="0" y="6429396"/>
            <a:ext cx="9144000" cy="428604"/>
          </a:xfrm>
        </p:spPr>
        <p:txBody>
          <a:bodyPr>
            <a:normAutofit/>
          </a:bodyPr>
          <a:lstStyle/>
          <a:p>
            <a:pPr algn="ctr">
              <a:lnSpc>
                <a:spcPct val="90000"/>
              </a:lnSpc>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2000" b="0" dirty="0" smtClean="0">
                <a:solidFill>
                  <a:schemeClr val="tx1"/>
                </a:solidFill>
                <a:latin typeface="Times New Roman" pitchFamily="18" charset="0"/>
                <a:cs typeface="Times New Roman" pitchFamily="18" charset="0"/>
              </a:rPr>
              <a:t>Figure :-The logical organization of a feedback control system.</a:t>
            </a:r>
          </a:p>
        </p:txBody>
      </p:sp>
      <p:pic>
        <p:nvPicPr>
          <p:cNvPr id="1026" name="Picture 2"/>
          <p:cNvPicPr>
            <a:picLocks noGrp="1" noChangeAspect="1" noChangeArrowheads="1"/>
          </p:cNvPicPr>
          <p:nvPr>
            <p:ph sz="quarter" idx="2"/>
          </p:nvPr>
        </p:nvPicPr>
        <p:blipFill>
          <a:blip r:embed="rId3"/>
          <a:stretch>
            <a:fillRect/>
          </a:stretch>
        </p:blipFill>
        <p:spPr bwMode="auto">
          <a:xfrm>
            <a:off x="142844" y="2500306"/>
            <a:ext cx="8715436" cy="4000528"/>
          </a:xfrm>
          <a:prstGeom prst="rect">
            <a:avLst/>
          </a:prstGeom>
          <a:noFill/>
          <a:ln w="9525">
            <a:noFill/>
            <a:miter lim="800000"/>
            <a:headEnd/>
            <a:tailEnd/>
          </a:ln>
          <a:effectLst/>
        </p:spPr>
      </p:pic>
      <p:sp>
        <p:nvSpPr>
          <p:cNvPr id="7" name="Content Placeholder 6"/>
          <p:cNvSpPr>
            <a:spLocks noGrp="1"/>
          </p:cNvSpPr>
          <p:nvPr>
            <p:ph sz="quarter" idx="4"/>
          </p:nvPr>
        </p:nvSpPr>
        <p:spPr>
          <a:xfrm>
            <a:off x="0" y="642918"/>
            <a:ext cx="9144000" cy="1928826"/>
          </a:xfrm>
        </p:spPr>
        <p:txBody>
          <a:bodyPr>
            <a:normAutofit/>
          </a:bodyPr>
          <a:lstStyle/>
          <a:p>
            <a:r>
              <a:rPr lang="en-US" sz="2400" dirty="0" smtClean="0">
                <a:latin typeface="Times New Roman" pitchFamily="18" charset="0"/>
                <a:cs typeface="Times New Roman" pitchFamily="18" charset="0"/>
              </a:rPr>
              <a:t>There are many different views on self-managing systems, but what most have in common (either explicitly or implicitly) is the assumption that adaptations take place by means of one or more feedback control loops. Accordingly, systems that are organized by means of such loops are referred to as feedback control systems.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229600" cy="571480"/>
          </a:xfrm>
        </p:spPr>
        <p:txBody>
          <a:bodyPr/>
          <a:lstStyle/>
          <a:p>
            <a:r>
              <a:rPr lang="en-US" sz="2800" b="1" dirty="0" smtClean="0">
                <a:solidFill>
                  <a:schemeClr val="tx1">
                    <a:lumMod val="95000"/>
                    <a:lumOff val="5000"/>
                  </a:schemeClr>
                </a:solidFill>
                <a:latin typeface="Times New Roman" pitchFamily="18" charset="0"/>
                <a:cs typeface="Times New Roman" pitchFamily="18" charset="0"/>
              </a:rPr>
              <a:t>Example: Systems Monitoring with Astrolabe</a:t>
            </a:r>
            <a:endParaRPr lang="en-US" sz="2800" b="1" dirty="0">
              <a:solidFill>
                <a:schemeClr val="tx1">
                  <a:lumMod val="95000"/>
                  <a:lumOff val="5000"/>
                </a:schemeClr>
              </a:solidFill>
              <a:latin typeface="Times New Roman" pitchFamily="18" charset="0"/>
              <a:cs typeface="Times New Roman" pitchFamily="18" charset="0"/>
            </a:endParaRPr>
          </a:p>
        </p:txBody>
      </p:sp>
      <p:sp>
        <p:nvSpPr>
          <p:cNvPr id="3" name="Text Placeholder 2"/>
          <p:cNvSpPr>
            <a:spLocks noGrp="1"/>
          </p:cNvSpPr>
          <p:nvPr>
            <p:ph type="body" idx="2"/>
          </p:nvPr>
        </p:nvSpPr>
        <p:spPr>
          <a:xfrm>
            <a:off x="0" y="6357958"/>
            <a:ext cx="9144000" cy="500042"/>
          </a:xfrm>
        </p:spPr>
        <p:txBody>
          <a:bodyPr>
            <a:normAutofit/>
          </a:bodyPr>
          <a:lstStyle/>
          <a:p>
            <a:pPr algn="ctr"/>
            <a:r>
              <a:rPr lang="en-US" sz="2000" dirty="0" smtClean="0">
                <a:solidFill>
                  <a:srgbClr val="000000"/>
                </a:solidFill>
                <a:latin typeface="Times New Roman" pitchFamily="18" charset="0"/>
                <a:cs typeface="Times New Roman" pitchFamily="18" charset="0"/>
              </a:rPr>
              <a:t>Figure :-Data collection and information aggregation in Astrolabe.</a:t>
            </a:r>
          </a:p>
          <a:p>
            <a:endParaRPr lang="en-US" dirty="0"/>
          </a:p>
        </p:txBody>
      </p:sp>
      <p:pic>
        <p:nvPicPr>
          <p:cNvPr id="2050" name="Picture 2"/>
          <p:cNvPicPr>
            <a:picLocks noGrp="1" noChangeAspect="1" noChangeArrowheads="1"/>
          </p:cNvPicPr>
          <p:nvPr>
            <p:ph sz="half" idx="1"/>
          </p:nvPr>
        </p:nvPicPr>
        <p:blipFill>
          <a:blip r:embed="rId3"/>
          <a:srcRect/>
          <a:stretch>
            <a:fillRect/>
          </a:stretch>
        </p:blipFill>
        <p:spPr bwMode="auto">
          <a:xfrm>
            <a:off x="214282" y="2643182"/>
            <a:ext cx="8715436" cy="3714776"/>
          </a:xfrm>
          <a:prstGeom prst="rect">
            <a:avLst/>
          </a:prstGeom>
          <a:noFill/>
          <a:ln w="9525">
            <a:noFill/>
            <a:miter lim="800000"/>
            <a:headEnd/>
            <a:tailEnd/>
          </a:ln>
          <a:effectLst/>
        </p:spPr>
      </p:pic>
      <p:sp>
        <p:nvSpPr>
          <p:cNvPr id="4" name="Rectangle 3"/>
          <p:cNvSpPr/>
          <p:nvPr/>
        </p:nvSpPr>
        <p:spPr>
          <a:xfrm>
            <a:off x="214282" y="571481"/>
            <a:ext cx="8715436" cy="2400657"/>
          </a:xfrm>
          <a:prstGeom prst="rect">
            <a:avLst/>
          </a:prstGeom>
        </p:spPr>
        <p:txBody>
          <a:bodyPr wrap="square">
            <a:spAutoFit/>
          </a:bodyPr>
          <a:lstStyle/>
          <a:p>
            <a:pPr>
              <a:buFont typeface="Arial" pitchFamily="34" charset="0"/>
              <a:buChar char="•"/>
            </a:pPr>
            <a:r>
              <a:rPr lang="en-US" sz="2200" b="1" dirty="0">
                <a:latin typeface="Times New Roman" panose="02020603050405020304" pitchFamily="18" charset="0"/>
                <a:cs typeface="Times New Roman" panose="02020603050405020304" pitchFamily="18" charset="0"/>
              </a:rPr>
              <a:t>Astrolabe</a:t>
            </a:r>
            <a:r>
              <a:rPr lang="en-US" sz="2200" dirty="0">
                <a:latin typeface="Times New Roman" panose="02020603050405020304" pitchFamily="18" charset="0"/>
                <a:cs typeface="Times New Roman" panose="02020603050405020304" pitchFamily="18" charset="0"/>
              </a:rPr>
              <a:t> is a system designed for monitoring and managing large-scale distributed </a:t>
            </a:r>
            <a:r>
              <a:rPr lang="en-US" sz="2200" dirty="0" smtClean="0">
                <a:latin typeface="Times New Roman" panose="02020603050405020304" pitchFamily="18" charset="0"/>
                <a:cs typeface="Times New Roman" panose="02020603050405020304" pitchFamily="18" charset="0"/>
              </a:rPr>
              <a:t>systems. It organizes a large collection of hosts into a hierarchy of zones.</a:t>
            </a:r>
            <a:endParaRPr lang="en-US" sz="2200" dirty="0">
              <a:latin typeface="Times New Roman" panose="02020603050405020304" pitchFamily="18" charset="0"/>
              <a:cs typeface="Times New Roman" panose="02020603050405020304" pitchFamily="18" charset="0"/>
            </a:endParaRPr>
          </a:p>
          <a:p>
            <a:pPr>
              <a:buFont typeface="Arial" pitchFamily="34" charset="0"/>
              <a:buChar char="•"/>
            </a:pPr>
            <a:r>
              <a:rPr lang="en-US" sz="2200" dirty="0" smtClean="0">
                <a:latin typeface="Times New Roman" panose="02020603050405020304" pitchFamily="18" charset="0"/>
                <a:cs typeface="Times New Roman" panose="02020603050405020304" pitchFamily="18" charset="0"/>
              </a:rPr>
              <a:t>The information gathered by each machine can be viewed as a record in database.</a:t>
            </a:r>
          </a:p>
          <a:p>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Select AVG(</a:t>
            </a:r>
            <a:r>
              <a:rPr lang="en-US" sz="2200" dirty="0" err="1" smtClean="0">
                <a:latin typeface="Times New Roman" panose="02020603050405020304" pitchFamily="18" charset="0"/>
                <a:cs typeface="Times New Roman" panose="02020603050405020304" pitchFamily="18" charset="0"/>
              </a:rPr>
              <a:t>procs</a:t>
            </a:r>
            <a:r>
              <a:rPr lang="en-US" sz="2200" dirty="0" smtClean="0">
                <a:latin typeface="Times New Roman" panose="02020603050405020304" pitchFamily="18" charset="0"/>
                <a:cs typeface="Times New Roman" panose="02020603050405020304" pitchFamily="18" charset="0"/>
              </a:rPr>
              <a:t>) as </a:t>
            </a:r>
            <a:r>
              <a:rPr lang="en-US" sz="2200" dirty="0" err="1" smtClean="0">
                <a:latin typeface="Times New Roman" panose="02020603050405020304" pitchFamily="18" charset="0"/>
                <a:cs typeface="Times New Roman" panose="02020603050405020304" pitchFamily="18" charset="0"/>
              </a:rPr>
              <a:t>avg_procs</a:t>
            </a:r>
            <a:r>
              <a:rPr lang="en-US" sz="2200" dirty="0" smtClean="0">
                <a:latin typeface="Times New Roman" panose="02020603050405020304" pitchFamily="18" charset="0"/>
                <a:cs typeface="Times New Roman" panose="02020603050405020304" pitchFamily="18" charset="0"/>
              </a:rPr>
              <a:t> from </a:t>
            </a:r>
            <a:r>
              <a:rPr lang="en-US" sz="2200" dirty="0" err="1" smtClean="0">
                <a:latin typeface="Times New Roman" panose="02020603050405020304" pitchFamily="18" charset="0"/>
                <a:cs typeface="Times New Roman" panose="02020603050405020304" pitchFamily="18" charset="0"/>
              </a:rPr>
              <a:t>hostinfo</a:t>
            </a:r>
            <a:endParaRPr lang="en-US" sz="2200"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0"/>
            <a:ext cx="7901014" cy="500042"/>
          </a:xfrm>
        </p:spPr>
        <p:txBody>
          <a:bodyPr>
            <a:normAutofit/>
          </a:bodyPr>
          <a:lstStyle/>
          <a:p>
            <a:r>
              <a:rPr lang="en-US" altLang="en-US" sz="2400" b="1" dirty="0" smtClean="0">
                <a:solidFill>
                  <a:schemeClr val="tx1">
                    <a:lumMod val="95000"/>
                    <a:lumOff val="5000"/>
                  </a:schemeClr>
                </a:solidFill>
                <a:latin typeface="Times New Roman" pitchFamily="18" charset="0"/>
                <a:cs typeface="Times New Roman" pitchFamily="18" charset="0"/>
              </a:rPr>
              <a:t>Example: Differentiating Replication Strategies in Globule</a:t>
            </a:r>
            <a:endParaRPr lang="en-US" sz="2400" b="1" dirty="0">
              <a:solidFill>
                <a:schemeClr val="tx1">
                  <a:lumMod val="95000"/>
                  <a:lumOff val="5000"/>
                </a:schemeClr>
              </a:solidFill>
              <a:latin typeface="Times New Roman" pitchFamily="18" charset="0"/>
              <a:cs typeface="Times New Roman" pitchFamily="18" charset="0"/>
            </a:endParaRPr>
          </a:p>
        </p:txBody>
      </p:sp>
      <p:sp>
        <p:nvSpPr>
          <p:cNvPr id="3" name="Text Placeholder 2"/>
          <p:cNvSpPr>
            <a:spLocks noGrp="1"/>
          </p:cNvSpPr>
          <p:nvPr>
            <p:ph type="body" idx="1"/>
          </p:nvPr>
        </p:nvSpPr>
        <p:spPr>
          <a:xfrm>
            <a:off x="214282" y="6357958"/>
            <a:ext cx="8643998" cy="500042"/>
          </a:xfrm>
        </p:spPr>
        <p:txBody>
          <a:bodyPr/>
          <a:lstStyle/>
          <a:p>
            <a:pPr algn="ctr"/>
            <a:r>
              <a:rPr lang="en-US" altLang="en-US" sz="2000" b="0" dirty="0" smtClean="0">
                <a:solidFill>
                  <a:schemeClr val="tx1">
                    <a:lumMod val="95000"/>
                    <a:lumOff val="5000"/>
                  </a:schemeClr>
                </a:solidFill>
                <a:latin typeface="Times New Roman" pitchFamily="18" charset="0"/>
                <a:cs typeface="Times New Roman" pitchFamily="18" charset="0"/>
              </a:rPr>
              <a:t>Figure :- The edge-server model assumed by Globule.</a:t>
            </a:r>
          </a:p>
        </p:txBody>
      </p:sp>
      <p:pic>
        <p:nvPicPr>
          <p:cNvPr id="3074" name="Picture 2"/>
          <p:cNvPicPr>
            <a:picLocks noGrp="1" noChangeAspect="1" noChangeArrowheads="1"/>
          </p:cNvPicPr>
          <p:nvPr>
            <p:ph sz="quarter" idx="2"/>
          </p:nvPr>
        </p:nvPicPr>
        <p:blipFill>
          <a:blip r:embed="rId3"/>
          <a:stretch>
            <a:fillRect/>
          </a:stretch>
        </p:blipFill>
        <p:spPr bwMode="auto">
          <a:xfrm>
            <a:off x="214282" y="3286124"/>
            <a:ext cx="8715436" cy="3214710"/>
          </a:xfrm>
          <a:prstGeom prst="rect">
            <a:avLst/>
          </a:prstGeom>
          <a:noFill/>
          <a:ln w="9525">
            <a:noFill/>
            <a:miter lim="800000"/>
            <a:headEnd/>
            <a:tailEnd/>
          </a:ln>
          <a:effectLst/>
        </p:spPr>
      </p:pic>
      <p:sp>
        <p:nvSpPr>
          <p:cNvPr id="6" name="Content Placeholder 5"/>
          <p:cNvSpPr>
            <a:spLocks noGrp="1"/>
          </p:cNvSpPr>
          <p:nvPr>
            <p:ph sz="quarter" idx="4"/>
          </p:nvPr>
        </p:nvSpPr>
        <p:spPr>
          <a:xfrm>
            <a:off x="0" y="714356"/>
            <a:ext cx="9143999" cy="3143272"/>
          </a:xfrm>
        </p:spPr>
        <p:txBody>
          <a:bodyPr>
            <a:normAutofit/>
          </a:bodyPr>
          <a:lstStyle/>
          <a:p>
            <a:r>
              <a:rPr lang="en-US" dirty="0" smtClean="0">
                <a:latin typeface="Times New Roman" pitchFamily="18" charset="0"/>
                <a:cs typeface="Times New Roman" pitchFamily="18" charset="0"/>
              </a:rPr>
              <a:t>Globule assumes that the Internet can be viewed as an edge-server system. In particular, it assumes that requests can always be passed through an appropriate edge server, as shown in below figure.</a:t>
            </a:r>
          </a:p>
          <a:p>
            <a:r>
              <a:rPr lang="en-US" dirty="0" smtClean="0">
                <a:latin typeface="Times New Roman" pitchFamily="18" charset="0"/>
                <a:cs typeface="Times New Roman" pitchFamily="18" charset="0"/>
              </a:rPr>
              <a:t>This simple model allows an origin server to see what would have happened if it had placed a replica on a specific edge server.</a:t>
            </a:r>
          </a:p>
          <a:p>
            <a:r>
              <a:rPr lang="en-US" dirty="0" smtClean="0">
                <a:latin typeface="Times New Roman" pitchFamily="18" charset="0"/>
                <a:cs typeface="Times New Roman" pitchFamily="18" charset="0"/>
              </a:rPr>
              <a:t> On the one hand, placing a replica closer to clients would improve client-perceived latency, but this will induce traffic between the origin server and that edge server in order to keep a replica consistent with the original page.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228600" y="5638800"/>
            <a:ext cx="8686800" cy="914400"/>
          </a:xfrm>
        </p:spPr>
        <p:txBody>
          <a:bodyPr>
            <a:normAutofit/>
          </a:bodyPr>
          <a:lstStyle/>
          <a:p>
            <a:r>
              <a:rPr lang="en-US" altLang="en-US" sz="2400" dirty="0" smtClean="0">
                <a:latin typeface="Times New Roman" pitchFamily="18" charset="0"/>
                <a:cs typeface="Times New Roman" pitchFamily="18" charset="0"/>
              </a:rPr>
              <a:t>Figure:-The dependency between prediction accuracy and trace length.</a:t>
            </a:r>
          </a:p>
          <a:p>
            <a:endParaRPr lang="en-US" sz="2400" dirty="0"/>
          </a:p>
        </p:txBody>
      </p:sp>
      <p:pic>
        <p:nvPicPr>
          <p:cNvPr id="4099" name="Picture 3"/>
          <p:cNvPicPr>
            <a:picLocks noGrp="1" noChangeAspect="1" noChangeArrowheads="1"/>
          </p:cNvPicPr>
          <p:nvPr>
            <p:ph sz="half" idx="1"/>
          </p:nvPr>
        </p:nvPicPr>
        <p:blipFill>
          <a:blip r:embed="rId3"/>
          <a:srcRect/>
          <a:stretch>
            <a:fillRect/>
          </a:stretch>
        </p:blipFill>
        <p:spPr bwMode="auto">
          <a:xfrm>
            <a:off x="762000" y="1447800"/>
            <a:ext cx="7543800" cy="3581400"/>
          </a:xfrm>
          <a:prstGeom prst="rect">
            <a:avLst/>
          </a:prstGeom>
          <a:noFill/>
          <a:ln w="9525">
            <a:noFill/>
            <a:miter lim="800000"/>
            <a:headEnd/>
            <a:tailEnd/>
          </a:ln>
          <a:effectLst/>
        </p:spPr>
      </p:pic>
      <p:sp>
        <p:nvSpPr>
          <p:cNvPr id="4" name="Rectangle 3"/>
          <p:cNvSpPr/>
          <p:nvPr/>
        </p:nvSpPr>
        <p:spPr>
          <a:xfrm>
            <a:off x="952500" y="312003"/>
            <a:ext cx="7810500" cy="461665"/>
          </a:xfrm>
          <a:prstGeom prst="rect">
            <a:avLst/>
          </a:prstGeom>
        </p:spPr>
        <p:txBody>
          <a:bodyPr wrap="square">
            <a:spAutoFit/>
          </a:bodyPr>
          <a:lstStyle/>
          <a:p>
            <a:r>
              <a:rPr lang="en-US" altLang="en-US" sz="2400" b="1" dirty="0" smtClean="0">
                <a:latin typeface="Times New Roman" pitchFamily="18" charset="0"/>
                <a:cs typeface="Times New Roman" pitchFamily="18" charset="0"/>
              </a:rPr>
              <a:t>Dependency </a:t>
            </a:r>
            <a:r>
              <a:rPr lang="en-US" altLang="en-US" sz="2400" b="1" dirty="0">
                <a:latin typeface="Times New Roman" pitchFamily="18" charset="0"/>
                <a:cs typeface="Times New Roman" pitchFamily="18" charset="0"/>
              </a:rPr>
              <a:t>between prediction accuracy and trace length</a:t>
            </a:r>
            <a:endParaRPr lang="en-US" sz="2400" b="1"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57224" y="0"/>
            <a:ext cx="8286776" cy="577002"/>
          </a:xfrm>
        </p:spPr>
        <p:txBody>
          <a:bodyPr>
            <a:noAutofit/>
          </a:bodyPr>
          <a:lstStyle/>
          <a:p>
            <a:r>
              <a:rPr lang="en-US" altLang="en-US" sz="2400" b="1" dirty="0" smtClean="0">
                <a:solidFill>
                  <a:schemeClr val="tx1">
                    <a:lumMod val="95000"/>
                    <a:lumOff val="5000"/>
                  </a:schemeClr>
                </a:solidFill>
                <a:latin typeface="Times New Roman" pitchFamily="18" charset="0"/>
                <a:cs typeface="Times New Roman" pitchFamily="18" charset="0"/>
              </a:rPr>
              <a:t>Example: Automatic Component Repair Management in Jade</a:t>
            </a:r>
            <a:endParaRPr lang="en-US" sz="2400" b="1" dirty="0">
              <a:solidFill>
                <a:schemeClr val="tx1">
                  <a:lumMod val="95000"/>
                  <a:lumOff val="5000"/>
                </a:schemeClr>
              </a:solidFill>
              <a:latin typeface="Times New Roman" pitchFamily="18" charset="0"/>
              <a:cs typeface="Times New Roman" pitchFamily="18" charset="0"/>
            </a:endParaRPr>
          </a:p>
        </p:txBody>
      </p:sp>
      <p:sp>
        <p:nvSpPr>
          <p:cNvPr id="6" name="Content Placeholder 5"/>
          <p:cNvSpPr>
            <a:spLocks noGrp="1"/>
          </p:cNvSpPr>
          <p:nvPr>
            <p:ph idx="1"/>
          </p:nvPr>
        </p:nvSpPr>
        <p:spPr>
          <a:xfrm>
            <a:off x="457200" y="714356"/>
            <a:ext cx="8229600" cy="5610244"/>
          </a:xfrm>
        </p:spPr>
        <p:txBody>
          <a:bodyPr>
            <a:normAutofit/>
          </a:bodyPr>
          <a:lstStyle/>
          <a:p>
            <a:pPr marL="608013" indent="-608013">
              <a:lnSpc>
                <a:spcPct val="90000"/>
              </a:lnSpc>
              <a:spcBef>
                <a:spcPts val="700"/>
              </a:spcBef>
              <a:spcAft>
                <a:spcPts val="600"/>
              </a:spcAft>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Jade ,a java implementation framework that allows components to be added and removed at runtime.</a:t>
            </a:r>
          </a:p>
          <a:p>
            <a:pPr marL="608013" indent="-608013">
              <a:lnSpc>
                <a:spcPct val="90000"/>
              </a:lnSpc>
              <a:spcBef>
                <a:spcPts val="700"/>
              </a:spcBef>
              <a:spcAft>
                <a:spcPts val="600"/>
              </a:spcAft>
              <a:buNone/>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Steps required in a repair procedure:</a:t>
            </a:r>
          </a:p>
          <a:p>
            <a:pPr>
              <a:lnSpc>
                <a:spcPct val="90000"/>
              </a:lnSpc>
              <a:spcBef>
                <a:spcPts val="7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Terminate every binding between a component on a non-faulty node, and a component on the node that just failed.</a:t>
            </a:r>
          </a:p>
          <a:p>
            <a:pPr>
              <a:lnSpc>
                <a:spcPct val="90000"/>
              </a:lnSpc>
              <a:spcBef>
                <a:spcPts val="7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Request the node manager to start and add a new node to the domain.</a:t>
            </a:r>
          </a:p>
          <a:p>
            <a:pPr>
              <a:lnSpc>
                <a:spcPct val="90000"/>
              </a:lnSpc>
              <a:spcBef>
                <a:spcPts val="7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Configure the new node with exactly the same components as those on the crashed node.</a:t>
            </a:r>
          </a:p>
          <a:p>
            <a:pPr>
              <a:lnSpc>
                <a:spcPct val="90000"/>
              </a:lnSpc>
              <a:spcBef>
                <a:spcPts val="700"/>
              </a:spcBef>
              <a:spcAft>
                <a:spcPts val="600"/>
              </a:spcAft>
              <a:buClr>
                <a:srgbClr val="3333CC"/>
              </a:buClr>
              <a:buFont typeface="Wingdings" pitchFamily="2" charset="2"/>
              <a:buChar char="§"/>
              <a:tabLst>
                <a:tab pos="609600" algn="l"/>
                <a:tab pos="912813" algn="l"/>
                <a:tab pos="1827213" algn="l"/>
                <a:tab pos="2741613" algn="l"/>
                <a:tab pos="3656013" algn="l"/>
                <a:tab pos="4570413" algn="l"/>
                <a:tab pos="5484813" algn="l"/>
                <a:tab pos="6399213" algn="l"/>
                <a:tab pos="7313613" algn="l"/>
                <a:tab pos="8228013" algn="l"/>
                <a:tab pos="9142413" algn="l"/>
                <a:tab pos="10056813" algn="l"/>
              </a:tabLst>
              <a:defRPr/>
            </a:pPr>
            <a:r>
              <a:rPr lang="en-US" sz="2800" dirty="0" smtClean="0">
                <a:latin typeface="Times New Roman" pitchFamily="18" charset="0"/>
                <a:cs typeface="Times New Roman" pitchFamily="18" charset="0"/>
              </a:rPr>
              <a:t>Re-establish all the bindings that were previously terminated.</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533400" y="2667000"/>
            <a:ext cx="7854696" cy="1371600"/>
          </a:xfrm>
        </p:spPr>
        <p:txBody>
          <a:bodyPr>
            <a:normAutofit/>
          </a:bodyPr>
          <a:lstStyle/>
          <a:p>
            <a:pPr algn="ctr"/>
            <a:r>
              <a:rPr lang="en-US" sz="6000" b="1" dirty="0" smtClean="0">
                <a:latin typeface="Times New Roman" pitchFamily="18" charset="0"/>
                <a:cs typeface="Times New Roman" pitchFamily="18" charset="0"/>
              </a:rPr>
              <a:t>Thank you</a:t>
            </a:r>
            <a:endParaRPr lang="en-US" sz="6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3149</TotalTime>
  <Words>2619</Words>
  <Application>Microsoft Office PowerPoint</Application>
  <PresentationFormat>On-screen Show (4:3)</PresentationFormat>
  <Paragraphs>212</Paragraphs>
  <Slides>37</Slides>
  <Notes>7</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37</vt:i4>
      </vt:variant>
    </vt:vector>
  </HeadingPairs>
  <TitlesOfParts>
    <vt:vector size="47" baseType="lpstr">
      <vt:lpstr>Arial</vt:lpstr>
      <vt:lpstr>Calibri</vt:lpstr>
      <vt:lpstr>Calibri Light</vt:lpstr>
      <vt:lpstr>Constantia</vt:lpstr>
      <vt:lpstr>Times New Roman</vt:lpstr>
      <vt:lpstr>Wingdings</vt:lpstr>
      <vt:lpstr>Wingdings 2</vt:lpstr>
      <vt:lpstr>Flow</vt:lpstr>
      <vt:lpstr>1_Custom Design</vt:lpstr>
      <vt:lpstr>Custom Design</vt:lpstr>
      <vt:lpstr>        Distributed Systems UNIT-1.2 Architectures</vt:lpstr>
      <vt:lpstr>Topics in Architectures</vt:lpstr>
      <vt:lpstr>Basic definitions:-</vt:lpstr>
      <vt:lpstr>Architectural Styles</vt:lpstr>
      <vt:lpstr>  1) Layered architectures:-</vt:lpstr>
      <vt:lpstr>   2) Object-based architectures:- </vt:lpstr>
      <vt:lpstr>  3) Data-centered architectures:-</vt:lpstr>
      <vt:lpstr> 4) Event-based architectures:- </vt:lpstr>
      <vt:lpstr>System Architectures</vt:lpstr>
      <vt:lpstr>PowerPoint Presentation</vt:lpstr>
      <vt:lpstr> 1) Centralized Organization:- </vt:lpstr>
      <vt:lpstr>  Application Layering:-</vt:lpstr>
      <vt:lpstr>Multitiered Architectures:- </vt:lpstr>
      <vt:lpstr> i)Two-tiered architecture:-</vt:lpstr>
      <vt:lpstr>ii)Three-tiered architecture:-</vt:lpstr>
      <vt:lpstr>2)Decentralized Organization:-</vt:lpstr>
      <vt:lpstr>Structured Peer-to-Peer Architectures:- </vt:lpstr>
      <vt:lpstr>PowerPoint Presentation</vt:lpstr>
      <vt:lpstr>PowerPoint Presentation</vt:lpstr>
      <vt:lpstr>  Unstructured Peer-to-Peer Architectures:- </vt:lpstr>
      <vt:lpstr>   Topology Management of Overlay Networks:- </vt:lpstr>
      <vt:lpstr>    Superpeers:- </vt:lpstr>
      <vt:lpstr>  3) Hybrid forms:- </vt:lpstr>
      <vt:lpstr>   Edge-server Systems:- </vt:lpstr>
      <vt:lpstr>  Collaborative Distributed Systems:-</vt:lpstr>
      <vt:lpstr>Architectures v/s Middleware</vt:lpstr>
      <vt:lpstr>PowerPoint Presentation</vt:lpstr>
      <vt:lpstr>Interceptors:-</vt:lpstr>
      <vt:lpstr>General Approaches to Adaptive Software:-</vt:lpstr>
      <vt:lpstr>Self Management in Distributed Systems</vt:lpstr>
      <vt:lpstr>PowerPoint Presentation</vt:lpstr>
      <vt:lpstr>The Feedback Control Model:-</vt:lpstr>
      <vt:lpstr>Example: Systems Monitoring with Astrolabe</vt:lpstr>
      <vt:lpstr>Example: Differentiating Replication Strategies in Globule</vt:lpstr>
      <vt:lpstr>PowerPoint Presentation</vt:lpstr>
      <vt:lpstr>Example: Automatic Component Repair Management in Jade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akhila reddy</dc:creator>
  <cp:lastModifiedBy>Kiran</cp:lastModifiedBy>
  <cp:revision>145</cp:revision>
  <dcterms:created xsi:type="dcterms:W3CDTF">2006-08-16T00:00:00Z</dcterms:created>
  <dcterms:modified xsi:type="dcterms:W3CDTF">2024-10-22T10:21:14Z</dcterms:modified>
</cp:coreProperties>
</file>