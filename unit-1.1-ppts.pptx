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2"/>
  </p:notesMasterIdLst>
  <p:sldIdLst>
    <p:sldId id="256" r:id="rId3"/>
    <p:sldId id="314" r:id="rId4"/>
    <p:sldId id="312" r:id="rId5"/>
    <p:sldId id="313" r:id="rId6"/>
    <p:sldId id="315" r:id="rId7"/>
    <p:sldId id="311" r:id="rId8"/>
    <p:sldId id="257" r:id="rId9"/>
    <p:sldId id="260" r:id="rId10"/>
    <p:sldId id="258" r:id="rId11"/>
    <p:sldId id="259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96" r:id="rId20"/>
    <p:sldId id="268" r:id="rId21"/>
    <p:sldId id="278" r:id="rId22"/>
    <p:sldId id="316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9" r:id="rId32"/>
    <p:sldId id="280" r:id="rId33"/>
    <p:sldId id="282" r:id="rId34"/>
    <p:sldId id="283" r:id="rId35"/>
    <p:sldId id="284" r:id="rId36"/>
    <p:sldId id="285" r:id="rId37"/>
    <p:sldId id="286" r:id="rId38"/>
    <p:sldId id="317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10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91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31B78-73DF-419A-BB70-9DEC9E3AF256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25519-3B2E-48BC-903F-BDAC8755EA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77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A25519-3B2E-48BC-903F-BDAC8755EA3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7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A25519-3B2E-48BC-903F-BDAC8755EA3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4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A25519-3B2E-48BC-903F-BDAC8755EA3C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Scaling techniques</a:t>
            </a:r>
          </a:p>
          <a:p>
            <a:r>
              <a:rPr lang="en-US" dirty="0" err="1" smtClean="0"/>
              <a:t>Latecncy:Amount</a:t>
            </a:r>
            <a:r>
              <a:rPr lang="en-US" baseline="0" dirty="0" smtClean="0"/>
              <a:t> of time taken by data packet to transfer from one place </a:t>
            </a:r>
            <a:r>
              <a:rPr lang="en-US" baseline="0" smtClean="0"/>
              <a:t>to 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A25519-3B2E-48BC-903F-BDAC8755EA3C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9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A25519-3B2E-48BC-903F-BDAC8755EA3C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69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A25519-3B2E-48BC-903F-BDAC8755EA3C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73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536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536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86872-2905-495D-BAB9-2E2698EEA718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441E0-DE58-44ED-8ADF-1F1548620C8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eowulf.org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osix.org/txt_about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lobus.org/ogsa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785794"/>
            <a:ext cx="7851648" cy="325280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5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Distributed Systems</a:t>
            </a:r>
            <a:br>
              <a:rPr lang="en-US" sz="5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5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UNIT-1</a:t>
            </a:r>
            <a:br>
              <a:rPr lang="en-US" sz="5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5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r>
              <a:rPr lang="en-US" sz="6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43306" y="3786190"/>
            <a:ext cx="47820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Ref:Tanenbuam &amp; Van Steen</a:t>
            </a:r>
          </a:p>
          <a:p>
            <a:pPr algn="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Distributed Systems:Principles and Paradigms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-:Syllabus:-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715436" cy="607220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Course Objectives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lvl="0" indent="-514350" fontAlgn="base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acquire an understanding of the issues in distributed systems. 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learn about Naming and synchronization with different algorithms. 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study architectures and working of Distributed file systems, Distributed web-based system 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expose the students to distributed transaction management, security issues and replication. 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introduce Emerging trends in distributed computing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Course Outcomes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 the end of this course, the students will be able to 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 the principles of distributed systems and describe the problems and challenges associated with these principles 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Know about interposes communication and remote communication. 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Know Distributed Computing techniques, Synchronous and Processes. 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Know Distributed File Systems Apply Distributed web-based system. Understand the importance of security in distributed systems 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Know distributed service oriented architecture.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Know about emerging trends in distributed computing.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571480"/>
            <a:ext cx="8858312" cy="6143668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5000" b="1" dirty="0" smtClean="0">
                <a:latin typeface="Times New Roman" pitchFamily="18" charset="0"/>
                <a:cs typeface="Times New Roman" pitchFamily="18" charset="0"/>
              </a:rPr>
              <a:t>UNIT-I </a:t>
            </a:r>
          </a:p>
          <a:p>
            <a:pPr>
              <a:buNone/>
            </a:pPr>
            <a:r>
              <a:rPr lang="en-US" sz="5000" b="1" dirty="0" smtClean="0">
                <a:latin typeface="Times New Roman" pitchFamily="18" charset="0"/>
                <a:cs typeface="Times New Roman" pitchFamily="18" charset="0"/>
              </a:rPr>
              <a:t>Introduction: </a:t>
            </a:r>
            <a:r>
              <a:rPr lang="en-US" sz="5000" dirty="0" smtClean="0">
                <a:latin typeface="Times New Roman" pitchFamily="18" charset="0"/>
                <a:cs typeface="Times New Roman" pitchFamily="18" charset="0"/>
              </a:rPr>
              <a:t>Characteristics &amp; Properties of Distributes Systems – Taxonomy - Types of Distributed Systems Design goals – Transparency Issues. </a:t>
            </a:r>
          </a:p>
          <a:p>
            <a:pPr>
              <a:buNone/>
            </a:pPr>
            <a:r>
              <a:rPr lang="en-US" sz="5000" b="1" dirty="0" smtClean="0">
                <a:latin typeface="Times New Roman" pitchFamily="18" charset="0"/>
                <a:cs typeface="Times New Roman" pitchFamily="18" charset="0"/>
              </a:rPr>
              <a:t>Architectures: </a:t>
            </a:r>
            <a:r>
              <a:rPr lang="en-US" sz="5000" dirty="0" smtClean="0">
                <a:latin typeface="Times New Roman" pitchFamily="18" charset="0"/>
                <a:cs typeface="Times New Roman" pitchFamily="18" charset="0"/>
              </a:rPr>
              <a:t>Architectural Styles, System Architectures, Architectures versus Middleware, and Self- Management in Distributed Systems. </a:t>
            </a:r>
          </a:p>
          <a:p>
            <a:pPr>
              <a:buNone/>
            </a:pPr>
            <a:r>
              <a:rPr lang="en-US" sz="5000" b="1" dirty="0" smtClean="0">
                <a:latin typeface="Times New Roman" pitchFamily="18" charset="0"/>
                <a:cs typeface="Times New Roman" pitchFamily="18" charset="0"/>
              </a:rPr>
              <a:t>Processes: </a:t>
            </a:r>
            <a:r>
              <a:rPr lang="en-US" sz="5000" dirty="0" smtClean="0">
                <a:latin typeface="Times New Roman" pitchFamily="18" charset="0"/>
                <a:cs typeface="Times New Roman" pitchFamily="18" charset="0"/>
              </a:rPr>
              <a:t>Threads, Virtualization, Software Agents, Clients, Servers, and Code Migration. </a:t>
            </a:r>
          </a:p>
          <a:p>
            <a:pPr>
              <a:buNone/>
            </a:pPr>
            <a:r>
              <a:rPr lang="en-US" sz="5000" b="1" dirty="0" smtClean="0">
                <a:latin typeface="Times New Roman" pitchFamily="18" charset="0"/>
                <a:cs typeface="Times New Roman" pitchFamily="18" charset="0"/>
              </a:rPr>
              <a:t>Communication: </a:t>
            </a:r>
            <a:r>
              <a:rPr lang="en-US" sz="5000" dirty="0" smtClean="0">
                <a:latin typeface="Times New Roman" pitchFamily="18" charset="0"/>
                <a:cs typeface="Times New Roman" pitchFamily="18" charset="0"/>
              </a:rPr>
              <a:t>Inter process communication Mechanisms, Remote Procedure Call, Remote Method Invocation, Message-Oriented Communication, Stream- Oriented Communication, and Multicast Communication. </a:t>
            </a:r>
          </a:p>
          <a:p>
            <a:pPr>
              <a:buNone/>
            </a:pPr>
            <a:r>
              <a:rPr lang="en-US" sz="5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5000" b="1" dirty="0" smtClean="0">
                <a:latin typeface="Times New Roman" pitchFamily="18" charset="0"/>
                <a:cs typeface="Times New Roman" pitchFamily="18" charset="0"/>
              </a:rPr>
              <a:t>UNIT-II </a:t>
            </a:r>
          </a:p>
          <a:p>
            <a:pPr>
              <a:buNone/>
            </a:pPr>
            <a:r>
              <a:rPr lang="en-US" sz="5000" b="1" dirty="0" smtClean="0">
                <a:latin typeface="Times New Roman" pitchFamily="18" charset="0"/>
                <a:cs typeface="Times New Roman" pitchFamily="18" charset="0"/>
              </a:rPr>
              <a:t>Naming: </a:t>
            </a:r>
            <a:r>
              <a:rPr lang="en-US" sz="5000" dirty="0" smtClean="0">
                <a:latin typeface="Times New Roman" pitchFamily="18" charset="0"/>
                <a:cs typeface="Times New Roman" pitchFamily="18" charset="0"/>
              </a:rPr>
              <a:t>Names, Identifiers and Addresses, Flat Naming, Structured Naming and Attribute-Based Naming.  </a:t>
            </a:r>
          </a:p>
          <a:p>
            <a:pPr>
              <a:buNone/>
            </a:pPr>
            <a:r>
              <a:rPr lang="en-US" sz="5000" b="1" dirty="0" smtClean="0">
                <a:latin typeface="Times New Roman" pitchFamily="18" charset="0"/>
                <a:cs typeface="Times New Roman" pitchFamily="18" charset="0"/>
              </a:rPr>
              <a:t>Synchronization: </a:t>
            </a:r>
            <a:r>
              <a:rPr lang="en-US" sz="5000" dirty="0" smtClean="0">
                <a:latin typeface="Times New Roman" pitchFamily="18" charset="0"/>
                <a:cs typeface="Times New Roman" pitchFamily="18" charset="0"/>
              </a:rPr>
              <a:t>Clock Synchronization, Logical Clocks, Mutual Exclusion, Global Positioning of Nodes, and Election Algorithms. </a:t>
            </a:r>
          </a:p>
          <a:p>
            <a:pPr>
              <a:buNone/>
            </a:pPr>
            <a:r>
              <a:rPr lang="en-US" sz="5000" b="1" dirty="0" smtClean="0">
                <a:latin typeface="Times New Roman" pitchFamily="18" charset="0"/>
                <a:cs typeface="Times New Roman" pitchFamily="18" charset="0"/>
              </a:rPr>
              <a:t>Consistency and Replication: </a:t>
            </a:r>
            <a:r>
              <a:rPr lang="en-US" sz="5000" dirty="0" smtClean="0">
                <a:latin typeface="Times New Roman" pitchFamily="18" charset="0"/>
                <a:cs typeface="Times New Roman" pitchFamily="18" charset="0"/>
              </a:rPr>
              <a:t>Introduction, Data-Centric Consistency Models, Client-Centric Consistency Models, Replica Management, and Consistency Protocols. </a:t>
            </a:r>
          </a:p>
          <a:p>
            <a:pPr>
              <a:buNone/>
            </a:pPr>
            <a:r>
              <a:rPr lang="en-US" sz="42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536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71543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UNIT-III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Fault Tolerance: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Introduction to Fault Tolerance, Process Resilience, Reliable Client- Server Communication, Reliable Group Communication, Distributed Commit, and Recovery.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Distributed  Object-Based Systems: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CORBA, DCOM, GLOBE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Architecture, Processes, Communication, Naming, Synchronization, Consistency and Replication, Fault Tolerance, and Security.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UNIT-IV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Distributed File Systems: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File system, DFS- definition, Characteristics, Goals, SUN NFS-NFS Architecture, NFS Implementation, Protocols, The CODA file system-Design Overview, An Example , Design Rational, Implementation, The GOOGLE file system-Definition, Architectures, GFS Architecture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Distributed Web-Based Systems: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Traditional Web-Based Systems, Web Services Fundamentals, The  Apache Web Server, Web Server Clusters, Communication, HTTP Fundamentals, Simple Object Access Protocol SOAP, Web Proxy Caching, Replication for Web Hosting Systems-CDN’S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Service-Oriented Architectures, REST and Web Services </a:t>
            </a:r>
          </a:p>
          <a:p>
            <a:pPr>
              <a:buNone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3959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UNIT-V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Distributed Coordination-Based Systems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-- Architecture, Naming and Security 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Emerging Trends in Distributed Systems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 Emerging Trends Introduction, Grid Computing, Cloud Computing and its roots in distributed systems mechanisms and self-management of distributed systems, Virtualization, Service Oriented Architecture, The Future of Emerging Trends.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Map-Reduce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Example, Scaling, Programming Model, Apache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Hadoop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Amazon Elastic Map Reduce, Mapreduce.net, Pig and Hive.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-:Syllabus:-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Introduction: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Characteristics &amp; Properties of Distributes Systems – Taxonomy - Types of Distributed Systems Design goals – Transparency Issues.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Distributed systems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43400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Distributed systems definition:-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collection of independent computers that appears to its users as a single coherent system.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(or)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collection of autonomous computers linked by a computer network and equipped with distributed system software.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38200"/>
            <a:ext cx="8458200" cy="8382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Characteristics of D.S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28800"/>
            <a:ext cx="8763000" cy="4800600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Resource sharing</a:t>
            </a:r>
          </a:p>
          <a:p>
            <a:pPr marL="514350" indent="-514350">
              <a:buAutoNum type="arabicParenR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Openness</a:t>
            </a:r>
          </a:p>
          <a:p>
            <a:pPr marL="514350" indent="-514350">
              <a:buAutoNum type="arabicParenR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Concurrency</a:t>
            </a:r>
          </a:p>
          <a:p>
            <a:pPr marL="514350" indent="-514350">
              <a:buAutoNum type="arabicParenR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Scalability</a:t>
            </a:r>
          </a:p>
          <a:p>
            <a:pPr marL="514350" indent="-514350">
              <a:buAutoNum type="arabicParenR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Fault Tolerance</a:t>
            </a:r>
          </a:p>
          <a:p>
            <a:pPr marL="514350" indent="-514350">
              <a:buAutoNum type="arabicParenR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Transparency</a:t>
            </a:r>
          </a:p>
          <a:p>
            <a:pPr marL="514350" indent="-514350">
              <a:buAutoNum type="arabicParenR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2976" y="142852"/>
            <a:ext cx="8001024" cy="785818"/>
          </a:xfrm>
        </p:spPr>
        <p:txBody>
          <a:bodyPr/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 distributed system organized as middleware</a:t>
            </a:r>
            <a:endParaRPr lang="en-US" sz="3200" b="1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>
          <a:xfrm>
            <a:off x="357158" y="5857892"/>
            <a:ext cx="8501122" cy="1000108"/>
          </a:xfrm>
        </p:spPr>
        <p:txBody>
          <a:bodyPr>
            <a:norm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Figure 1-1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 A distributed system organized as middleware. The middleware layer runs on all  machines, and offers a uniform interface to the system</a:t>
            </a:r>
          </a:p>
          <a:p>
            <a:endParaRPr lang="en-US" dirty="0"/>
          </a:p>
        </p:txBody>
      </p:sp>
      <p:pic>
        <p:nvPicPr>
          <p:cNvPr id="5" name="Content Placeholder 4" descr="01-01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428596" y="1142984"/>
            <a:ext cx="8258204" cy="4429156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28600" y="5229492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spcBef>
                <a:spcPct val="20000"/>
              </a:spcBef>
              <a:buClr>
                <a:schemeClr val="accent2"/>
              </a:buClr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1538" cy="1071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142852"/>
            <a:ext cx="7543824" cy="1066800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Why we need Distributed Systems?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114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Share resources at remote sites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Price/performance advantages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Support applications with large computational requirements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Cooperative communities – collaborate with colleagues at a distance.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Working towards a common goal.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provide a viewpoint of being single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coherant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system to outside world.</a:t>
            </a:r>
          </a:p>
          <a:p>
            <a:pPr>
              <a:buFontTx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Applications of D.S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Finance &amp; commerce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Information society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Creative Industries &amp; Entertainment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Healthcare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Education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Transport &amp; Logistics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Science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Environment management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 of Distributed system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9143999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686800" cy="928694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Requirements of Distributed system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1319218"/>
            <a:ext cx="7543824" cy="503874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Security  and reliability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Consistency of replicated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Concurrent transaction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Fault tolerance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Advantages of Distribution System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752988"/>
          </a:xfrm>
        </p:spPr>
        <p:txBody>
          <a:bodyPr/>
          <a:lstStyle/>
          <a:p>
            <a:pPr marL="514350" indent="-51435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1) Reliability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Ensuring that the system continues to function correctly even in the face of partial failures.</a:t>
            </a:r>
          </a:p>
          <a:p>
            <a:pPr marL="514350" indent="-51435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2) Availability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the system is almost always ready to satisfy a user’s request.</a:t>
            </a:r>
          </a:p>
          <a:p>
            <a:pPr marL="1124712" lvl="2" indent="-45720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available system is not necessarily reliable: e.g., a system that is down one millisecond/hour has an availability of ~99.99%, but is not very reliable. </a:t>
            </a:r>
          </a:p>
          <a:p>
            <a:pPr marL="514350" indent="-51435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3) Fault Tolerance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The ability to continue to operate in spite of failures: hardware or software.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00" y="228600"/>
            <a:ext cx="7915300" cy="627223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Advantages of Distribution System Continued…</a:t>
            </a:r>
          </a:p>
          <a:p>
            <a:pPr marL="457200" indent="-45720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4) Inherently distributed applications.</a:t>
            </a:r>
          </a:p>
          <a:p>
            <a:pPr marL="457200" indent="-45720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5) Information sharing among geographically distributed users.</a:t>
            </a:r>
          </a:p>
          <a:p>
            <a:pPr marL="457200" indent="-45720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6) Resource sharing.</a:t>
            </a:r>
          </a:p>
          <a:p>
            <a:pPr marL="457200" indent="-45720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7) Better price performance ratio.</a:t>
            </a:r>
          </a:p>
          <a:p>
            <a:pPr marL="457200" indent="-45720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8) Shorter response time &amp;higher throughput.</a:t>
            </a:r>
          </a:p>
          <a:p>
            <a:pPr marL="457200" indent="-45720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9) Higher reliability &amp; availability against component failures.</a:t>
            </a:r>
          </a:p>
          <a:p>
            <a:pPr marL="457200" indent="-45720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10)Extensibility &amp; incremental growth.</a:t>
            </a:r>
          </a:p>
          <a:p>
            <a:pPr marL="457200" indent="-45720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11) Better flexibility.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357166"/>
            <a:ext cx="8072462" cy="571504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Disadvantages of Distribution System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7290" y="1524000"/>
            <a:ext cx="7329510" cy="48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1) Relevant software does not exist currently.</a:t>
            </a:r>
          </a:p>
          <a:p>
            <a:pPr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2) Security poses a problem due to easy access to all data.</a:t>
            </a:r>
          </a:p>
          <a:p>
            <a:pPr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3) Networking saturation may cause a hurdle in data transfer.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214290"/>
            <a:ext cx="8072462" cy="714380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Issues in designing distributed system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447800"/>
            <a:ext cx="7615262" cy="4876800"/>
          </a:xfrm>
        </p:spPr>
        <p:txBody>
          <a:bodyPr/>
          <a:lstStyle/>
          <a:p>
            <a:pPr marL="514350" indent="-514350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1) Transparency </a:t>
            </a:r>
          </a:p>
          <a:p>
            <a:pPr marL="514350" indent="-514350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2) Flexibility</a:t>
            </a:r>
          </a:p>
          <a:p>
            <a:pPr marL="514350" indent="-514350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3) Reliability</a:t>
            </a:r>
          </a:p>
          <a:p>
            <a:pPr marL="514350" indent="-514350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4) Performance</a:t>
            </a:r>
          </a:p>
          <a:p>
            <a:pPr marL="514350" indent="-514350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5) Scalability</a:t>
            </a:r>
          </a:p>
          <a:p>
            <a:pPr marL="514350" indent="-514350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6) Security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Middleware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763000" cy="6096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Middleware is software that acts as a bridge between applications, databases, and tools, allowing them to communicate and work together.   (or)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Middleware is software that lies between an operating system and the applications running on it. Essentially functioning as hidden translation layer, middleware enables communication and data management for distributed applications.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It's often called the "software glue" because it facilitates communication between applications that were not originally designed to work together.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Middleware Examples:-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CORBA (Common Object Request Broker Architecture)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DCOM (Distributed Component Object Management)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Sun’s ONC RPC (Remote Procedure Call)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RMI (Remote Method Invocation)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SOAP (Simple Object Access Protocol)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242" y="285728"/>
            <a:ext cx="8229600" cy="642942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Types of Distributed Systems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4422"/>
            <a:ext cx="8763000" cy="541497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Distributed Computing Systems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Clusters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Grids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Distributed Information Systems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Transaction Processing Systems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Enterprise Application Integration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Distributed Embedded Systems/Distributed Pervasive Systems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Home systems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Electronic Health care systems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Sensor networks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467368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Distributed Computing Systems:-</a:t>
            </a:r>
          </a:p>
          <a:p>
            <a:pPr marL="514350" indent="-51435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distributed system uses group of computers, that share a common computation problem among them to generate an efficient result in short time span.</a:t>
            </a:r>
          </a:p>
          <a:p>
            <a:pPr marL="514350" indent="-51435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Used for high performance computing tasks.</a:t>
            </a:r>
          </a:p>
          <a:p>
            <a:pPr marL="514350" indent="-51435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We have two types of distributed computing systems:-</a:t>
            </a:r>
          </a:p>
          <a:p>
            <a:pPr marL="2462022" lvl="7" indent="-51435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Clusters</a:t>
            </a:r>
          </a:p>
          <a:p>
            <a:pPr marL="2462022" lvl="7" indent="-51435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Grids</a:t>
            </a:r>
          </a:p>
          <a:p>
            <a:pPr marL="907542" lvl="1" indent="-51435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907542" lvl="1" indent="-51435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472518" cy="585791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200" b="1" dirty="0" smtClean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itchFamily="18" charset="0"/>
              </a:rPr>
              <a:t>i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itchFamily="18" charset="0"/>
              </a:rPr>
              <a:t>) Cluster Computing:-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It’s a form of distributed computing system ,where a group of computers are linked together in a network to perform a single task and act as a single entity.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collection of similar processors (PCs, workstations) running the same operating system, connected by a high-speed network.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Cluster Computing is used for parallel programming in which a single (compute intensive) program is run in parallel on multiple machines. 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performs load balancing.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Only the disadvantage is all systems are should be homogenous.</a:t>
            </a:r>
          </a:p>
          <a:p>
            <a:pPr>
              <a:lnSpc>
                <a:spcPct val="9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886728" cy="1000108"/>
          </a:xfrm>
        </p:spPr>
        <p:txBody>
          <a:bodyPr>
            <a:normAutofit/>
          </a:bodyPr>
          <a:lstStyle/>
          <a:p>
            <a:pPr algn="ctr"/>
            <a:r>
              <a:rPr lang="en-US" sz="27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Example of a cluster computing system</a:t>
            </a:r>
            <a:r>
              <a:rPr lang="en-US" sz="5400" dirty="0" smtClean="0"/>
              <a:t/>
            </a:r>
            <a:br>
              <a:rPr lang="en-US" sz="5400" dirty="0" smtClean="0"/>
            </a:b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685800" y="6000768"/>
            <a:ext cx="8029604" cy="642942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 :- An example of a cluster computing system</a:t>
            </a:r>
            <a:endParaRPr lang="en-US" sz="2000" dirty="0"/>
          </a:p>
        </p:txBody>
      </p:sp>
      <p:pic>
        <p:nvPicPr>
          <p:cNvPr id="4" name="Picture 4" descr="01-0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642910" y="928670"/>
            <a:ext cx="8043890" cy="4572032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58240" cy="1226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214290"/>
            <a:ext cx="7615262" cy="92869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Clusters –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Beowulf model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9218"/>
            <a:ext cx="8229600" cy="4967302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Linux-based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High performance computing(HPC) tasks.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Master-slave paradigm</a:t>
            </a:r>
          </a:p>
          <a:p>
            <a:pPr lvl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One processor is the master; allocates tasks to other processors, maintains batch queue of submitted jobs, handles interface to users</a:t>
            </a:r>
          </a:p>
          <a:p>
            <a:pPr lvl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Master has libraries to handle message-based communication or other features (the middleware).</a:t>
            </a:r>
          </a:p>
          <a:p>
            <a:pPr>
              <a:buNone/>
            </a:pP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00" y="71414"/>
            <a:ext cx="7686700" cy="1143000"/>
          </a:xfrm>
        </p:spPr>
        <p:txBody>
          <a:bodyPr/>
          <a:lstStyle/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Clusters –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MOSIX model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662" y="1500174"/>
            <a:ext cx="7758138" cy="4824426"/>
          </a:xfrm>
        </p:spPr>
        <p:txBody>
          <a:bodyPr>
            <a:normAutofit fontScale="925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Provides a symmetric, rather than hierarchical paradigm </a:t>
            </a:r>
          </a:p>
          <a:p>
            <a:pPr lvl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High degree of distribution transparency (single system image)</a:t>
            </a:r>
          </a:p>
          <a:p>
            <a:pPr lvl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Processes can migrate between nodes dynamically and preemptively . Migration is automatic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Used to manage Linux clusters.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MOSIX in cluster computing models simplifies the management of distributed systems, improves load balancing, enhances scalability, and ensures efficient resource utilization across nodes.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642918"/>
            <a:ext cx="7615262" cy="56816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ii) Grid Computing Systems:-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Modeled loosely on the electrical grid.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Highly heterogeneous with respect to hardware, software, networks, security policies, etc.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Resources from different organizations are brought together to allow the collaboration of a group of people or institutions. That collaboration is virtual organization.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Grids supports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virtual organizations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a collaboration of users who pool resources (servers, storage, databases) and share them.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Grid software is concerned with managing sharing across administrative domains.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Architecture for Grid Systems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3"/>
          </p:nvPr>
        </p:nvSpPr>
        <p:spPr>
          <a:xfrm>
            <a:off x="214282" y="5643578"/>
            <a:ext cx="4071966" cy="1000132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Figure:-A layered architecture for grid computing systems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"/>
          </p:nvPr>
        </p:nvSpPr>
        <p:spPr>
          <a:xfrm>
            <a:off x="4071934" y="1071546"/>
            <a:ext cx="5072066" cy="550072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Fabric layer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interfaces to local resources.</a:t>
            </a:r>
          </a:p>
          <a:p>
            <a:pPr>
              <a:lnSpc>
                <a:spcPct val="8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Connectivity layer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contains communication protocols that supports usage of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multiple resources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 e.g., access a remote resource or transfer data between sites</a:t>
            </a:r>
          </a:p>
          <a:p>
            <a:pPr>
              <a:lnSpc>
                <a:spcPct val="8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Resource layer: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manages a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single resource</a:t>
            </a:r>
          </a:p>
          <a:p>
            <a:pPr>
              <a:lnSpc>
                <a:spcPct val="8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Collective layer: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resource discovery, allocation, etc.</a:t>
            </a:r>
          </a:p>
          <a:p>
            <a:pPr>
              <a:lnSpc>
                <a:spcPct val="8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Applications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applications that operate with in a virtual organization. use the grid resources.</a:t>
            </a:r>
          </a:p>
          <a:p>
            <a:pPr>
              <a:lnSpc>
                <a:spcPct val="8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collective, connectivity and resource layers together form the middleware layer for a grid</a:t>
            </a:r>
          </a:p>
          <a:p>
            <a:endParaRPr lang="en-US" dirty="0"/>
          </a:p>
        </p:txBody>
      </p:sp>
      <p:pic>
        <p:nvPicPr>
          <p:cNvPr id="10" name="Picture 7" descr="01-07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>
          <a:xfrm>
            <a:off x="142845" y="1000108"/>
            <a:ext cx="3571900" cy="4643469"/>
          </a:xfrm>
          <a:noFill/>
          <a:ln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57242" y="533384"/>
            <a:ext cx="8229600" cy="6096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OGSA – Another Grid Architecture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Open Grid Services Architecture (OGSA)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is a service-oriented architecture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 architecture of the OGSA model is more complex than the previous layered model.</a:t>
            </a:r>
          </a:p>
          <a:p>
            <a:pPr lvl="2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Layered models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are relatively simple, with clear and distinct layers handling separate concerns.</a:t>
            </a:r>
          </a:p>
          <a:p>
            <a:pPr lvl="2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OGSA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necessitates more components, more interdependencies, and a higher level of flexibility, contributing to its increased architectural complexity.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/>
          <a:lstStyle/>
          <a:p>
            <a:pPr marL="514350" indent="-514350"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2) Distributed Information Systems:-</a:t>
            </a:r>
          </a:p>
          <a:p>
            <a:pPr>
              <a:lnSpc>
                <a:spcPct val="90000"/>
              </a:lnSpc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It is used to keep track of the information running over the network , which are distributed among various entities.</a:t>
            </a:r>
          </a:p>
          <a:p>
            <a:pPr>
              <a:lnSpc>
                <a:spcPct val="90000"/>
              </a:lnSpc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Business-oriented.</a:t>
            </a:r>
          </a:p>
          <a:p>
            <a:pPr marL="514350" indent="-514350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Two types discussed here: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Transaction Processing Systems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Enterprise Application Integration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 marL="571500" indent="-57150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)Transaction Processing Systems:-</a:t>
            </a:r>
          </a:p>
          <a:p>
            <a:pPr marL="571500" indent="-57150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Provide a highly structured client-server approach for database applications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Transactions are the communication model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Obey the ACID properties:-</a:t>
            </a:r>
          </a:p>
          <a:p>
            <a:pPr lvl="1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Atomic:-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the outside world, the transaction happens indivisibly </a:t>
            </a:r>
          </a:p>
          <a:p>
            <a:pPr lvl="1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Consistent:-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transaction does not violate system invariants. </a:t>
            </a:r>
          </a:p>
          <a:p>
            <a:pPr lvl="1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Isolated (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):-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Concurrent transactions do not interfere with each other.</a:t>
            </a:r>
          </a:p>
          <a:p>
            <a:pPr lvl="1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Durable:-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Once a transaction commits , the changes are permanent.</a:t>
            </a:r>
          </a:p>
          <a:p>
            <a:pPr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181600"/>
            <a:ext cx="8229600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 :- Example primitives for transactions.</a:t>
            </a:r>
            <a:r>
              <a:rPr lang="en-US" sz="5400" dirty="0" smtClean="0"/>
              <a:t/>
            </a:r>
            <a:br>
              <a:rPr lang="en-US" sz="5400" dirty="0" smtClean="0"/>
            </a:br>
            <a:endParaRPr lang="en-US" dirty="0"/>
          </a:p>
        </p:txBody>
      </p:sp>
      <p:pic>
        <p:nvPicPr>
          <p:cNvPr id="4" name="Picture 4" descr="01-08T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19201"/>
            <a:ext cx="8229600" cy="3809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57800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Figure:-A nested transaction.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4" descr="01-09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99552" y="761999"/>
            <a:ext cx="5344896" cy="4191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0"/>
            <a:ext cx="7929618" cy="785794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role of a TP monitor in distributed systems </a:t>
            </a:r>
            <a:endParaRPr lang="en-US" sz="3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28596" y="4357694"/>
            <a:ext cx="8358246" cy="571504"/>
          </a:xfrm>
        </p:spPr>
        <p:txBody>
          <a:bodyPr/>
          <a:lstStyle/>
          <a:p>
            <a:pPr algn="ctr"/>
            <a:r>
              <a:rPr lang="en-US" sz="2000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Figure:-The role of a TP monitor in distributed systems </a:t>
            </a:r>
            <a:endParaRPr lang="en-US" sz="2000" b="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 bwMode="auto">
          <a:xfrm>
            <a:off x="428596" y="1000108"/>
            <a:ext cx="8358246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4282" y="5000636"/>
            <a:ext cx="8715435" cy="15716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Nested transactions are suitable for distributed systems.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Transaction processing monitor may interface between client and multiple data bases.</a:t>
            </a:r>
            <a:endParaRPr lang="en-US" sz="2400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0100" cy="1071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115328" cy="5486400"/>
          </a:xfrm>
        </p:spPr>
        <p:txBody>
          <a:bodyPr>
            <a:normAutofit/>
          </a:bodyPr>
          <a:lstStyle/>
          <a:p>
            <a:pPr marL="274320" lvl="1" indent="-274320">
              <a:buClr>
                <a:schemeClr val="accent3"/>
              </a:buClr>
              <a:buSzPct val="95000"/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ii) Enterprise Application Integration:-</a:t>
            </a:r>
          </a:p>
          <a:p>
            <a:pPr marL="274320" lvl="1" indent="-274320">
              <a:buClr>
                <a:schemeClr val="accent3"/>
              </a:buClr>
              <a:buSzPct val="95000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Enterprise application integration is the process of connecting an organization’s applications , systems and databases to enable data sharing and communication.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Supports a less-structured approach (as compared to transaction-based systems).</a:t>
            </a:r>
          </a:p>
          <a:p>
            <a:pPr lvl="2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Note:- transaction processing system is tightly coupled-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structure,because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its using strict ACID  process 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Communication mechanisms to support this include CORBA, Remote Procedure Call (RPC) and Remote Method Invocation (RMI).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Bussiness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-oriented.</a:t>
            </a:r>
          </a:p>
          <a:p>
            <a:pPr marL="274320" lvl="1" indent="-274320">
              <a:buClr>
                <a:schemeClr val="accent3"/>
              </a:buClr>
              <a:buSzPct val="95000"/>
              <a:buNone/>
            </a:pP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57800"/>
            <a:ext cx="8229600" cy="914400"/>
          </a:xfrm>
        </p:spPr>
        <p:txBody>
          <a:bodyPr>
            <a:normAutofit/>
          </a:bodyPr>
          <a:lstStyle/>
          <a:p>
            <a:pPr algn="ctr"/>
            <a:r>
              <a:rPr lang="en-US" sz="27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Figure:-Middleware as a communication facilitator in enterprise application integration.</a:t>
            </a:r>
            <a:endParaRPr lang="en-US" dirty="0"/>
          </a:p>
        </p:txBody>
      </p:sp>
      <p:pic>
        <p:nvPicPr>
          <p:cNvPr id="4" name="Picture 4" descr="01-1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92770" y="990600"/>
            <a:ext cx="8158459" cy="3962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839200" cy="6096000"/>
          </a:xfrm>
        </p:spPr>
        <p:txBody>
          <a:bodyPr/>
          <a:lstStyle/>
          <a:p>
            <a:pPr marL="514350" indent="-514350"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3) Distributed Embedded Systems/ Distributed Pervasive Systems:-</a:t>
            </a:r>
          </a:p>
          <a:p>
            <a:r>
              <a:rPr lang="en-US" sz="2800" dirty="0" smtClean="0"/>
              <a:t>The first two types of systems are characterized by their stability: nodes and network connections are more or less fixed</a:t>
            </a:r>
          </a:p>
          <a:p>
            <a:r>
              <a:rPr lang="en-US" sz="2800" dirty="0" smtClean="0"/>
              <a:t>This type of system is likely to incorporate small, battery-powered, mobile devices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dirty="0" smtClean="0"/>
              <a:t>Home systems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dirty="0" smtClean="0"/>
              <a:t>Electronic health care systems – patient monitoring</a:t>
            </a:r>
          </a:p>
          <a:p>
            <a:pPr marL="907542" lvl="1" indent="-514350">
              <a:buFont typeface="+mj-lt"/>
              <a:buAutoNum type="romanLcPeriod"/>
            </a:pPr>
            <a:r>
              <a:rPr lang="en-US" dirty="0" smtClean="0"/>
              <a:t>Sensor networks – data collection, surveillance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" y="6072206"/>
            <a:ext cx="8991600" cy="642942"/>
          </a:xfrm>
        </p:spPr>
        <p:txBody>
          <a:bodyPr>
            <a:normAutofit/>
          </a:bodyPr>
          <a:lstStyle/>
          <a:p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Figure:-Monitoring a person in a pervasive electronic health care system, using (a) a local hub or (b) a continuous wireless connection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5334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itchFamily="18" charset="0"/>
              </a:rPr>
              <a:t>ii) Electronic Health Care Systems:-</a:t>
            </a: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Multiple sensors are placed on the body, such as: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 sensor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Tracks body posture or tilt, often used in fall detection systems.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sensor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Monitors heart activity and can detect irregularities in heart rate or rhythm.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sensors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Detect movement or physical activity, helping to monitor activity levels, walking patterns, etc.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PDA (Personal Digital Assistant)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Acts as a central device that collects, stores, and processes the data from all the sensors.</a:t>
            </a:r>
          </a:p>
          <a:p>
            <a:pPr>
              <a:buNone/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4" descr="01-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875" y="3071810"/>
            <a:ext cx="8607425" cy="30003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29600" cy="428628"/>
          </a:xfrm>
        </p:spPr>
        <p:txBody>
          <a:bodyPr>
            <a:normAutofit fontScale="90000"/>
          </a:bodyPr>
          <a:lstStyle/>
          <a:p>
            <a:r>
              <a:rPr lang="en-US" sz="27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Electronic Health Care Systems continued….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Transmitter</a:t>
            </a:r>
            <a:r>
              <a:rPr lang="en-US" b="1" dirty="0" smtClean="0"/>
              <a:t>:-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unit likely collects data from the sensors and transmits to an external system.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GPRS/UMTS:-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General Packet Radio Services / Universal Mobile Telecommunication System 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these are wireless communication technologies , enabling the transmitter to send data to an External storage system.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External storage system:-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Such as cloud storage and etc..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Both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a&amp;b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figures shows a Body-Area Network(BAN) used to monitor physiological signals.</a:t>
            </a:r>
          </a:p>
          <a:p>
            <a:pPr lvl="2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229600" cy="838200"/>
          </a:xfrm>
        </p:spPr>
        <p:txBody>
          <a:bodyPr>
            <a:normAutofit/>
          </a:bodyPr>
          <a:lstStyle/>
          <a:p>
            <a:r>
              <a:rPr lang="en-US" sz="2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Figure:-Organizing a sensor network database, while storing and processing data (a) only at the operator’s site or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43400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iii) Sensor Networks:-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4" descr="01-13"/>
          <p:cNvPicPr>
            <a:picLocks noChangeAspect="1" noChangeArrowheads="1"/>
          </p:cNvPicPr>
          <p:nvPr/>
        </p:nvPicPr>
        <p:blipFill>
          <a:blip r:embed="rId2"/>
          <a:srcRect b="52452"/>
          <a:stretch>
            <a:fillRect/>
          </a:stretch>
        </p:blipFill>
        <p:spPr bwMode="auto">
          <a:xfrm>
            <a:off x="563563" y="1523999"/>
            <a:ext cx="8153400" cy="34972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05400"/>
            <a:ext cx="8229600" cy="685800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 :-Organizing a sensor network database, while storing and processing data … or (b) only at the sensors.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4" descr="01-1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t="52023"/>
          <a:stretch>
            <a:fillRect/>
          </a:stretch>
        </p:blipFill>
        <p:spPr bwMode="auto">
          <a:xfrm>
            <a:off x="457200" y="914401"/>
            <a:ext cx="82296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Distributed System Goals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191000"/>
          </a:xfrm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Resource Accessibility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Distribution Transparency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Openness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Scalability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3340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1) Goals -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Resource Accessibility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make it easy for users to access remote resources (printers, data files, web pages, CPU cycles) and share them with other users in a controlled way.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 sharing resource we can optimize the cost of functioning.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Performance enhancement – due to multiple processors; also due to ease of collaboration and info exchange</a:t>
            </a:r>
          </a:p>
          <a:p>
            <a:pPr lvl="1">
              <a:lnSpc>
                <a:spcPct val="110000"/>
              </a:lnSpc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Groupware: tools to support collaboration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Resource sharing introduces security problems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836712"/>
            <a:ext cx="8229600" cy="48006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2) Goals – Distribution Transparency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Distributed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hides the fact that its processes and resources are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hysically distributed across multiple computers.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distributed system that appears to its users &amp; applications to be a single computer system is said to be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transparent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Users &amp; app’s should be able to access remote resources in the same way they access local resources.</a:t>
            </a:r>
          </a:p>
          <a:p>
            <a:pPr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Types of Transparency:-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0" y="5638800"/>
            <a:ext cx="9144000" cy="716124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Figure :- Different forms of transparency in a distributed system.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078" name="Picture 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95400"/>
            <a:ext cx="8382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588" y="692696"/>
            <a:ext cx="8229600" cy="5715000"/>
          </a:xfrm>
        </p:spPr>
        <p:txBody>
          <a:bodyPr/>
          <a:lstStyle/>
          <a:p>
            <a:pPr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Degree of Transparency:-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Trade-off: transparency versus other factors</a:t>
            </a:r>
          </a:p>
          <a:p>
            <a:pPr lvl="1">
              <a:lnSpc>
                <a:spcPct val="90000"/>
              </a:lnSpc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Reduced performance: multiple attempts to contact a remote server can slow down the system – should you report failure and let user cancel request?</a:t>
            </a:r>
          </a:p>
          <a:p>
            <a:pPr lvl="1">
              <a:lnSpc>
                <a:spcPct val="90000"/>
              </a:lnSpc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Convenience: direct the print request to my local printer, not one on the next floor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Too much emphasis on transparency may prevent the user from understanding system behavior.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15000"/>
          </a:xfrm>
        </p:spPr>
        <p:txBody>
          <a:bodyPr/>
          <a:lstStyle/>
          <a:p>
            <a:pPr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3) Goal – Openness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open distributed system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“…offers services according to standard rules that describe the syntax and semantics of those services.”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Compare to network protocols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Open distributed system should be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flexible,which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makes it easy to add components without affecting already existing components.</a:t>
            </a:r>
          </a:p>
          <a:p>
            <a:pPr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Interface Definition Language (IDL):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used to describe the interface to a distributed system (parameters, return values, etc.)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1546"/>
            <a:ext cx="8229600" cy="54102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Interoperability:-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ability of two different systems or applications to work together “… by relying on each other’s services as specified by a common standard.”</a:t>
            </a:r>
          </a:p>
          <a:p>
            <a:pPr lvl="1" algn="just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Any process that needs a service should be able to communicate with a process that provides the service.</a:t>
            </a:r>
          </a:p>
          <a:p>
            <a:pPr lvl="1" algn="just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Multiple implementations of the same service may be provided, as long as the interface is maintained</a:t>
            </a:r>
          </a:p>
          <a:p>
            <a:pPr algn="just"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Portability:-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ability of an application designed to run on one distributed system to run on another system which implements the same interface.</a:t>
            </a:r>
          </a:p>
          <a:p>
            <a:pPr algn="just"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Extensibility:-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Easy to add new components, features</a:t>
            </a: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4800"/>
            <a:ext cx="8991600" cy="6324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4) Goal – Scalability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 different Dimensions that may scale</a:t>
            </a:r>
          </a:p>
          <a:p>
            <a:pPr lvl="1">
              <a:buNone/>
            </a:pP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 With respect to size:-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we can easily add more users and resources to the system.</a:t>
            </a:r>
          </a:p>
          <a:p>
            <a:pPr lvl="1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ii) Geographical scalable system:-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geographically scalable system is one which the users and resources may lie far apart.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iii) Administratively scalable:-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system can be administratively scalable , meaning that it can still be easy to manage even if it spans many independent administrative organizations.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scalable system still performs well as it scales up along any of the three dimensions.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Unfortunately , a system that is scalable in one or more of these dimensions often exhibits some loss of performance as the system scales up.</a:t>
            </a:r>
          </a:p>
          <a:p>
            <a:pPr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610600" cy="6248400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Scalability problems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 Scaling with respect to size:-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a) Centralized algorithms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b) Decentralized algorithms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a) Centralized algorithms:-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Scalability is negatively affected when the system is based on</a:t>
            </a:r>
          </a:p>
          <a:p>
            <a:pPr lvl="1">
              <a:lnSpc>
                <a:spcPct val="8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Centralized server: one for all users</a:t>
            </a:r>
          </a:p>
          <a:p>
            <a:pPr lvl="1">
              <a:lnSpc>
                <a:spcPct val="8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Centralized data: a single data base for all users</a:t>
            </a:r>
          </a:p>
          <a:p>
            <a:pPr lvl="1">
              <a:lnSpc>
                <a:spcPct val="8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Centralized algorithms: one site collects all information, processes it, distributes the results to all sites.</a:t>
            </a:r>
          </a:p>
          <a:p>
            <a:pPr lvl="1">
              <a:lnSpc>
                <a:spcPct val="8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Finally , centralized algorithms are also a bad idea, in a large distributed system.</a:t>
            </a:r>
          </a:p>
          <a:p>
            <a:pPr lvl="2">
              <a:lnSpc>
                <a:spcPct val="8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Complete knowledge: good</a:t>
            </a:r>
          </a:p>
          <a:p>
            <a:pPr lvl="2">
              <a:lnSpc>
                <a:spcPct val="8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Time and network traffic: bad</a:t>
            </a:r>
          </a:p>
          <a:p>
            <a:pPr lvl="2">
              <a:lnSpc>
                <a:spcPct val="80000"/>
              </a:lnSpc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836712"/>
            <a:ext cx="8452048" cy="5792688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b) Decentralized algorithms:-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Decentralized algorithm have the following characteristics, which are distinguish them from centralized algorithms:-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1) No machine has complete information about the system state.</a:t>
            </a:r>
          </a:p>
          <a:p>
            <a:pPr>
              <a:lnSpc>
                <a:spcPct val="9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2) Machines make decisions based only on local information.</a:t>
            </a:r>
          </a:p>
          <a:p>
            <a:pPr>
              <a:lnSpc>
                <a:spcPct val="9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3) Failure of a single machine doesn’t ruin the algorithm.</a:t>
            </a:r>
          </a:p>
          <a:p>
            <a:pPr>
              <a:lnSpc>
                <a:spcPct val="9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4) There is no assumption that a global clock exists.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764704"/>
            <a:ext cx="8375848" cy="5504656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ii) Geographic Scalability:-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Early distributed systems ran on LANs, relied 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synchronous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communication.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May be too slow for wide-area networks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Wide-area network communication is unreliable, point-to-point; LAN communication is based on broadcast.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Consider how this affects an attempt to locate a particular kind of service</a:t>
            </a:r>
          </a:p>
          <a:p>
            <a:pPr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980728"/>
            <a:ext cx="8003232" cy="5343872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iii) Administrative scalable:-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Different domains may have different policies about resource usage, management, security, etc.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Trust often stops at administrative boundaries.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674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Scaling Techniques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Scalability affects performance more than anything else.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Three techniques to improve scalability: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1) Hiding communication latencies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2) Distribution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3) Replication</a:t>
            </a:r>
          </a:p>
          <a:p>
            <a:pPr algn="ctr">
              <a:buNone/>
            </a:pP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1) Hiding communication latencies:-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Hiding communication latencies is important to achieve geographical scalability.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Structure applications to use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asynchronous communication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(no blocking for replies)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waiting for one answer, do something else; create one thread to wait for the reply and let other threads continue to process or schedule another task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Download part of the computation to the requesting platform to speed up processing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Filling in forms to access a DB: send a separate message for each field, or download form/code and submit finished version.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38800"/>
            <a:ext cx="8229600" cy="83820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 :- The difference between letting (a) a server or (b) a client check forms as they are being filled.</a:t>
            </a:r>
            <a:b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4" descr="01-0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43608" y="899166"/>
            <a:ext cx="7795592" cy="4663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908720"/>
            <a:ext cx="7715200" cy="541588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2) Distribution:-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Instead of one centralized service, divide into parts and distribute geographically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 DNS (Domain Name System) namespace is organized as a tree of domains; each domain is divided into zones; names in each zone are handled by a different name server.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WWW consists of many (millions?) of servers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229600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2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Figure:- an example of dividing the DNS name space into zones.</a:t>
            </a:r>
            <a:endParaRPr lang="en-US" sz="2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4" descr="01-0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27584" y="988346"/>
            <a:ext cx="7859215" cy="4802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403648" y="524799"/>
            <a:ext cx="54726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Splitting of DNS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ame Space 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764704"/>
            <a:ext cx="7715200" cy="586469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itchFamily="18" charset="0"/>
              </a:rPr>
              <a:t>3) Replication:-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Replication: multiple identical copies of something.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 availability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performance through load balancing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May avoid latency by improving proximity of resource</a:t>
            </a: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Caching:-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special form of replication.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Normally creates a (temporary) replica of something closer to the user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decides to cache, system decides to replicate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 is more permanent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lead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764704"/>
            <a:ext cx="8229600" cy="5943600"/>
          </a:xfrm>
        </p:spPr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Pitfalls of DS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mistakes as the following false assumptions that everyone makes when developing a distributed application for the first time:-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1) The network is reliable.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2) The network is secure.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3) The network is homogeneous.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4) The topology does not change.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5) Latency is zero.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6) Bandwidth is infinite.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7) Transport cost is zero.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8) There is one administrator.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305800" cy="1143000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536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3233</TotalTime>
  <Words>3399</Words>
  <Application>Microsoft Office PowerPoint</Application>
  <PresentationFormat>On-screen Show (4:3)</PresentationFormat>
  <Paragraphs>348</Paragraphs>
  <Slides>59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</vt:lpstr>
      <vt:lpstr>Calibri</vt:lpstr>
      <vt:lpstr>Constantia</vt:lpstr>
      <vt:lpstr>Times New Roman</vt:lpstr>
      <vt:lpstr>Wingdings</vt:lpstr>
      <vt:lpstr>Wingdings 2</vt:lpstr>
      <vt:lpstr>Flow</vt:lpstr>
      <vt:lpstr>Custom Design</vt:lpstr>
      <vt:lpstr>        Distributed Systems UNIT-1 Introduction </vt:lpstr>
      <vt:lpstr>-:Syllabus:-</vt:lpstr>
      <vt:lpstr>PowerPoint Presentation</vt:lpstr>
      <vt:lpstr>PowerPoint Presentation</vt:lpstr>
      <vt:lpstr>PowerPoint Presentation</vt:lpstr>
      <vt:lpstr>-:Syllabus:-</vt:lpstr>
      <vt:lpstr>Distributed systems</vt:lpstr>
      <vt:lpstr>Characteristics of D.S</vt:lpstr>
      <vt:lpstr>A distributed system organized as middleware</vt:lpstr>
      <vt:lpstr>Why we need Distributed Systems?</vt:lpstr>
      <vt:lpstr>Applications of D.S</vt:lpstr>
      <vt:lpstr>Example of Distributed system</vt:lpstr>
      <vt:lpstr>      Requirements of Distributed system</vt:lpstr>
      <vt:lpstr>Advantages of Distribution System</vt:lpstr>
      <vt:lpstr>PowerPoint Presentation</vt:lpstr>
      <vt:lpstr>Disadvantages of Distribution System</vt:lpstr>
      <vt:lpstr>Issues in designing distributed system</vt:lpstr>
      <vt:lpstr>Middleware</vt:lpstr>
      <vt:lpstr>Types of Distributed Systems</vt:lpstr>
      <vt:lpstr>PowerPoint Presentation</vt:lpstr>
      <vt:lpstr>PowerPoint Presentation</vt:lpstr>
      <vt:lpstr> Example of a cluster computing system </vt:lpstr>
      <vt:lpstr>Clusters – Beowulf model </vt:lpstr>
      <vt:lpstr>Clusters – MOSIX model</vt:lpstr>
      <vt:lpstr>PowerPoint Presentation</vt:lpstr>
      <vt:lpstr> Architecture for Grid Systems</vt:lpstr>
      <vt:lpstr>OGSA – Another Grid Architecture</vt:lpstr>
      <vt:lpstr>PowerPoint Presentation</vt:lpstr>
      <vt:lpstr>PowerPoint Presentation</vt:lpstr>
      <vt:lpstr>Figure :- Example primitives for transactions. </vt:lpstr>
      <vt:lpstr>Figure:-A nested transaction.</vt:lpstr>
      <vt:lpstr>The role of a TP monitor in distributed systems </vt:lpstr>
      <vt:lpstr>PowerPoint Presentation</vt:lpstr>
      <vt:lpstr>Figure:-Middleware as a communication facilitator in enterprise application integration.</vt:lpstr>
      <vt:lpstr>PowerPoint Presentation</vt:lpstr>
      <vt:lpstr>Figure:-Monitoring a person in a pervasive electronic health care system, using (a) a local hub or (b) a continuous wireless connection.</vt:lpstr>
      <vt:lpstr>Electronic Health Care Systems continued….</vt:lpstr>
      <vt:lpstr>Figure:-Organizing a sensor network database, while storing and processing data (a) only at the operator’s site or …</vt:lpstr>
      <vt:lpstr>Figure :-Organizing a sensor network database, while storing and processing data … or (b) only at the sensors.</vt:lpstr>
      <vt:lpstr>Distributed System Goals</vt:lpstr>
      <vt:lpstr>PowerPoint Presentation</vt:lpstr>
      <vt:lpstr>PowerPoint Presentation</vt:lpstr>
      <vt:lpstr>Types of Transparency:-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Figure :- The difference between letting (a) a server or (b) a client check forms as they are being filled. </vt:lpstr>
      <vt:lpstr>PowerPoint Presentation</vt:lpstr>
      <vt:lpstr> Figure:- an example of dividing the DNS name space into zones.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UNIT-1 Introduction</dc:title>
  <dc:creator>akhila reddy</dc:creator>
  <cp:lastModifiedBy>Kiran</cp:lastModifiedBy>
  <cp:revision>132</cp:revision>
  <dcterms:created xsi:type="dcterms:W3CDTF">2006-08-16T00:00:00Z</dcterms:created>
  <dcterms:modified xsi:type="dcterms:W3CDTF">2024-10-21T05:06:19Z</dcterms:modified>
</cp:coreProperties>
</file>